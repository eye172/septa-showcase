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Lst>
  <p:notesMasterIdLst>
    <p:notesMasterId r:id="rId2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notesMaster" Target="notesMasters/notesMaster1.xml"/><Relationship Id="rId23" Type="http://schemas.openxmlformats.org/officeDocument/2006/relationships/presProps" Target="presProps.xml"/><Relationship Id="rId24" Type="http://schemas.openxmlformats.org/officeDocument/2006/relationships/viewProps" Target="viewProps.xml"/><Relationship Id="rId25" Type="http://schemas.openxmlformats.org/officeDocument/2006/relationships/theme" Target="theme/theme1.xml"/><Relationship Id="rId2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Introduce this as an educational workflow, not a promise of instant or production-ready results. Explain vibe coding as guiding, testing, and giving feedback on AI-generated code rather than manually writing every change. Observed evidence: curated-54 supports guidance, testing, and feedback; curated-58 recommends iterating until the design matches the brand. The five-step workflow and takeaway are editorial syntheses, not verbatim source claims. The supplied generated hero is conceptual artwork, not an actual application screenshot. Composition uses the original hero at dominant full-canvas scale with a dark left scrim for readable editable text and 200 ms entry fades. This artifact covers slide 01 only; the remaining 19 slides are outside this task.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the loop as intent → code → testing and feedback. Observed source claims: curated-51 supports natural-language descriptions and LLM-generated source code; curated-54 supports guidance, testing and feedback rather than manually writing every change; curated-52 notes that accepting code without thorough review may occur, but is not required by every definition. Keeping review for live websites is editorial guidance, not a sourced factual claim. Source context: supplied content blocks 13 and 18. Composition uses an editable three-stage loop, not a product interface. Reference attachments inform visual language only; no reference attachment is used as an image asset. Scope: slide 02 of the requested 20-slide presentation.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Observed evidence: curated-57 and curated-58 support the creator-described design-prompt, brand-context and iteration workflow in a TikTok description. It has not been independently verified. Curated-0 supports the Amboras tutorial’s use of IM8’s product page as a structural and conversion-strategy reference. Curated-31 comes from the supplied, unverified transcript and describes Claude within an e-commerce platform; do not equate that environment with standalone Claude Code. Unavailable evidence: no official product documentation, verified current installation commands, permissions, image-input requirements or reproducible deployment steps were supplied. The following prompts are illustrative recommendations, not observed executions. Composition uses editable typography and native shapes; reference attachments guide visual language only.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 this as a fictional teaching example, not an observed client project. Explain how audience, primary action, content, and constraints give Claude Code a concrete direction. Reuse this same brief in later prompts. The example is supplied by the slide story; no external factual claims or claim IDs were supplied. Composition uses one dominant audience panel and three smaller supporting fields, with editable text and subtle staggered fades.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the supplied visual references as design guidance, not as factual evidence about Claude Code. Beside the original artwork, use editable callouts to show how visual observations become design choices. The content-source tutorial supports studying product-page structure and adapting its principles for an original brand without copying protected material (curated-2). It describes its recreation as educational study of public e-commerce patterns and explicitly disclaims affiliation with or endorsement by IM8 (curated-6). Both claims are observed and supported by the supplied description. The monochrome choices and observation checklist are instructional recommendations, not source-derived findings about Claude Code. The supplied generated artwork is illustrative, not evidence of an actual website or analysis session. Section numbers are editorial sequence markers, not source-derived numeric claims; the third marker is separated from the supported heading while retaining its claim link.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recommended constraints for a fictional studio website, not universal rules or verified Claude Code requirements. Explain the translation from the vague adjective “premium” into the five explicit rule groups. The palette, type specimen, and spacing ruler are editable illustrations, not measured website output. No factual claims or claim IDs were supplied. Use the short staggered fades to reveal the rules without distracting motion. Reference attachments informed visual styling only; no reference image is used as a slide asset.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 these checkpoints as recommended preparation, not a setup procedure verified by the supplied sources. Version control tracks changes and lets you restore a saved baseline. The final prompt requests planning before editing; review the proposed plan before proceeding. No installation commands or environment-specific capabilities are asserted. Supplied claims are empty and source material verifying setup details is unavailable; no factual source attribution is implied. The three checkpoints reveal with short staggered fades, followed by the contrasting editable prompt panel. This artifact covers slide 07 only.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 the five paragraphs as one copyable, editable prompt. The left annotations distinguish scope, sections, style, content integrity, and verification. The final paragraph requests a report of checks performed, not proof that every requirement passed. This is an original illustrative prompt; curated-57 supports only the creator-described workflow of pasting a design prompt into Claude Code and supplying brand context, not these specific acceptance criteria. The supplied TikTok description is not independently verified product documentation. This prompt was not executed; no successful implementation is implied. Only slide-08 is composed in this task. Reference attachments guide visual language only; no reference images are used as slide assets.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creative-studio sequence and component/behavior lists are recommended adaptations, not the tutorial’s original architecture. Observed evidence: curated-32 identifies the tutorial’s banner, description, and scrolling mechanism; curated-35 supports the description-column-only prompt. The supplied image is a conceptual model, not a verified code architecture. Its slabs, adjacent modules, and connecting paths visually distinguish sections, reusable presentation parts, and behavior. Present the three editable categories with sequential subtle fades, then explain the tutorial example. Source locator for both observed claims: 8d4d5264-3d2c-45e9-84f3-dce077d690b6:block:392.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 this as a repeatable generate → inspect → record → revise loop. These steps are practical guidance, not a guaranteed route to a finished site. Observed evidence: curated-34 describes a follow-up prompt correcting mismatched fonts, oversized banner text, and spacing; curated-54 describes guiding, testing, and giving feedback on AI-generated code; curated-58 recommends design iteration to match brand style. The small first-pass scope, inspection checklist, defect recording, and highest-impact prioritization are editorial guidance inferred from those examples, not directly observed source procedures. No build-time benchmark is available. Reference attachments inform visual style only.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 these as illustrative prompts, not quoted source examples. Contrast the vague request with the three-part scoped request. Observed evidence: curated-35 demonstrates limiting edits to the description column; curated-44 demonstrates a narrowly scoped button-color change and an explicit instruction not to change anything else. The hero, inquiry-action, and narrow-screen examples are instructional adaptations, not observed source examples. Such instructions are constraints, not guarantees: review the code diff for unintended edits and inspect the result at narrow screen widths. Composition uses an asymmetric comparison, with the expanded scoped prompt as the dominant relationship. All content remains editable. Supplied asset metadata does not establish image relevance to this example; no unverified image is used.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Evidence: curated-34 supports the tutorial's focused follow-up on mismatched fonts, oversized banner text, and spacing. curated-37 supports the narrator's report of one font across the site with a deliberate logo exception. That result is reported, not independently visually verified. The checklist and displayed prompt are instructional adaptations, not verbatim tutorial quotations. The editable website specimen is illustrative, not an observed before-and-after comparison; its serif wordmark and button treatments are design examples. No supplied image asset has been used because the specimen is intentionally composed from editable text and shapes, and no relevant site capture was identifiable from the supplied asset metadata. Only slide-12 is in scope.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desktop-to-narrow-screen relationship is an illustrative recommendation, not an observed implementation or verified test result. Ask Claude Code for explicit mobile requirements, then inspect the result. Check section stacking, navigation, image cropping, text readability, control usability, wrapping, overflow, long labels and fixed elements. Observed evidence: the tutorial description lists mobile optimization as a topic. Implementation details and mobile test results are unavailable in the supplied evidence. Source: 8d4d5264-3d2c-45e9-84f3-dce077d690b6, block 2; claim curated-4. All wireframes are editable shapes and text, not screenshots. Reference attachments inform visual style only.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 the inquiry-form flow as a recommended specification technique, not a feature demonstrated in the supplied tutorial. Begin with idle, then submission, success, and failure. The error branch preserves entered values. Navigation, keyboard operation, and unobstructed fixed actions are recommendations for the studio website, not verified tutorial features. Observed evidence: curated-36 reports a request for sticky product images while scrolling; curated-38 reports advice to keep the purchase action easy to find. These are tutorial statements, not independently verified browser behavior or measured conversion results. Apply the interaction principle without adding shopping functionality. The exact prompt is an illustrative recommendation. Reference attachments inform monochrome visual language only. No relevant website screenshot or verified interaction recording is available in the supplied evidence; the diagram is editable native geometry, not a browser demonstration.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 provenance: curated-85 is supported by the supplied scraped description at b0591083-3f43-4498-a845-943382394571:block:2. The source author's observed design opinion is that a generated layout does not fully specify its motion; the takeaway paraphrases that opinion, not a verified limitation of Claude Code. The three guidelines and example prompt are editorial recommendations, not tested outcomes. Only slide 15 is composed in this task. The title has a single 250 ms opacity reveal with no looping motion. For reduced-motion playback, show it statically; the scene schema cannot encode a preference-dependent animation override. Reference attachments inform spacing and monochrome hierarchy only; no uninspected asset is used as evidence or artwork.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supplied creator description links to all three repositories and assigns the roles shown here (observed; curated-84 and curated-86). Their documentation, compatibility and implementation have not been checked. The source’s promise of automatic integration is not verified (curated-87). Asking Claude Code to assess fit and propose a minimal integration is instructional guidance, not a tested outcome. React Bits is the named resource, not React itself. Treat these libraries as optional. The composition places decision guidance above three compact source-attributed rows, with subtle staggered fades. No uninspected image asset is used.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Separate content and technical checklists before release. Observed evidence: curated-41 and curated-42 report the tutorial's educational examples and fabricated placeholder review counts and servings; these must be replaced with real claims and numbers before launch. Curated-70 reports an instance of fabricated e-commerce reviews in the supplied Wikipedia article. Curated-71 and curated-76 report concerns about debugging, maintenance, security, and understanding generated code. The takeaway is an inference from those supplied observations, not a measured finding about Claude Code. The expanded content checklist, data checklist, and qualified-review recommendation are practical guidance. No Claude Code vulnerability or vulnerability statistic is asserted. Actual site content, code, dependencies, and security review results are unavailable in this input; this slide does not imply that any verification has occurred. Composition uses an editorial split between the caution and three review areas, with native editable text and shapes. Reference attachments guide visual style only.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 this as a comparison between observation and experiment. Watching someone use a site can reveal friction, but it does not establish that one version performs better. The work-and-inquiry task is an illustrative website adaptation, not an observed tutorial result. Suggested Claude Code prompt: “Change only the main headline. Leave everything else unchanged.” The supplied tutorial supports narrowly scoped changes (curated-44), headline and layout alternatives (curated-46), one test at a time (curated-48), adequate traffic (curated-47), and not cancelling after one bad day (curated-49). Its examples concern an online store. Defining the outcome in advance and the qualitative-versus-experimental framing are presenter guidance, not quoted tutorial findings. No measured website results, formal sample-size threshold, or statistical stopping rule were supplied. Composition uses an open observation column against a wider bounded experiment panel; all content is editable. Reference attachments inform visual style only and are not used as image assets.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 the sequence as preflight → preview → release gate → live verification with subtle staggered fades. The four stages are recommended practice, not observed successful checks. The highlighted release gate is a recommendation motivated by curated-40: the Amboras narrator explicitly says the linked full cart page is unfinished and defers that fix beyond the video. Curated-60 observes that a creator description names Vercel and Netlify and describes deployment as free; this does not establish current pricing, plan limits, eligibility, or deployment requirements. Exact hosting instructions are unavailable. No release-readiness outcome or deployment success has been verified. This artifact covers only slide 19 of the requested 20-slide presentation.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 this as a manageable first exercise, not a promise of speed or commercial success. The four-step sequence is practical guidance inferred from the supplied evidence, not a directly documented Claude Code procedure. Observed evidence supports guiding, testing, and giving feedback on generated code (curated-54), iterating toward brand style (curated-58), and distinguishing prototypes from professional use (curated-71). Some experts warn that insufficiently understood AI-generated code can create debugging, maintenance, and security risks. The supplied generated artwork is an original illustration, not evidence of a completed website. Composition uses the supplied artwork as a full-canvas editorial anchor, with a quiet left text field and editable numbered guidance. Only the closing headline fades; artwork remains static. This artifact covers slide 20 only.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svg"/><Relationship Id="rId3" Type="http://schemas.openxmlformats.org/officeDocument/2006/relationships/image" Target="../media/image-2-3.png"/><Relationship Id="rId4" Type="http://schemas.openxmlformats.org/officeDocument/2006/relationships/image" Target="../media/image-2-4.svg"/><Relationship Id="rId5" Type="http://schemas.openxmlformats.org/officeDocument/2006/relationships/image" Target="../media/image-2-5.png"/><Relationship Id="rId6" Type="http://schemas.openxmlformats.org/officeDocument/2006/relationships/image" Target="../media/image-2-6.svg"/><Relationship Id="rId7" Type="http://schemas.openxmlformats.org/officeDocument/2006/relationships/slideLayout" Target="../slideLayouts/slideLayout1.xml"/><Relationship Id="rId8"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svg"/><Relationship Id="rId3" Type="http://schemas.openxmlformats.org/officeDocument/2006/relationships/slideLayout" Target="../slideLayouts/slideLayout1.xml"/><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svg"/><Relationship Id="rId3" Type="http://schemas.openxmlformats.org/officeDocument/2006/relationships/slideLayout" Target="../slideLayouts/slideLayout1.xml"/><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svg"/><Relationship Id="rId3" Type="http://schemas.openxmlformats.org/officeDocument/2006/relationships/slideLayout" Target="../slideLayouts/slideLayout1.xml"/><Relationship Id="rId4"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svg"/><Relationship Id="rId3" Type="http://schemas.openxmlformats.org/officeDocument/2006/relationships/slideLayout" Target="../slideLayouts/slideLayout1.xml"/><Relationship Id="rId4"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svg"/><Relationship Id="rId3" Type="http://schemas.openxmlformats.org/officeDocument/2006/relationships/image" Target="../media/image-14-3.png"/><Relationship Id="rId4" Type="http://schemas.openxmlformats.org/officeDocument/2006/relationships/image" Target="../media/image-14-4.svg"/><Relationship Id="rId5" Type="http://schemas.openxmlformats.org/officeDocument/2006/relationships/slideLayout" Target="../slideLayouts/slideLayout1.xml"/><Relationship Id="rId6"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1.xml"/><Relationship Id="rId3" Type="http://schemas.openxmlformats.org/officeDocument/2006/relationships/notesSlide" Target="../notesSlides/notesSlide2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A0A0A"/>
        </a:solidFill>
      </p:bgPr>
    </p:bg>
    <p:spTree>
      <p:nvGrpSpPr>
        <p:cNvPr id="1" name=""/>
        <p:cNvGrpSpPr/>
        <p:nvPr/>
      </p:nvGrpSpPr>
      <p:grpSpPr>
        <a:xfrm>
          <a:off x="0" y="0"/>
          <a:ext cx="0" cy="0"/>
          <a:chOff x="0" y="0"/>
          <a:chExt cx="0" cy="0"/>
        </a:xfrm>
      </p:grpSpPr>
      <p:pic>
        <p:nvPicPr>
          <p:cNvPr id="3" name="slide-01-image" descr="Monochrome interface-like planes resolve into a luminous architectural viewport on the right.">    </p:cNvPr>
          <p:cNvPicPr>
            <a:picLocks noChangeAspect="1"/>
          </p:cNvPicPr>
          <p:nvPr/>
        </p:nvPicPr>
        <p:blipFill>
          <a:blip r:embed="rId1"/>
          <a:stretch>
            <a:fillRect/>
          </a:stretch>
        </p:blipFill>
        <p:spPr>
          <a:xfrm>
            <a:off x="0" y="0"/>
            <a:ext cx="12192000" cy="6858000"/>
          </a:xfrm>
          <a:prstGeom prst="rect">
            <a:avLst/>
          </a:prstGeom>
        </p:spPr>
      </p:pic>
      <p:sp>
        <p:nvSpPr>
          <p:cNvPr id="4" name="slide-01-title-scrim"/>
          <p:cNvSpPr/>
          <p:nvPr/>
        </p:nvSpPr>
        <p:spPr>
          <a:xfrm>
            <a:off x="0" y="0"/>
            <a:ext cx="6381750" cy="6096000"/>
          </a:xfrm>
          <a:prstGeom prst="rect">
            <a:avLst/>
          </a:prstGeom>
          <a:solidFill>
            <a:srgbClr val="0A0A0A">
              <a:alpha val="88000"/>
            </a:srgbClr>
          </a:solidFill>
          <a:ln w="12700">
            <a:solidFill>
              <a:srgbClr val="0A0A0A">
                <a:alpha val="0"/>
              </a:srgbClr>
            </a:solidFill>
            <a:prstDash val="solid"/>
          </a:ln>
        </p:spPr>
      </p:sp>
      <p:sp>
        <p:nvSpPr>
          <p:cNvPr id="5" name="slide-01-footer-scrim"/>
          <p:cNvSpPr/>
          <p:nvPr/>
        </p:nvSpPr>
        <p:spPr>
          <a:xfrm>
            <a:off x="0" y="6096000"/>
            <a:ext cx="12192000" cy="762000"/>
          </a:xfrm>
          <a:prstGeom prst="rect">
            <a:avLst/>
          </a:prstGeom>
          <a:solidFill>
            <a:srgbClr val="0A0A0A">
              <a:alpha val="96000"/>
            </a:srgbClr>
          </a:solidFill>
          <a:ln w="12700">
            <a:solidFill>
              <a:srgbClr val="0A0A0A">
                <a:alpha val="0"/>
              </a:srgbClr>
            </a:solidFill>
            <a:prstDash val="solid"/>
          </a:ln>
        </p:spPr>
      </p:sp>
      <p:sp>
        <p:nvSpPr>
          <p:cNvPr id="6" name="slide-01-eyebrow"/>
          <p:cNvSpPr txBox="1"/>
          <p:nvPr/>
        </p:nvSpPr>
        <p:spPr>
          <a:xfrm>
            <a:off x="685800" y="457200"/>
            <a:ext cx="4857750" cy="228600"/>
          </a:xfrm>
          <a:prstGeom prst="rect">
            <a:avLst/>
          </a:prstGeom>
          <a:noFill/>
          <a:ln/>
        </p:spPr>
        <p:txBody>
          <a:bodyPr wrap="square" lIns="0" tIns="0" rIns="0" bIns="0" rtlCol="0" anchor="t"/>
          <a:lstStyle/>
          <a:p>
            <a:pPr algn="l" indent="0" marL="0">
              <a:lnSpc>
                <a:spcPts val="1260"/>
              </a:lnSpc>
              <a:buNone/>
            </a:pPr>
            <a:r>
              <a:rPr lang="en-US" sz="1050" spc="150" kern="0" dirty="0">
                <a:solidFill>
                  <a:srgbClr val="A3A3A3"/>
                </a:solidFill>
                <a:latin typeface="Arial" pitchFamily="34" charset="0"/>
                <a:ea typeface="Arial" pitchFamily="34" charset="-122"/>
                <a:cs typeface="Arial" pitchFamily="34" charset="-120"/>
              </a:rPr>
              <a:t>CREATIVE DIRECTION / VIBE CODING</a:t>
            </a:r>
            <a:endParaRPr lang="en-US" sz="1050" dirty="0"/>
          </a:p>
        </p:txBody>
      </p:sp>
      <p:sp>
        <p:nvSpPr>
          <p:cNvPr id="7" name="slide-01-accent"/>
          <p:cNvSpPr/>
          <p:nvPr/>
        </p:nvSpPr>
        <p:spPr>
          <a:xfrm>
            <a:off x="685800" y="1362075"/>
            <a:ext cx="457200" cy="19050"/>
          </a:xfrm>
          <a:prstGeom prst="rect">
            <a:avLst/>
          </a:prstGeom>
          <a:solidFill>
            <a:srgbClr val="F5F5F5"/>
          </a:solidFill>
          <a:ln w="12700">
            <a:solidFill>
              <a:srgbClr val="F5F5F5">
                <a:alpha val="0"/>
              </a:srgbClr>
            </a:solidFill>
            <a:prstDash val="solid"/>
          </a:ln>
        </p:spPr>
      </p:sp>
      <p:sp>
        <p:nvSpPr>
          <p:cNvPr id="8" name="slide-01-title"/>
          <p:cNvSpPr txBox="1"/>
          <p:nvPr/>
        </p:nvSpPr>
        <p:spPr>
          <a:xfrm>
            <a:off x="647700" y="1695450"/>
            <a:ext cx="5600700" cy="2190750"/>
          </a:xfrm>
          <a:prstGeom prst="rect">
            <a:avLst/>
          </a:prstGeom>
          <a:noFill/>
          <a:ln/>
        </p:spPr>
        <p:txBody>
          <a:bodyPr wrap="square" lIns="0" tIns="0" rIns="0" bIns="0" rtlCol="0" anchor="t"/>
          <a:lstStyle/>
          <a:p>
            <a:pPr algn="l" indent="0" marL="0">
              <a:lnSpc>
                <a:spcPts val="5184"/>
              </a:lnSpc>
              <a:buNone/>
            </a:pPr>
            <a:r>
              <a:rPr lang="en-US" sz="4800" b="1" spc="-135" kern="0" dirty="0">
                <a:solidFill>
                  <a:srgbClr val="FFFFFF"/>
                </a:solidFill>
                <a:latin typeface="Arial" pitchFamily="34" charset="0"/>
                <a:ea typeface="Arial" pitchFamily="34" charset="-122"/>
                <a:cs typeface="Arial" pitchFamily="34" charset="-120"/>
              </a:rPr>
              <a:t>Build stunning</a:t>
            </a:r>
            <a:endParaRPr lang="en-US" sz="4800" dirty="0"/>
          </a:p>
          <a:p>
            <a:pPr algn="l" indent="0" marL="0">
              <a:lnSpc>
                <a:spcPts val="5184"/>
              </a:lnSpc>
              <a:buNone/>
            </a:pPr>
            <a:r>
              <a:rPr lang="en-US" sz="4800" b="1" spc="-135" kern="0" dirty="0">
                <a:solidFill>
                  <a:srgbClr val="FFFFFF"/>
                </a:solidFill>
                <a:latin typeface="Arial" pitchFamily="34" charset="0"/>
                <a:ea typeface="Arial" pitchFamily="34" charset="-122"/>
                <a:cs typeface="Arial" pitchFamily="34" charset="-120"/>
              </a:rPr>
              <a:t>websites with</a:t>
            </a:r>
            <a:endParaRPr lang="en-US" sz="4800" dirty="0"/>
          </a:p>
          <a:p>
            <a:pPr algn="l" indent="0" marL="0">
              <a:lnSpc>
                <a:spcPts val="5184"/>
              </a:lnSpc>
              <a:buNone/>
            </a:pPr>
            <a:r>
              <a:rPr lang="en-US" sz="4800" b="1" spc="-135" kern="0" dirty="0">
                <a:solidFill>
                  <a:srgbClr val="FFFFFF"/>
                </a:solidFill>
                <a:latin typeface="Arial" pitchFamily="34" charset="0"/>
                <a:ea typeface="Arial" pitchFamily="34" charset="-122"/>
                <a:cs typeface="Arial" pitchFamily="34" charset="-120"/>
              </a:rPr>
              <a:t>Claude Code</a:t>
            </a:r>
            <a:endParaRPr lang="en-US" sz="4800" dirty="0"/>
          </a:p>
        </p:txBody>
      </p:sp>
      <p:sp>
        <p:nvSpPr>
          <p:cNvPr id="9" name="slide-01-subtitle"/>
          <p:cNvSpPr txBox="1"/>
          <p:nvPr/>
        </p:nvSpPr>
        <p:spPr>
          <a:xfrm>
            <a:off x="685800" y="4286250"/>
            <a:ext cx="5143500" cy="628650"/>
          </a:xfrm>
          <a:prstGeom prst="rect">
            <a:avLst/>
          </a:prstGeom>
          <a:noFill/>
          <a:ln/>
        </p:spPr>
        <p:txBody>
          <a:bodyPr wrap="square" lIns="0" tIns="0" rIns="0" bIns="0" rtlCol="0" anchor="t"/>
          <a:lstStyle/>
          <a:p>
            <a:pPr algn="l" indent="0" marL="0">
              <a:lnSpc>
                <a:spcPts val="2228"/>
              </a:lnSpc>
              <a:buNone/>
            </a:pPr>
            <a:r>
              <a:rPr lang="en-US" sz="1650" dirty="0">
                <a:solidFill>
                  <a:srgbClr val="A3A3A3"/>
                </a:solidFill>
                <a:latin typeface="Arial" pitchFamily="34" charset="0"/>
                <a:ea typeface="Arial" pitchFamily="34" charset="-122"/>
                <a:cs typeface="Arial" pitchFamily="34" charset="-120"/>
              </a:rPr>
              <a:t>A practical guide to vibe coding,</a:t>
            </a:r>
            <a:endParaRPr lang="en-US" sz="1650" dirty="0"/>
          </a:p>
          <a:p>
            <a:pPr algn="l" indent="0" marL="0">
              <a:lnSpc>
                <a:spcPts val="2228"/>
              </a:lnSpc>
              <a:buNone/>
            </a:pPr>
            <a:r>
              <a:rPr lang="en-US" sz="1650" dirty="0">
                <a:solidFill>
                  <a:srgbClr val="A3A3A3"/>
                </a:solidFill>
                <a:latin typeface="Arial" pitchFamily="34" charset="0"/>
                <a:ea typeface="Arial" pitchFamily="34" charset="-122"/>
                <a:cs typeface="Arial" pitchFamily="34" charset="-120"/>
              </a:rPr>
              <a:t>monochrome design, and deliberate refinement</a:t>
            </a:r>
            <a:endParaRPr lang="en-US" sz="1650" dirty="0"/>
          </a:p>
        </p:txBody>
      </p:sp>
      <p:sp>
        <p:nvSpPr>
          <p:cNvPr id="10" name="slide-01-takeaway"/>
          <p:cNvSpPr txBox="1"/>
          <p:nvPr/>
        </p:nvSpPr>
        <p:spPr>
          <a:xfrm>
            <a:off x="685800" y="5314950"/>
            <a:ext cx="5143500" cy="571500"/>
          </a:xfrm>
          <a:prstGeom prst="rect">
            <a:avLst/>
          </a:prstGeom>
          <a:noFill/>
          <a:ln/>
        </p:spPr>
        <p:txBody>
          <a:bodyPr wrap="square" lIns="0" tIns="0" rIns="0" bIns="0" rtlCol="0" anchor="t"/>
          <a:lstStyle/>
          <a:p>
            <a:pPr algn="l" indent="0" marL="0">
              <a:lnSpc>
                <a:spcPts val="2243"/>
              </a:lnSpc>
              <a:buNone/>
            </a:pPr>
            <a:r>
              <a:rPr lang="en-US" sz="1725" dirty="0">
                <a:solidFill>
                  <a:srgbClr val="FFFFFF"/>
                </a:solidFill>
                <a:latin typeface="Arial" pitchFamily="34" charset="0"/>
                <a:ea typeface="Arial" pitchFamily="34" charset="-122"/>
                <a:cs typeface="Arial" pitchFamily="34" charset="-120"/>
              </a:rPr>
              <a:t>Use AI to explore the design;</a:t>
            </a:r>
            <a:endParaRPr lang="en-US" sz="1725" dirty="0"/>
          </a:p>
          <a:p>
            <a:pPr algn="l" indent="0" marL="0">
              <a:lnSpc>
                <a:spcPts val="2243"/>
              </a:lnSpc>
              <a:buNone/>
            </a:pPr>
            <a:r>
              <a:rPr lang="en-US" sz="1725" dirty="0">
                <a:solidFill>
                  <a:srgbClr val="FFFFFF"/>
                </a:solidFill>
                <a:latin typeface="Arial" pitchFamily="34" charset="0"/>
                <a:ea typeface="Arial" pitchFamily="34" charset="-122"/>
                <a:cs typeface="Arial" pitchFamily="34" charset="-120"/>
              </a:rPr>
              <a:t>use judgment to finish it.</a:t>
            </a:r>
            <a:endParaRPr lang="en-US" sz="1725" dirty="0"/>
          </a:p>
        </p:txBody>
      </p:sp>
      <p:sp>
        <p:nvSpPr>
          <p:cNvPr id="11" name="slide-01-footer-rule"/>
          <p:cNvSpPr/>
          <p:nvPr/>
        </p:nvSpPr>
        <p:spPr>
          <a:xfrm>
            <a:off x="685800" y="6096000"/>
            <a:ext cx="10820400" cy="9525"/>
          </a:xfrm>
          <a:prstGeom prst="rect">
            <a:avLst/>
          </a:prstGeom>
          <a:solidFill>
            <a:srgbClr val="333333"/>
          </a:solidFill>
          <a:ln w="12700">
            <a:solidFill>
              <a:srgbClr val="333333">
                <a:alpha val="0"/>
              </a:srgbClr>
            </a:solidFill>
            <a:prstDash val="solid"/>
          </a:ln>
        </p:spPr>
      </p:sp>
      <p:sp>
        <p:nvSpPr>
          <p:cNvPr id="12" name="slide-01-footer"/>
          <p:cNvSpPr txBox="1"/>
          <p:nvPr/>
        </p:nvSpPr>
        <p:spPr>
          <a:xfrm>
            <a:off x="685800" y="6343650"/>
            <a:ext cx="8953500" cy="266700"/>
          </a:xfrm>
          <a:prstGeom prst="rect">
            <a:avLst/>
          </a:prstGeom>
          <a:noFill/>
          <a:ln/>
        </p:spPr>
        <p:txBody>
          <a:bodyPr wrap="square" lIns="0" tIns="0" rIns="0" bIns="0" rtlCol="0" anchor="t"/>
          <a:lstStyle/>
          <a:p>
            <a:pPr algn="l" indent="0" marL="0">
              <a:lnSpc>
                <a:spcPts val="1800"/>
              </a:lnSpc>
              <a:buNone/>
            </a:pPr>
            <a:r>
              <a:rPr lang="en-US" sz="1500" spc="15" kern="0" dirty="0">
                <a:solidFill>
                  <a:srgbClr val="A3A3A3"/>
                </a:solidFill>
                <a:latin typeface="Arial" pitchFamily="34" charset="0"/>
                <a:ea typeface="Arial" pitchFamily="34" charset="-122"/>
                <a:cs typeface="Arial" pitchFamily="34" charset="-120"/>
              </a:rPr>
              <a:t>Describe → Generate → Inspect → Refine → Verify</a:t>
            </a:r>
            <a:endParaRPr lang="en-US" sz="1500" dirty="0"/>
          </a:p>
        </p:txBody>
      </p:sp>
      <p:sp>
        <p:nvSpPr>
          <p:cNvPr id="13" name="slide-01-pagination"/>
          <p:cNvSpPr txBox="1"/>
          <p:nvPr/>
        </p:nvSpPr>
        <p:spPr>
          <a:xfrm>
            <a:off x="10382250" y="6381750"/>
            <a:ext cx="1123950" cy="209550"/>
          </a:xfrm>
          <a:prstGeom prst="rect">
            <a:avLst/>
          </a:prstGeom>
          <a:noFill/>
          <a:ln/>
        </p:spPr>
        <p:txBody>
          <a:bodyPr wrap="square" lIns="0" tIns="0" rIns="0" bIns="0" rtlCol="0" anchor="t"/>
          <a:lstStyle/>
          <a:p>
            <a:pPr algn="r" indent="0" marL="0">
              <a:lnSpc>
                <a:spcPts val="1260"/>
              </a:lnSpc>
              <a:buNone/>
            </a:pPr>
            <a:r>
              <a:rPr lang="en-US" sz="1050" spc="113" kern="0" dirty="0">
                <a:solidFill>
                  <a:srgbClr val="A3A3A3"/>
                </a:solidFill>
                <a:latin typeface="Arial" pitchFamily="34" charset="0"/>
                <a:ea typeface="Arial" pitchFamily="34" charset="-122"/>
                <a:cs typeface="Arial" pitchFamily="34" charset="-120"/>
              </a:rPr>
              <a:t>01 / 20</a:t>
            </a:r>
            <a:endParaRPr lang="en-US" sz="10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A0A0A"/>
        </a:solidFill>
      </p:bgPr>
    </p:bg>
    <p:spTree>
      <p:nvGrpSpPr>
        <p:cNvPr id="1" name=""/>
        <p:cNvGrpSpPr/>
        <p:nvPr/>
      </p:nvGrpSpPr>
      <p:grpSpPr>
        <a:xfrm>
          <a:off x="0" y="0"/>
          <a:ext cx="0" cy="0"/>
          <a:chOff x="0" y="0"/>
          <a:chExt cx="0" cy="0"/>
        </a:xfrm>
      </p:grpSpPr>
      <p:sp>
        <p:nvSpPr>
          <p:cNvPr id="3" name="slide-02-eyebrow"/>
          <p:cNvSpPr txBox="1"/>
          <p:nvPr/>
        </p:nvSpPr>
        <p:spPr>
          <a:xfrm>
            <a:off x="762000" y="381000"/>
            <a:ext cx="8572500" cy="209550"/>
          </a:xfrm>
          <a:prstGeom prst="rect">
            <a:avLst/>
          </a:prstGeom>
          <a:noFill/>
          <a:ln/>
        </p:spPr>
        <p:txBody>
          <a:bodyPr wrap="square" lIns="0" tIns="0" rIns="0" bIns="0" rtlCol="0" anchor="t"/>
          <a:lstStyle/>
          <a:p>
            <a:pPr algn="l" indent="0" marL="0">
              <a:lnSpc>
                <a:spcPts val="1170"/>
              </a:lnSpc>
              <a:buNone/>
            </a:pPr>
            <a:r>
              <a:rPr lang="en-US" sz="975" spc="150" kern="0" dirty="0">
                <a:solidFill>
                  <a:srgbClr val="A3A3A3"/>
                </a:solidFill>
                <a:latin typeface="Arial" pitchFamily="34" charset="0"/>
                <a:ea typeface="Arial" pitchFamily="34" charset="-122"/>
                <a:cs typeface="Arial" pitchFamily="34" charset="-120"/>
              </a:rPr>
              <a:t>02 / 20     ·     THE VIBE-CODING LOOP</a:t>
            </a:r>
            <a:endParaRPr lang="en-US" sz="975" dirty="0"/>
          </a:p>
        </p:txBody>
      </p:sp>
      <p:sp>
        <p:nvSpPr>
          <p:cNvPr id="4" name="slide-02-title"/>
          <p:cNvSpPr txBox="1"/>
          <p:nvPr/>
        </p:nvSpPr>
        <p:spPr>
          <a:xfrm>
            <a:off x="742950" y="952500"/>
            <a:ext cx="10287000" cy="1238250"/>
          </a:xfrm>
          <a:prstGeom prst="rect">
            <a:avLst/>
          </a:prstGeom>
          <a:noFill/>
          <a:ln/>
        </p:spPr>
        <p:txBody>
          <a:bodyPr wrap="square" lIns="0" tIns="0" rIns="0" bIns="0" rtlCol="0" anchor="t"/>
          <a:lstStyle/>
          <a:p>
            <a:pPr algn="l" indent="0" marL="0">
              <a:lnSpc>
                <a:spcPts val="4374"/>
              </a:lnSpc>
              <a:buNone/>
            </a:pPr>
            <a:r>
              <a:rPr lang="en-US" sz="4050" b="1" spc="-112" kern="0" dirty="0">
                <a:solidFill>
                  <a:srgbClr val="FFFFFF"/>
                </a:solidFill>
                <a:latin typeface="Arial" pitchFamily="34" charset="0"/>
                <a:ea typeface="Arial" pitchFamily="34" charset="-122"/>
                <a:cs typeface="Arial" pitchFamily="34" charset="-120"/>
              </a:rPr>
              <a:t>Vibe coding turns everyday</a:t>
            </a:r>
            <a:endParaRPr lang="en-US" sz="4050" dirty="0"/>
          </a:p>
          <a:p>
            <a:pPr algn="l" indent="0" marL="0">
              <a:lnSpc>
                <a:spcPts val="4374"/>
              </a:lnSpc>
              <a:buNone/>
            </a:pPr>
            <a:r>
              <a:rPr lang="en-US" sz="4050" b="1" spc="-112" kern="0" dirty="0">
                <a:solidFill>
                  <a:srgbClr val="FFFFFF"/>
                </a:solidFill>
                <a:latin typeface="Arial" pitchFamily="34" charset="0"/>
                <a:ea typeface="Arial" pitchFamily="34" charset="-122"/>
                <a:cs typeface="Arial" pitchFamily="34" charset="-120"/>
              </a:rPr>
              <a:t>language into code</a:t>
            </a:r>
            <a:endParaRPr lang="en-US" sz="4050" dirty="0"/>
          </a:p>
        </p:txBody>
      </p:sp>
      <p:sp>
        <p:nvSpPr>
          <p:cNvPr id="5" name="slide-02-lead"/>
          <p:cNvSpPr txBox="1"/>
          <p:nvPr/>
        </p:nvSpPr>
        <p:spPr>
          <a:xfrm>
            <a:off x="762000" y="2343150"/>
            <a:ext cx="10001250" cy="381000"/>
          </a:xfrm>
          <a:prstGeom prst="rect">
            <a:avLst/>
          </a:prstGeom>
          <a:noFill/>
          <a:ln/>
        </p:spPr>
        <p:txBody>
          <a:bodyPr wrap="square" lIns="0" tIns="0" rIns="0" bIns="0" rtlCol="0" anchor="t"/>
          <a:lstStyle/>
          <a:p>
            <a:pPr algn="l" indent="0" marL="0">
              <a:lnSpc>
                <a:spcPts val="2340"/>
              </a:lnSpc>
              <a:buNone/>
            </a:pPr>
            <a:r>
              <a:rPr lang="en-US" sz="1950" dirty="0">
                <a:solidFill>
                  <a:srgbClr val="A3A3A3"/>
                </a:solidFill>
                <a:latin typeface="Arial" pitchFamily="34" charset="0"/>
                <a:ea typeface="Arial" pitchFamily="34" charset="-122"/>
                <a:cs typeface="Arial" pitchFamily="34" charset="-120"/>
              </a:rPr>
              <a:t>You steer the result through testing and feedback.</a:t>
            </a:r>
            <a:endParaRPr lang="en-US" sz="1950" dirty="0"/>
          </a:p>
        </p:txBody>
      </p:sp>
      <p:sp>
        <p:nvSpPr>
          <p:cNvPr id="6" name="slide-02-step-one"/>
          <p:cNvSpPr txBox="1"/>
          <p:nvPr/>
        </p:nvSpPr>
        <p:spPr>
          <a:xfrm>
            <a:off x="762000" y="3238500"/>
            <a:ext cx="2857500" cy="400050"/>
          </a:xfrm>
          <a:prstGeom prst="rect">
            <a:avLst/>
          </a:prstGeom>
          <a:noFill/>
          <a:ln/>
        </p:spPr>
        <p:txBody>
          <a:bodyPr wrap="square" lIns="0" tIns="0" rIns="0" bIns="0" rtlCol="0" anchor="t"/>
          <a:lstStyle/>
          <a:p>
            <a:pPr algn="l" indent="0" marL="0">
              <a:lnSpc>
                <a:spcPts val="2588"/>
              </a:lnSpc>
              <a:buNone/>
            </a:pPr>
            <a:r>
              <a:rPr lang="en-US" sz="2250" dirty="0">
                <a:solidFill>
                  <a:srgbClr val="FFFFFF"/>
                </a:solidFill>
                <a:latin typeface="Arial" pitchFamily="34" charset="0"/>
                <a:ea typeface="Arial" pitchFamily="34" charset="-122"/>
                <a:cs typeface="Arial" pitchFamily="34" charset="-120"/>
              </a:rPr>
              <a:t>Describe</a:t>
            </a:r>
            <a:endParaRPr lang="en-US" sz="2250" dirty="0"/>
          </a:p>
        </p:txBody>
      </p:sp>
      <p:sp>
        <p:nvSpPr>
          <p:cNvPr id="7" name="slide-02-body"/>
          <p:cNvSpPr txBox="1"/>
          <p:nvPr/>
        </p:nvSpPr>
        <p:spPr>
          <a:xfrm>
            <a:off x="762000" y="3781425"/>
            <a:ext cx="2857500" cy="904875"/>
          </a:xfrm>
          <a:prstGeom prst="rect">
            <a:avLst/>
          </a:prstGeom>
          <a:noFill/>
          <a:ln/>
        </p:spPr>
        <p:txBody>
          <a:bodyPr wrap="square" lIns="0" tIns="0" rIns="0" bIns="0" rtlCol="0" anchor="t"/>
          <a:lstStyle/>
          <a:p>
            <a:pPr algn="l" indent="0" marL="0">
              <a:lnSpc>
                <a:spcPts val="2228"/>
              </a:lnSpc>
              <a:buNone/>
            </a:pPr>
            <a:r>
              <a:rPr lang="en-US" sz="1650" dirty="0">
                <a:solidFill>
                  <a:srgbClr val="A3A3A3"/>
                </a:solidFill>
                <a:latin typeface="Arial" pitchFamily="34" charset="0"/>
                <a:ea typeface="Arial" pitchFamily="34" charset="-122"/>
                <a:cs typeface="Arial" pitchFamily="34" charset="-120"/>
              </a:rPr>
              <a:t>Describe a project or change</a:t>
            </a:r>
            <a:endParaRPr lang="en-US" sz="1650" dirty="0"/>
          </a:p>
          <a:p>
            <a:pPr algn="l" indent="0" marL="0">
              <a:lnSpc>
                <a:spcPts val="2228"/>
              </a:lnSpc>
              <a:buNone/>
            </a:pPr>
            <a:r>
              <a:rPr lang="en-US" sz="1650" dirty="0">
                <a:solidFill>
                  <a:srgbClr val="A3A3A3"/>
                </a:solidFill>
                <a:latin typeface="Arial" pitchFamily="34" charset="0"/>
                <a:ea typeface="Arial" pitchFamily="34" charset="-122"/>
                <a:cs typeface="Arial" pitchFamily="34" charset="-120"/>
              </a:rPr>
              <a:t>in everyday language.</a:t>
            </a:r>
            <a:endParaRPr lang="en-US" sz="1650" dirty="0"/>
          </a:p>
        </p:txBody>
      </p:sp>
      <p:pic>
        <p:nvPicPr>
          <p:cNvPr id="8" name="slide-02-forward-one" descr="preencoded.pn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3638550" y="3419475"/>
            <a:ext cx="600075" cy="114300"/>
          </a:xfrm>
          <a:prstGeom prst="rect">
            <a:avLst/>
          </a:prstGeom>
        </p:spPr>
      </p:pic>
      <p:sp>
        <p:nvSpPr>
          <p:cNvPr id="9" name="slide-02-step-two"/>
          <p:cNvSpPr txBox="1"/>
          <p:nvPr/>
        </p:nvSpPr>
        <p:spPr>
          <a:xfrm>
            <a:off x="4524375" y="3238500"/>
            <a:ext cx="2857500" cy="400050"/>
          </a:xfrm>
          <a:prstGeom prst="rect">
            <a:avLst/>
          </a:prstGeom>
          <a:noFill/>
          <a:ln/>
        </p:spPr>
        <p:txBody>
          <a:bodyPr wrap="square" lIns="0" tIns="0" rIns="0" bIns="0" rtlCol="0" anchor="t"/>
          <a:lstStyle/>
          <a:p>
            <a:pPr algn="l" indent="0" marL="0">
              <a:lnSpc>
                <a:spcPts val="2588"/>
              </a:lnSpc>
              <a:buNone/>
            </a:pPr>
            <a:r>
              <a:rPr lang="en-US" sz="2250" dirty="0">
                <a:solidFill>
                  <a:srgbClr val="FFFFFF"/>
                </a:solidFill>
                <a:latin typeface="Arial" pitchFamily="34" charset="0"/>
                <a:ea typeface="Arial" pitchFamily="34" charset="-122"/>
                <a:cs typeface="Arial" pitchFamily="34" charset="-120"/>
              </a:rPr>
              <a:t>Generate</a:t>
            </a:r>
            <a:endParaRPr lang="en-US" sz="2250" dirty="0"/>
          </a:p>
        </p:txBody>
      </p:sp>
      <p:sp>
        <p:nvSpPr>
          <p:cNvPr id="10" name="slide-02-generate-body"/>
          <p:cNvSpPr txBox="1"/>
          <p:nvPr/>
        </p:nvSpPr>
        <p:spPr>
          <a:xfrm>
            <a:off x="4524375" y="3781425"/>
            <a:ext cx="2857500" cy="904875"/>
          </a:xfrm>
          <a:prstGeom prst="rect">
            <a:avLst/>
          </a:prstGeom>
          <a:noFill/>
          <a:ln/>
        </p:spPr>
        <p:txBody>
          <a:bodyPr wrap="square" lIns="0" tIns="0" rIns="0" bIns="0" rtlCol="0" anchor="t"/>
          <a:lstStyle/>
          <a:p>
            <a:pPr algn="l" indent="0" marL="0">
              <a:lnSpc>
                <a:spcPts val="2228"/>
              </a:lnSpc>
              <a:buNone/>
            </a:pPr>
            <a:r>
              <a:rPr lang="en-US" sz="1650" dirty="0">
                <a:solidFill>
                  <a:srgbClr val="A3A3A3"/>
                </a:solidFill>
                <a:latin typeface="Arial" pitchFamily="34" charset="0"/>
                <a:ea typeface="Arial" pitchFamily="34" charset="-122"/>
                <a:cs typeface="Arial" pitchFamily="34" charset="-120"/>
              </a:rPr>
              <a:t>A large language model</a:t>
            </a:r>
            <a:endParaRPr lang="en-US" sz="1650" dirty="0"/>
          </a:p>
          <a:p>
            <a:pPr algn="l" indent="0" marL="0">
              <a:lnSpc>
                <a:spcPts val="2228"/>
              </a:lnSpc>
              <a:buNone/>
            </a:pPr>
            <a:r>
              <a:rPr lang="en-US" sz="1650" dirty="0">
                <a:solidFill>
                  <a:srgbClr val="A3A3A3"/>
                </a:solidFill>
                <a:latin typeface="Arial" pitchFamily="34" charset="0"/>
                <a:ea typeface="Arial" pitchFamily="34" charset="-122"/>
                <a:cs typeface="Arial" pitchFamily="34" charset="-120"/>
              </a:rPr>
              <a:t>(LLM) generates source code.</a:t>
            </a:r>
            <a:endParaRPr lang="en-US" sz="1650" dirty="0"/>
          </a:p>
        </p:txBody>
      </p:sp>
      <p:pic>
        <p:nvPicPr>
          <p:cNvPr id="11" name="slide-02-forward-two" descr="preencoded.png">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7410450" y="3419475"/>
            <a:ext cx="600075" cy="114300"/>
          </a:xfrm>
          <a:prstGeom prst="rect">
            <a:avLst/>
          </a:prstGeom>
        </p:spPr>
      </p:pic>
      <p:sp>
        <p:nvSpPr>
          <p:cNvPr id="12" name="slide-02-step-three"/>
          <p:cNvSpPr txBox="1"/>
          <p:nvPr/>
        </p:nvSpPr>
        <p:spPr>
          <a:xfrm>
            <a:off x="8334375" y="3238500"/>
            <a:ext cx="3095625" cy="400050"/>
          </a:xfrm>
          <a:prstGeom prst="rect">
            <a:avLst/>
          </a:prstGeom>
          <a:noFill/>
          <a:ln/>
        </p:spPr>
        <p:txBody>
          <a:bodyPr wrap="square" lIns="0" tIns="0" rIns="0" bIns="0" rtlCol="0" anchor="t"/>
          <a:lstStyle/>
          <a:p>
            <a:pPr algn="l" indent="0" marL="0">
              <a:lnSpc>
                <a:spcPts val="2588"/>
              </a:lnSpc>
              <a:buNone/>
            </a:pPr>
            <a:r>
              <a:rPr lang="en-US" sz="2250" dirty="0">
                <a:solidFill>
                  <a:srgbClr val="FFFFFF"/>
                </a:solidFill>
                <a:latin typeface="Arial" pitchFamily="34" charset="0"/>
                <a:ea typeface="Arial" pitchFamily="34" charset="-122"/>
                <a:cs typeface="Arial" pitchFamily="34" charset="-120"/>
              </a:rPr>
              <a:t>Test + guide</a:t>
            </a:r>
            <a:endParaRPr lang="en-US" sz="2250" dirty="0"/>
          </a:p>
        </p:txBody>
      </p:sp>
      <p:sp>
        <p:nvSpPr>
          <p:cNvPr id="13" name="slide-02-test-body"/>
          <p:cNvSpPr txBox="1"/>
          <p:nvPr/>
        </p:nvSpPr>
        <p:spPr>
          <a:xfrm>
            <a:off x="8334375" y="3781425"/>
            <a:ext cx="3095625" cy="1047750"/>
          </a:xfrm>
          <a:prstGeom prst="rect">
            <a:avLst/>
          </a:prstGeom>
          <a:noFill/>
          <a:ln/>
        </p:spPr>
        <p:txBody>
          <a:bodyPr wrap="square" lIns="0" tIns="0" rIns="0" bIns="0" rtlCol="0" anchor="t"/>
          <a:lstStyle/>
          <a:p>
            <a:pPr algn="l" indent="0" marL="0">
              <a:lnSpc>
                <a:spcPts val="2228"/>
              </a:lnSpc>
              <a:buNone/>
            </a:pPr>
            <a:r>
              <a:rPr lang="en-US" sz="1650" dirty="0">
                <a:solidFill>
                  <a:srgbClr val="A3A3A3"/>
                </a:solidFill>
                <a:latin typeface="Arial" pitchFamily="34" charset="0"/>
                <a:ea typeface="Arial" pitchFamily="34" charset="-122"/>
                <a:cs typeface="Arial" pitchFamily="34" charset="-120"/>
              </a:rPr>
              <a:t>Test and give follow-up</a:t>
            </a:r>
            <a:endParaRPr lang="en-US" sz="1650" dirty="0"/>
          </a:p>
          <a:p>
            <a:pPr algn="l" indent="0" marL="0">
              <a:lnSpc>
                <a:spcPts val="2228"/>
              </a:lnSpc>
              <a:buNone/>
            </a:pPr>
            <a:r>
              <a:rPr lang="en-US" sz="1650" dirty="0">
                <a:solidFill>
                  <a:srgbClr val="A3A3A3"/>
                </a:solidFill>
                <a:latin typeface="Arial" pitchFamily="34" charset="0"/>
                <a:ea typeface="Arial" pitchFamily="34" charset="-122"/>
                <a:cs typeface="Arial" pitchFamily="34" charset="-120"/>
              </a:rPr>
              <a:t>instructions instead of manually</a:t>
            </a:r>
            <a:endParaRPr lang="en-US" sz="1650" dirty="0"/>
          </a:p>
          <a:p>
            <a:pPr algn="l" indent="0" marL="0">
              <a:lnSpc>
                <a:spcPts val="2228"/>
              </a:lnSpc>
              <a:buNone/>
            </a:pPr>
            <a:r>
              <a:rPr lang="en-US" sz="1650" dirty="0">
                <a:solidFill>
                  <a:srgbClr val="A3A3A3"/>
                </a:solidFill>
                <a:latin typeface="Arial" pitchFamily="34" charset="0"/>
                <a:ea typeface="Arial" pitchFamily="34" charset="-122"/>
                <a:cs typeface="Arial" pitchFamily="34" charset="-120"/>
              </a:rPr>
              <a:t>writing every change.</a:t>
            </a:r>
            <a:endParaRPr lang="en-US" sz="1650" dirty="0"/>
          </a:p>
        </p:txBody>
      </p:sp>
      <p:pic>
        <p:nvPicPr>
          <p:cNvPr id="14" name="slide-02-rule" descr="preencoded.png">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904875" y="4829175"/>
            <a:ext cx="9667875" cy="295275"/>
          </a:xfrm>
          <a:prstGeom prst="rect">
            <a:avLst/>
          </a:prstGeom>
        </p:spPr>
      </p:pic>
      <p:sp>
        <p:nvSpPr>
          <p:cNvPr id="15" name="slide-02-caution-marker"/>
          <p:cNvSpPr/>
          <p:nvPr/>
        </p:nvSpPr>
        <p:spPr>
          <a:xfrm>
            <a:off x="762000" y="5543550"/>
            <a:ext cx="28575" cy="552450"/>
          </a:xfrm>
          <a:prstGeom prst="rect">
            <a:avLst/>
          </a:prstGeom>
          <a:solidFill>
            <a:srgbClr val="FFFFFF"/>
          </a:solidFill>
          <a:ln w="12700">
            <a:solidFill>
              <a:srgbClr val="FFFFFF">
                <a:alpha val="0"/>
              </a:srgbClr>
            </a:solidFill>
            <a:prstDash val="solid"/>
          </a:ln>
        </p:spPr>
      </p:sp>
      <p:sp>
        <p:nvSpPr>
          <p:cNvPr id="16" name="slide-02-caution"/>
          <p:cNvSpPr txBox="1"/>
          <p:nvPr/>
        </p:nvSpPr>
        <p:spPr>
          <a:xfrm>
            <a:off x="971550" y="5514975"/>
            <a:ext cx="10287000" cy="266700"/>
          </a:xfrm>
          <a:prstGeom prst="rect">
            <a:avLst/>
          </a:prstGeom>
          <a:noFill/>
          <a:ln/>
        </p:spPr>
        <p:txBody>
          <a:bodyPr wrap="square" lIns="0" tIns="0" rIns="0" bIns="0" rtlCol="0" anchor="t"/>
          <a:lstStyle/>
          <a:p>
            <a:pPr algn="l" indent="0" marL="0">
              <a:lnSpc>
                <a:spcPts val="1950"/>
              </a:lnSpc>
              <a:buNone/>
            </a:pPr>
            <a:r>
              <a:rPr lang="en-US" sz="1500" dirty="0">
                <a:solidFill>
                  <a:srgbClr val="A3A3A3"/>
                </a:solidFill>
                <a:latin typeface="Arial" pitchFamily="34" charset="0"/>
                <a:ea typeface="Arial" pitchFamily="34" charset="-122"/>
                <a:cs typeface="Arial" pitchFamily="34" charset="-120"/>
              </a:rPr>
              <a:t>Vibe coding may include accepting code without thorough review.</a:t>
            </a:r>
            <a:endParaRPr lang="en-US" sz="1500" dirty="0"/>
          </a:p>
        </p:txBody>
      </p:sp>
      <p:sp>
        <p:nvSpPr>
          <p:cNvPr id="17" name="slide-02-review-guidance"/>
          <p:cNvSpPr txBox="1"/>
          <p:nvPr/>
        </p:nvSpPr>
        <p:spPr>
          <a:xfrm>
            <a:off x="971550" y="5819775"/>
            <a:ext cx="10287000" cy="295275"/>
          </a:xfrm>
          <a:prstGeom prst="rect">
            <a:avLst/>
          </a:prstGeom>
          <a:noFill/>
          <a:ln/>
        </p:spPr>
        <p:txBody>
          <a:bodyPr wrap="square" lIns="0" tIns="0" rIns="0" bIns="0" rtlCol="0" anchor="t"/>
          <a:lstStyle/>
          <a:p>
            <a:pPr algn="l" indent="0" marL="0">
              <a:lnSpc>
                <a:spcPts val="1980"/>
              </a:lnSpc>
              <a:buNone/>
            </a:pPr>
            <a:r>
              <a:rPr lang="en-US" sz="1650" b="1" dirty="0">
                <a:solidFill>
                  <a:srgbClr val="FFFFFF"/>
                </a:solidFill>
                <a:latin typeface="Arial" pitchFamily="34" charset="0"/>
                <a:ea typeface="Arial" pitchFamily="34" charset="-122"/>
                <a:cs typeface="Arial" pitchFamily="34" charset="-120"/>
              </a:rPr>
              <a:t>For live websites, keep the review.</a:t>
            </a:r>
            <a:endParaRPr lang="en-US" sz="1650" dirty="0"/>
          </a:p>
        </p:txBody>
      </p:sp>
      <p:sp>
        <p:nvSpPr>
          <p:cNvPr id="18" name="slide-02-footer-rule"/>
          <p:cNvSpPr/>
          <p:nvPr/>
        </p:nvSpPr>
        <p:spPr>
          <a:xfrm>
            <a:off x="762000" y="6353175"/>
            <a:ext cx="10668000" cy="9525"/>
          </a:xfrm>
          <a:prstGeom prst="rect">
            <a:avLst/>
          </a:prstGeom>
          <a:solidFill>
            <a:srgbClr val="222222"/>
          </a:solidFill>
          <a:ln w="12700">
            <a:solidFill>
              <a:srgbClr val="222222">
                <a:alpha val="0"/>
              </a:srgbClr>
            </a:solidFill>
            <a:prstDash val="solid"/>
          </a:ln>
        </p:spPr>
      </p:sp>
      <p:sp>
        <p:nvSpPr>
          <p:cNvPr id="19" name="slide-02-footer"/>
          <p:cNvSpPr txBox="1"/>
          <p:nvPr/>
        </p:nvSpPr>
        <p:spPr>
          <a:xfrm>
            <a:off x="762000" y="6486525"/>
            <a:ext cx="10668000" cy="190500"/>
          </a:xfrm>
          <a:prstGeom prst="rect">
            <a:avLst/>
          </a:prstGeom>
          <a:noFill/>
          <a:ln/>
        </p:spPr>
        <p:txBody>
          <a:bodyPr wrap="square" lIns="0" tIns="0" rIns="0" bIns="0" rtlCol="0" anchor="t"/>
          <a:lstStyle/>
          <a:p>
            <a:pPr algn="l" indent="0" marL="0">
              <a:lnSpc>
                <a:spcPts val="990"/>
              </a:lnSpc>
              <a:buNone/>
            </a:pPr>
            <a:r>
              <a:rPr lang="en-US" sz="825" spc="113" kern="0" dirty="0">
                <a:solidFill>
                  <a:srgbClr val="A3A3A3"/>
                </a:solidFill>
                <a:latin typeface="Arial" pitchFamily="34" charset="0"/>
                <a:ea typeface="Arial" pitchFamily="34" charset="-122"/>
                <a:cs typeface="Arial" pitchFamily="34" charset="-120"/>
              </a:rPr>
              <a:t>CLAUDE CODE / WEBSITE CREATION</a:t>
            </a:r>
            <a:endParaRPr lang="en-US" sz="825"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A0A0A"/>
        </a:solidFill>
      </p:bgPr>
    </p:bg>
    <p:spTree>
      <p:nvGrpSpPr>
        <p:cNvPr id="1" name=""/>
        <p:cNvGrpSpPr/>
        <p:nvPr/>
      </p:nvGrpSpPr>
      <p:grpSpPr>
        <a:xfrm>
          <a:off x="0" y="0"/>
          <a:ext cx="0" cy="0"/>
          <a:chOff x="0" y="0"/>
          <a:chExt cx="0" cy="0"/>
        </a:xfrm>
      </p:grpSpPr>
      <p:sp>
        <p:nvSpPr>
          <p:cNvPr id="3" name="slide-03-eyebrow"/>
          <p:cNvSpPr txBox="1"/>
          <p:nvPr/>
        </p:nvSpPr>
        <p:spPr>
          <a:xfrm>
            <a:off x="685800" y="323850"/>
            <a:ext cx="9525000" cy="228600"/>
          </a:xfrm>
          <a:prstGeom prst="rect">
            <a:avLst/>
          </a:prstGeom>
          <a:noFill/>
          <a:ln/>
        </p:spPr>
        <p:txBody>
          <a:bodyPr wrap="square" lIns="0" tIns="0" rIns="0" bIns="0" rtlCol="0" anchor="t"/>
          <a:lstStyle/>
          <a:p>
            <a:pPr algn="l" indent="0" marL="0">
              <a:lnSpc>
                <a:spcPts val="1170"/>
              </a:lnSpc>
              <a:buNone/>
            </a:pPr>
            <a:r>
              <a:rPr lang="en-US" sz="975" spc="150" kern="0" dirty="0">
                <a:solidFill>
                  <a:srgbClr val="A3A3A3"/>
                </a:solidFill>
                <a:latin typeface="Arial" pitchFamily="34" charset="0"/>
                <a:ea typeface="Arial" pitchFamily="34" charset="-122"/>
                <a:cs typeface="Arial" pitchFamily="34" charset="-120"/>
              </a:rPr>
              <a:t>EVIDENCE BOUNDARIES</a:t>
            </a:r>
            <a:endParaRPr lang="en-US" sz="975" dirty="0"/>
          </a:p>
        </p:txBody>
      </p:sp>
      <p:sp>
        <p:nvSpPr>
          <p:cNvPr id="4" name="slide-03-index"/>
          <p:cNvSpPr txBox="1"/>
          <p:nvPr/>
        </p:nvSpPr>
        <p:spPr>
          <a:xfrm>
            <a:off x="10363200" y="323850"/>
            <a:ext cx="1143000" cy="228600"/>
          </a:xfrm>
          <a:prstGeom prst="rect">
            <a:avLst/>
          </a:prstGeom>
          <a:noFill/>
          <a:ln/>
        </p:spPr>
        <p:txBody>
          <a:bodyPr wrap="square" lIns="0" tIns="0" rIns="0" bIns="0" rtlCol="0" anchor="t"/>
          <a:lstStyle/>
          <a:p>
            <a:pPr algn="r" indent="0" marL="0">
              <a:lnSpc>
                <a:spcPts val="1170"/>
              </a:lnSpc>
              <a:buNone/>
            </a:pPr>
            <a:r>
              <a:rPr lang="en-US" sz="975" spc="75" kern="0" dirty="0">
                <a:solidFill>
                  <a:srgbClr val="A3A3A3"/>
                </a:solidFill>
                <a:latin typeface="Arial" pitchFamily="34" charset="0"/>
                <a:ea typeface="Arial" pitchFamily="34" charset="-122"/>
                <a:cs typeface="Arial" pitchFamily="34" charset="-120"/>
              </a:rPr>
              <a:t>03 / 20</a:t>
            </a:r>
            <a:endParaRPr lang="en-US" sz="975" dirty="0"/>
          </a:p>
        </p:txBody>
      </p:sp>
      <p:sp>
        <p:nvSpPr>
          <p:cNvPr id="5" name="slide-03-title"/>
          <p:cNvSpPr txBox="1"/>
          <p:nvPr/>
        </p:nvSpPr>
        <p:spPr>
          <a:xfrm>
            <a:off x="685800" y="838200"/>
            <a:ext cx="10820400" cy="1066800"/>
          </a:xfrm>
          <a:prstGeom prst="rect">
            <a:avLst/>
          </a:prstGeom>
          <a:noFill/>
          <a:ln/>
        </p:spPr>
        <p:txBody>
          <a:bodyPr wrap="square" lIns="0" tIns="0" rIns="0" bIns="0" rtlCol="0" anchor="t"/>
          <a:lstStyle/>
          <a:p>
            <a:pPr algn="l" indent="0" marL="0">
              <a:lnSpc>
                <a:spcPts val="3726"/>
              </a:lnSpc>
              <a:buNone/>
            </a:pPr>
            <a:r>
              <a:rPr lang="en-US" sz="3450" b="1" spc="-75" kern="0" dirty="0">
                <a:solidFill>
                  <a:srgbClr val="FFFFFF"/>
                </a:solidFill>
                <a:latin typeface="Arial" pitchFamily="34" charset="0"/>
                <a:ea typeface="Arial" pitchFamily="34" charset="-122"/>
                <a:cs typeface="Arial" pitchFamily="34" charset="-120"/>
              </a:rPr>
              <a:t>Creator examples are not official</a:t>
            </a:r>
            <a:endParaRPr lang="en-US" sz="3450" dirty="0"/>
          </a:p>
          <a:p>
            <a:pPr algn="l" indent="0" marL="0">
              <a:lnSpc>
                <a:spcPts val="3726"/>
              </a:lnSpc>
              <a:buNone/>
            </a:pPr>
            <a:r>
              <a:rPr lang="en-US" sz="3450" b="1" spc="-75" kern="0" dirty="0">
                <a:solidFill>
                  <a:srgbClr val="FFFFFF"/>
                </a:solidFill>
                <a:latin typeface="Arial" pitchFamily="34" charset="0"/>
                <a:ea typeface="Arial" pitchFamily="34" charset="-122"/>
                <a:cs typeface="Arial" pitchFamily="34" charset="-120"/>
              </a:rPr>
              <a:t>Claude Code documentation.</a:t>
            </a:r>
            <a:endParaRPr lang="en-US" sz="3450" dirty="0"/>
          </a:p>
        </p:txBody>
      </p:sp>
      <p:sp>
        <p:nvSpPr>
          <p:cNvPr id="6" name="slide-03-lead"/>
          <p:cNvSpPr txBox="1"/>
          <p:nvPr/>
        </p:nvSpPr>
        <p:spPr>
          <a:xfrm>
            <a:off x="685800" y="2076450"/>
            <a:ext cx="10477500" cy="552450"/>
          </a:xfrm>
          <a:prstGeom prst="rect">
            <a:avLst/>
          </a:prstGeom>
          <a:noFill/>
          <a:ln/>
        </p:spPr>
        <p:txBody>
          <a:bodyPr wrap="square" lIns="0" tIns="0" rIns="0" bIns="0" rtlCol="0" anchor="t"/>
          <a:lstStyle/>
          <a:p>
            <a:pPr algn="l" indent="0" marL="0">
              <a:lnSpc>
                <a:spcPts val="2156"/>
              </a:lnSpc>
              <a:buNone/>
            </a:pPr>
            <a:r>
              <a:rPr lang="en-US" sz="1725" dirty="0">
                <a:solidFill>
                  <a:srgbClr val="A3A3A3"/>
                </a:solidFill>
                <a:latin typeface="Arial" pitchFamily="34" charset="0"/>
                <a:ea typeface="Arial" pitchFamily="34" charset="-122"/>
                <a:cs typeface="Arial" pitchFamily="34" charset="-120"/>
              </a:rPr>
              <a:t>Use these sources for workflow ideas,</a:t>
            </a:r>
            <a:endParaRPr lang="en-US" sz="1725" dirty="0"/>
          </a:p>
          <a:p>
            <a:pPr algn="l" indent="0" marL="0">
              <a:lnSpc>
                <a:spcPts val="2156"/>
              </a:lnSpc>
              <a:buNone/>
            </a:pPr>
            <a:r>
              <a:rPr lang="en-US" sz="1725" dirty="0">
                <a:solidFill>
                  <a:srgbClr val="A3A3A3"/>
                </a:solidFill>
                <a:latin typeface="Arial" pitchFamily="34" charset="0"/>
                <a:ea typeface="Arial" pitchFamily="34" charset="-122"/>
                <a:cs typeface="Arial" pitchFamily="34" charset="-120"/>
              </a:rPr>
              <a:t>not verified setup or deployment instructions.</a:t>
            </a:r>
            <a:endParaRPr lang="en-US" sz="1725" dirty="0"/>
          </a:p>
        </p:txBody>
      </p:sp>
      <p:sp>
        <p:nvSpPr>
          <p:cNvPr id="7" name="slide-03-card-0"/>
          <p:cNvSpPr/>
          <p:nvPr/>
        </p:nvSpPr>
        <p:spPr>
          <a:xfrm>
            <a:off x="685800" y="2914650"/>
            <a:ext cx="5219700" cy="9525"/>
          </a:xfrm>
          <a:prstGeom prst="rect">
            <a:avLst/>
          </a:prstGeom>
          <a:solidFill>
            <a:srgbClr val="555555"/>
          </a:solidFill>
          <a:ln w="12700">
            <a:solidFill>
              <a:srgbClr val="555555">
                <a:alpha val="0"/>
              </a:srgbClr>
            </a:solidFill>
            <a:prstDash val="solid"/>
          </a:ln>
        </p:spPr>
      </p:sp>
      <p:sp>
        <p:nvSpPr>
          <p:cNvPr id="8" name="slide-03-card-1"/>
          <p:cNvSpPr/>
          <p:nvPr/>
        </p:nvSpPr>
        <p:spPr>
          <a:xfrm>
            <a:off x="6438900" y="2914650"/>
            <a:ext cx="5067300" cy="9525"/>
          </a:xfrm>
          <a:prstGeom prst="rect">
            <a:avLst/>
          </a:prstGeom>
          <a:solidFill>
            <a:srgbClr val="555555"/>
          </a:solidFill>
          <a:ln w="12700">
            <a:solidFill>
              <a:srgbClr val="555555">
                <a:alpha val="0"/>
              </a:srgbClr>
            </a:solidFill>
            <a:prstDash val="solid"/>
          </a:ln>
        </p:spPr>
      </p:sp>
      <p:sp>
        <p:nvSpPr>
          <p:cNvPr id="9" name="slide-03-card-number-0"/>
          <p:cNvSpPr txBox="1"/>
          <p:nvPr/>
        </p:nvSpPr>
        <p:spPr>
          <a:xfrm>
            <a:off x="685800" y="3086100"/>
            <a:ext cx="5219700" cy="276225"/>
          </a:xfrm>
          <a:prstGeom prst="rect">
            <a:avLst/>
          </a:prstGeom>
          <a:noFill/>
          <a:ln/>
        </p:spPr>
        <p:txBody>
          <a:bodyPr wrap="square" lIns="0" tIns="0" rIns="0" bIns="0" rtlCol="0" anchor="t"/>
          <a:lstStyle/>
          <a:p>
            <a:pPr algn="l" indent="0" marL="0">
              <a:lnSpc>
                <a:spcPts val="1980"/>
              </a:lnSpc>
              <a:buNone/>
            </a:pPr>
            <a:r>
              <a:rPr lang="en-US" sz="1650" b="1" dirty="0">
                <a:solidFill>
                  <a:srgbClr val="FFFFFF"/>
                </a:solidFill>
                <a:latin typeface="Arial" pitchFamily="34" charset="0"/>
                <a:ea typeface="Arial" pitchFamily="34" charset="-122"/>
                <a:cs typeface="Arial" pitchFamily="34" charset="-120"/>
              </a:rPr>
              <a:t>Claude Code creator example</a:t>
            </a:r>
            <a:endParaRPr lang="en-US" sz="1650" dirty="0"/>
          </a:p>
        </p:txBody>
      </p:sp>
      <p:sp>
        <p:nvSpPr>
          <p:cNvPr id="10" name="slide-03-card-text-0"/>
          <p:cNvSpPr txBox="1"/>
          <p:nvPr/>
        </p:nvSpPr>
        <p:spPr>
          <a:xfrm>
            <a:off x="685800" y="3524250"/>
            <a:ext cx="5095875" cy="857250"/>
          </a:xfrm>
          <a:prstGeom prst="rect">
            <a:avLst/>
          </a:prstGeom>
          <a:noFill/>
          <a:ln/>
        </p:spPr>
        <p:txBody>
          <a:bodyPr wrap="square" lIns="0" tIns="0" rIns="0" bIns="0" rtlCol="0" anchor="t"/>
          <a:lstStyle/>
          <a:p>
            <a:pPr algn="l" indent="0" marL="0">
              <a:lnSpc>
                <a:spcPts val="2126"/>
              </a:lnSpc>
              <a:buNone/>
            </a:pPr>
            <a:r>
              <a:rPr lang="en-US" sz="1575" dirty="0">
                <a:solidFill>
                  <a:srgbClr val="D4D4D4"/>
                </a:solidFill>
                <a:latin typeface="Arial" pitchFamily="34" charset="0"/>
                <a:ea typeface="Arial" pitchFamily="34" charset="-122"/>
                <a:cs typeface="Arial" pitchFamily="34" charset="-120"/>
              </a:rPr>
              <a:t>Choose a design prompt, add brand context,</a:t>
            </a:r>
            <a:endParaRPr lang="en-US" sz="1575" dirty="0"/>
          </a:p>
          <a:p>
            <a:pPr algn="l" indent="0" marL="0">
              <a:lnSpc>
                <a:spcPts val="2126"/>
              </a:lnSpc>
              <a:buNone/>
            </a:pPr>
            <a:r>
              <a:rPr lang="en-US" sz="1575" dirty="0">
                <a:solidFill>
                  <a:srgbClr val="D4D4D4"/>
                </a:solidFill>
                <a:latin typeface="Arial" pitchFamily="34" charset="0"/>
                <a:ea typeface="Arial" pitchFamily="34" charset="-122"/>
                <a:cs typeface="Arial" pitchFamily="34" charset="-120"/>
              </a:rPr>
              <a:t>and iterate toward the brand’s style.</a:t>
            </a:r>
            <a:endParaRPr lang="en-US" sz="1575" dirty="0"/>
          </a:p>
          <a:p>
            <a:pPr algn="l" indent="0" marL="0">
              <a:lnSpc>
                <a:spcPts val="2126"/>
              </a:lnSpc>
              <a:buNone/>
            </a:pPr>
            <a:r>
              <a:rPr lang="en-US" sz="1575" dirty="0">
                <a:solidFill>
                  <a:srgbClr val="D4D4D4"/>
                </a:solidFill>
                <a:latin typeface="Arial" pitchFamily="34" charset="0"/>
                <a:ea typeface="Arial" pitchFamily="34" charset="-122"/>
                <a:cs typeface="Arial" pitchFamily="34" charset="-120"/>
              </a:rPr>
              <a:t>Creator-described; not independently verified.</a:t>
            </a:r>
            <a:endParaRPr lang="en-US" sz="1575" dirty="0"/>
          </a:p>
        </p:txBody>
      </p:sp>
      <p:sp>
        <p:nvSpPr>
          <p:cNvPr id="11" name="slide-03-card-number-1"/>
          <p:cNvSpPr txBox="1"/>
          <p:nvPr/>
        </p:nvSpPr>
        <p:spPr>
          <a:xfrm>
            <a:off x="6438900" y="3086100"/>
            <a:ext cx="5067300" cy="276225"/>
          </a:xfrm>
          <a:prstGeom prst="rect">
            <a:avLst/>
          </a:prstGeom>
          <a:noFill/>
          <a:ln/>
        </p:spPr>
        <p:txBody>
          <a:bodyPr wrap="square" lIns="0" tIns="0" rIns="0" bIns="0" rtlCol="0" anchor="t"/>
          <a:lstStyle/>
          <a:p>
            <a:pPr algn="l" indent="0" marL="0">
              <a:lnSpc>
                <a:spcPts val="1980"/>
              </a:lnSpc>
              <a:buNone/>
            </a:pPr>
            <a:r>
              <a:rPr lang="en-US" sz="1650" b="1" dirty="0">
                <a:solidFill>
                  <a:srgbClr val="FFFFFF"/>
                </a:solidFill>
                <a:latin typeface="Arial" pitchFamily="34" charset="0"/>
                <a:ea typeface="Arial" pitchFamily="34" charset="-122"/>
                <a:cs typeface="Arial" pitchFamily="34" charset="-120"/>
              </a:rPr>
              <a:t>Amboras tutorial</a:t>
            </a:r>
            <a:endParaRPr lang="en-US" sz="1650" dirty="0"/>
          </a:p>
        </p:txBody>
      </p:sp>
      <p:sp>
        <p:nvSpPr>
          <p:cNvPr id="12" name="slide-03-card-text-1"/>
          <p:cNvSpPr txBox="1"/>
          <p:nvPr/>
        </p:nvSpPr>
        <p:spPr>
          <a:xfrm>
            <a:off x="6438900" y="3524250"/>
            <a:ext cx="5067300" cy="857250"/>
          </a:xfrm>
          <a:prstGeom prst="rect">
            <a:avLst/>
          </a:prstGeom>
          <a:noFill/>
          <a:ln/>
        </p:spPr>
        <p:txBody>
          <a:bodyPr wrap="square" lIns="0" tIns="0" rIns="0" bIns="0" rtlCol="0" anchor="t"/>
          <a:lstStyle/>
          <a:p>
            <a:pPr algn="l" indent="0" marL="0">
              <a:lnSpc>
                <a:spcPts val="2126"/>
              </a:lnSpc>
              <a:buNone/>
            </a:pPr>
            <a:r>
              <a:rPr lang="en-US" sz="1575" dirty="0">
                <a:solidFill>
                  <a:srgbClr val="D4D4D4"/>
                </a:solidFill>
                <a:latin typeface="Arial" pitchFamily="34" charset="0"/>
                <a:ea typeface="Arial" pitchFamily="34" charset="-122"/>
                <a:cs typeface="Arial" pitchFamily="34" charset="-120"/>
              </a:rPr>
              <a:t>Page-analysis and refinement examples</a:t>
            </a:r>
            <a:endParaRPr lang="en-US" sz="1575" dirty="0"/>
          </a:p>
          <a:p>
            <a:pPr algn="l" indent="0" marL="0">
              <a:lnSpc>
                <a:spcPts val="2126"/>
              </a:lnSpc>
              <a:buNone/>
            </a:pPr>
            <a:r>
              <a:rPr lang="en-US" sz="1575" dirty="0">
                <a:solidFill>
                  <a:srgbClr val="D4D4D4"/>
                </a:solidFill>
                <a:latin typeface="Arial" pitchFamily="34" charset="0"/>
                <a:ea typeface="Arial" pitchFamily="34" charset="-122"/>
                <a:cs typeface="Arial" pitchFamily="34" charset="-120"/>
              </a:rPr>
              <a:t>in an e-commerce environment—not a</a:t>
            </a:r>
            <a:endParaRPr lang="en-US" sz="1575" dirty="0"/>
          </a:p>
          <a:p>
            <a:pPr algn="l" indent="0" marL="0">
              <a:lnSpc>
                <a:spcPts val="2126"/>
              </a:lnSpc>
              <a:buNone/>
            </a:pPr>
            <a:r>
              <a:rPr lang="en-US" sz="1575" dirty="0">
                <a:solidFill>
                  <a:srgbClr val="D4D4D4"/>
                </a:solidFill>
                <a:latin typeface="Arial" pitchFamily="34" charset="0"/>
                <a:ea typeface="Arial" pitchFamily="34" charset="-122"/>
                <a:cs typeface="Arial" pitchFamily="34" charset="-120"/>
              </a:rPr>
              <a:t>standalone Claude Code guide.</a:t>
            </a:r>
            <a:endParaRPr lang="en-US" sz="1575" dirty="0"/>
          </a:p>
        </p:txBody>
      </p:sp>
      <p:sp>
        <p:nvSpPr>
          <p:cNvPr id="13" name="slide-03-boundary-strip"/>
          <p:cNvSpPr/>
          <p:nvPr/>
        </p:nvSpPr>
        <p:spPr>
          <a:xfrm>
            <a:off x="685800" y="4705350"/>
            <a:ext cx="10820400" cy="1257300"/>
          </a:xfrm>
          <a:prstGeom prst="roundRect">
            <a:avLst>
              <a:gd name="adj" fmla="val 1515"/>
            </a:avLst>
          </a:prstGeom>
          <a:solidFill>
            <a:srgbClr val="1C1C1C"/>
          </a:solidFill>
          <a:ln w="12700">
            <a:solidFill>
              <a:srgbClr val="1C1C1C">
                <a:alpha val="0"/>
              </a:srgbClr>
            </a:solidFill>
            <a:prstDash val="solid"/>
          </a:ln>
        </p:spPr>
      </p:sp>
      <p:sp>
        <p:nvSpPr>
          <p:cNvPr id="14" name="slide-03-boundary-marker"/>
          <p:cNvSpPr/>
          <p:nvPr/>
        </p:nvSpPr>
        <p:spPr>
          <a:xfrm>
            <a:off x="685800" y="4705350"/>
            <a:ext cx="28575" cy="1257300"/>
          </a:xfrm>
          <a:prstGeom prst="rect">
            <a:avLst/>
          </a:prstGeom>
          <a:solidFill>
            <a:srgbClr val="F5F5F5"/>
          </a:solidFill>
          <a:ln w="12700">
            <a:solidFill>
              <a:srgbClr val="F5F5F5">
                <a:alpha val="0"/>
              </a:srgbClr>
            </a:solidFill>
            <a:prstDash val="solid"/>
          </a:ln>
        </p:spPr>
      </p:sp>
      <p:sp>
        <p:nvSpPr>
          <p:cNvPr id="15" name="slide-03-boundary-label"/>
          <p:cNvSpPr txBox="1"/>
          <p:nvPr/>
        </p:nvSpPr>
        <p:spPr>
          <a:xfrm>
            <a:off x="914400" y="4886325"/>
            <a:ext cx="10287000" cy="209550"/>
          </a:xfrm>
          <a:prstGeom prst="rect">
            <a:avLst/>
          </a:prstGeom>
          <a:noFill/>
          <a:ln/>
        </p:spPr>
        <p:txBody>
          <a:bodyPr wrap="square" lIns="0" tIns="0" rIns="0" bIns="0" rtlCol="0" anchor="t"/>
          <a:lstStyle/>
          <a:p>
            <a:pPr algn="l" indent="0" marL="0">
              <a:lnSpc>
                <a:spcPts val="1170"/>
              </a:lnSpc>
              <a:buNone/>
            </a:pPr>
            <a:r>
              <a:rPr lang="en-US" sz="975" b="1" spc="113" kern="0" dirty="0">
                <a:solidFill>
                  <a:srgbClr val="A3A3A3"/>
                </a:solidFill>
                <a:latin typeface="Arial" pitchFamily="34" charset="0"/>
                <a:ea typeface="Arial" pitchFamily="34" charset="-122"/>
                <a:cs typeface="Arial" pitchFamily="34" charset="-120"/>
              </a:rPr>
              <a:t>NOT ESTABLISHED BY THE SUPPLIED SOURCES</a:t>
            </a:r>
            <a:endParaRPr lang="en-US" sz="975" dirty="0"/>
          </a:p>
        </p:txBody>
      </p:sp>
      <p:sp>
        <p:nvSpPr>
          <p:cNvPr id="16" name="slide-03-boundary-text"/>
          <p:cNvSpPr txBox="1"/>
          <p:nvPr/>
        </p:nvSpPr>
        <p:spPr>
          <a:xfrm>
            <a:off x="914400" y="5219700"/>
            <a:ext cx="10287000" cy="571500"/>
          </a:xfrm>
          <a:prstGeom prst="rect">
            <a:avLst/>
          </a:prstGeom>
          <a:noFill/>
          <a:ln/>
        </p:spPr>
        <p:txBody>
          <a:bodyPr wrap="square" lIns="0" tIns="0" rIns="0" bIns="0" rtlCol="0" anchor="t"/>
          <a:lstStyle/>
          <a:p>
            <a:pPr algn="l" indent="0" marL="0">
              <a:lnSpc>
                <a:spcPts val="2145"/>
              </a:lnSpc>
              <a:buNone/>
            </a:pPr>
            <a:r>
              <a:rPr lang="en-US" sz="1650" dirty="0">
                <a:solidFill>
                  <a:srgbClr val="FFFFFF"/>
                </a:solidFill>
                <a:latin typeface="Arial" pitchFamily="34" charset="0"/>
                <a:ea typeface="Arial" pitchFamily="34" charset="-122"/>
                <a:cs typeface="Arial" pitchFamily="34" charset="-120"/>
              </a:rPr>
              <a:t>Current installation commands, permissions, image-input requirements,</a:t>
            </a:r>
            <a:endParaRPr lang="en-US" sz="1650" dirty="0"/>
          </a:p>
          <a:p>
            <a:pPr algn="l" indent="0" marL="0">
              <a:lnSpc>
                <a:spcPts val="2145"/>
              </a:lnSpc>
              <a:buNone/>
            </a:pPr>
            <a:r>
              <a:rPr lang="en-US" sz="1650" dirty="0">
                <a:solidFill>
                  <a:srgbClr val="FFFFFF"/>
                </a:solidFill>
                <a:latin typeface="Arial" pitchFamily="34" charset="0"/>
                <a:ea typeface="Arial" pitchFamily="34" charset="-122"/>
                <a:cs typeface="Arial" pitchFamily="34" charset="-120"/>
              </a:rPr>
              <a:t>or reproducible deployment steps.</a:t>
            </a:r>
            <a:endParaRPr lang="en-US" sz="1650" dirty="0"/>
          </a:p>
        </p:txBody>
      </p:sp>
      <p:sp>
        <p:nvSpPr>
          <p:cNvPr id="17" name="slide-03-footer-rule"/>
          <p:cNvSpPr/>
          <p:nvPr/>
        </p:nvSpPr>
        <p:spPr>
          <a:xfrm>
            <a:off x="685800" y="6210300"/>
            <a:ext cx="10820400" cy="9525"/>
          </a:xfrm>
          <a:prstGeom prst="rect">
            <a:avLst/>
          </a:prstGeom>
          <a:solidFill>
            <a:srgbClr val="333333"/>
          </a:solidFill>
          <a:ln w="12700">
            <a:solidFill>
              <a:srgbClr val="333333">
                <a:alpha val="0"/>
              </a:srgbClr>
            </a:solidFill>
            <a:prstDash val="solid"/>
          </a:ln>
        </p:spPr>
      </p:sp>
      <p:sp>
        <p:nvSpPr>
          <p:cNvPr id="18" name="slide-03-footer"/>
          <p:cNvSpPr txBox="1"/>
          <p:nvPr/>
        </p:nvSpPr>
        <p:spPr>
          <a:xfrm>
            <a:off x="685800" y="6362700"/>
            <a:ext cx="10820400" cy="247650"/>
          </a:xfrm>
          <a:prstGeom prst="rect">
            <a:avLst/>
          </a:prstGeom>
          <a:noFill/>
          <a:ln/>
        </p:spPr>
        <p:txBody>
          <a:bodyPr wrap="square" lIns="0" tIns="0" rIns="0" bIns="0" rtlCol="0" anchor="t"/>
          <a:lstStyle/>
          <a:p>
            <a:pPr algn="l" indent="0" marL="0">
              <a:lnSpc>
                <a:spcPts val="1620"/>
              </a:lnSpc>
              <a:buNone/>
            </a:pPr>
            <a:r>
              <a:rPr lang="en-US" sz="1350" dirty="0">
                <a:solidFill>
                  <a:srgbClr val="A3A3A3"/>
                </a:solidFill>
                <a:latin typeface="Arial" pitchFamily="34" charset="0"/>
                <a:ea typeface="Arial" pitchFamily="34" charset="-122"/>
                <a:cs typeface="Arial" pitchFamily="34" charset="-120"/>
              </a:rPr>
              <a:t>The prompts that follow are illustrative recommendations—not verified executions.</a:t>
            </a:r>
            <a:endParaRPr lang="en-US" sz="13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A0A0A"/>
        </a:solidFill>
      </p:bgPr>
    </p:bg>
    <p:spTree>
      <p:nvGrpSpPr>
        <p:cNvPr id="1" name=""/>
        <p:cNvGrpSpPr/>
        <p:nvPr/>
      </p:nvGrpSpPr>
      <p:grpSpPr>
        <a:xfrm>
          <a:off x="0" y="0"/>
          <a:ext cx="0" cy="0"/>
          <a:chOff x="0" y="0"/>
          <a:chExt cx="0" cy="0"/>
        </a:xfrm>
      </p:grpSpPr>
      <p:sp>
        <p:nvSpPr>
          <p:cNvPr id="3" name="slide-04-eyebrow"/>
          <p:cNvSpPr txBox="1"/>
          <p:nvPr/>
        </p:nvSpPr>
        <p:spPr>
          <a:xfrm>
            <a:off x="762000" y="381000"/>
            <a:ext cx="9525000" cy="228600"/>
          </a:xfrm>
          <a:prstGeom prst="rect">
            <a:avLst/>
          </a:prstGeom>
          <a:noFill/>
          <a:ln/>
        </p:spPr>
        <p:txBody>
          <a:bodyPr wrap="square" lIns="0" tIns="0" rIns="0" bIns="0" rtlCol="0" anchor="t"/>
          <a:lstStyle/>
          <a:p>
            <a:pPr algn="l" indent="0" marL="0">
              <a:lnSpc>
                <a:spcPts val="1260"/>
              </a:lnSpc>
              <a:buNone/>
            </a:pPr>
            <a:r>
              <a:rPr lang="en-US" sz="1050" spc="150" kern="0" dirty="0">
                <a:solidFill>
                  <a:srgbClr val="A3A3A3"/>
                </a:solidFill>
                <a:latin typeface="Arial" pitchFamily="34" charset="0"/>
                <a:ea typeface="Arial" pitchFamily="34" charset="-122"/>
                <a:cs typeface="Arial" pitchFamily="34" charset="-120"/>
              </a:rPr>
              <a:t>CLAUDE CODE  /  THE WEBSITE BRIEF</a:t>
            </a:r>
            <a:endParaRPr lang="en-US" sz="1050" dirty="0"/>
          </a:p>
        </p:txBody>
      </p:sp>
      <p:sp>
        <p:nvSpPr>
          <p:cNvPr id="4" name="slide-04-title"/>
          <p:cNvSpPr txBox="1"/>
          <p:nvPr/>
        </p:nvSpPr>
        <p:spPr>
          <a:xfrm>
            <a:off x="762000" y="914400"/>
            <a:ext cx="10668000" cy="1123950"/>
          </a:xfrm>
          <a:prstGeom prst="rect">
            <a:avLst/>
          </a:prstGeom>
          <a:noFill/>
          <a:ln/>
        </p:spPr>
        <p:txBody>
          <a:bodyPr wrap="square" lIns="0" tIns="0" rIns="0" bIns="0" rtlCol="0" anchor="t"/>
          <a:lstStyle/>
          <a:p>
            <a:pPr algn="l" indent="0" marL="0">
              <a:lnSpc>
                <a:spcPts val="4050"/>
              </a:lnSpc>
              <a:buNone/>
            </a:pPr>
            <a:r>
              <a:rPr lang="en-US" sz="3750" spc="-90" kern="0" dirty="0">
                <a:solidFill>
                  <a:srgbClr val="FFFFFF"/>
                </a:solidFill>
                <a:latin typeface="Arial" pitchFamily="34" charset="0"/>
                <a:ea typeface="Arial" pitchFamily="34" charset="-122"/>
                <a:cs typeface="Arial" pitchFamily="34" charset="-120"/>
              </a:rPr>
              <a:t>Define the website</a:t>
            </a:r>
            <a:endParaRPr lang="en-US" sz="3750" dirty="0"/>
          </a:p>
          <a:p>
            <a:pPr algn="l" indent="0" marL="0">
              <a:lnSpc>
                <a:spcPts val="4050"/>
              </a:lnSpc>
              <a:buNone/>
            </a:pPr>
            <a:r>
              <a:rPr lang="en-US" sz="3750" spc="-90" kern="0" dirty="0">
                <a:solidFill>
                  <a:srgbClr val="FFFFFF"/>
                </a:solidFill>
                <a:latin typeface="Arial" pitchFamily="34" charset="0"/>
                <a:ea typeface="Arial" pitchFamily="34" charset="-122"/>
                <a:cs typeface="Arial" pitchFamily="34" charset="-120"/>
              </a:rPr>
              <a:t>before prompting Claude Code</a:t>
            </a:r>
            <a:endParaRPr lang="en-US" sz="3750" dirty="0"/>
          </a:p>
        </p:txBody>
      </p:sp>
      <p:sp>
        <p:nvSpPr>
          <p:cNvPr id="5" name="slide-04-lead"/>
          <p:cNvSpPr txBox="1"/>
          <p:nvPr/>
        </p:nvSpPr>
        <p:spPr>
          <a:xfrm>
            <a:off x="762000" y="2247900"/>
            <a:ext cx="8763000" cy="323850"/>
          </a:xfrm>
          <a:prstGeom prst="rect">
            <a:avLst/>
          </a:prstGeom>
          <a:noFill/>
          <a:ln/>
        </p:spPr>
        <p:txBody>
          <a:bodyPr wrap="square" lIns="0" tIns="0" rIns="0" bIns="0" rtlCol="0" anchor="t"/>
          <a:lstStyle/>
          <a:p>
            <a:pPr algn="l" indent="0" marL="0">
              <a:lnSpc>
                <a:spcPts val="2160"/>
              </a:lnSpc>
              <a:buNone/>
            </a:pPr>
            <a:r>
              <a:rPr lang="en-US" sz="1800" dirty="0">
                <a:solidFill>
                  <a:srgbClr val="A3A3A3"/>
                </a:solidFill>
                <a:latin typeface="Arial" pitchFamily="34" charset="0"/>
                <a:ea typeface="Arial" pitchFamily="34" charset="-122"/>
                <a:cs typeface="Arial" pitchFamily="34" charset="-120"/>
              </a:rPr>
              <a:t>Use a clear brief to guide each iteration.</a:t>
            </a:r>
            <a:endParaRPr lang="en-US" sz="1800" dirty="0"/>
          </a:p>
        </p:txBody>
      </p:sp>
      <p:sp>
        <p:nvSpPr>
          <p:cNvPr id="6" name="slide-04-card-0"/>
          <p:cNvSpPr/>
          <p:nvPr/>
        </p:nvSpPr>
        <p:spPr>
          <a:xfrm>
            <a:off x="762000" y="2971800"/>
            <a:ext cx="4953000" cy="2838450"/>
          </a:xfrm>
          <a:prstGeom prst="roundRect">
            <a:avLst>
              <a:gd name="adj" fmla="val 671"/>
            </a:avLst>
          </a:prstGeom>
          <a:solidFill>
            <a:srgbClr val="F5F5F5"/>
          </a:solidFill>
          <a:ln w="12700">
            <a:solidFill>
              <a:srgbClr val="F5F5F5">
                <a:alpha val="0"/>
              </a:srgbClr>
            </a:solidFill>
            <a:prstDash val="solid"/>
          </a:ln>
        </p:spPr>
      </p:sp>
      <p:sp>
        <p:nvSpPr>
          <p:cNvPr id="7" name="slide-04-card-number-0"/>
          <p:cNvSpPr txBox="1"/>
          <p:nvPr/>
        </p:nvSpPr>
        <p:spPr>
          <a:xfrm>
            <a:off x="1066800" y="3257550"/>
            <a:ext cx="4305300" cy="228600"/>
          </a:xfrm>
          <a:prstGeom prst="rect">
            <a:avLst/>
          </a:prstGeom>
          <a:noFill/>
          <a:ln/>
        </p:spPr>
        <p:txBody>
          <a:bodyPr wrap="square" lIns="0" tIns="0" rIns="0" bIns="0" rtlCol="0" anchor="t"/>
          <a:lstStyle/>
          <a:p>
            <a:pPr algn="l" indent="0" marL="0">
              <a:lnSpc>
                <a:spcPts val="1260"/>
              </a:lnSpc>
              <a:buNone/>
            </a:pPr>
            <a:r>
              <a:rPr lang="en-US" sz="1050" b="1" spc="113" kern="0" dirty="0">
                <a:solidFill>
                  <a:srgbClr val="555555"/>
                </a:solidFill>
                <a:latin typeface="Arial" pitchFamily="34" charset="0"/>
                <a:ea typeface="Arial" pitchFamily="34" charset="-122"/>
                <a:cs typeface="Arial" pitchFamily="34" charset="-120"/>
              </a:rPr>
              <a:t>01  /  AUDIENCE</a:t>
            </a:r>
            <a:endParaRPr lang="en-US" sz="1050" dirty="0"/>
          </a:p>
        </p:txBody>
      </p:sp>
      <p:sp>
        <p:nvSpPr>
          <p:cNvPr id="8" name="slide-04-card-text-0"/>
          <p:cNvSpPr txBox="1"/>
          <p:nvPr/>
        </p:nvSpPr>
        <p:spPr>
          <a:xfrm>
            <a:off x="1066800" y="3714750"/>
            <a:ext cx="4305300" cy="1257300"/>
          </a:xfrm>
          <a:prstGeom prst="rect">
            <a:avLst/>
          </a:prstGeom>
          <a:noFill/>
          <a:ln/>
        </p:spPr>
        <p:txBody>
          <a:bodyPr wrap="square" lIns="0" tIns="0" rIns="0" bIns="0" rtlCol="0" anchor="t"/>
          <a:lstStyle/>
          <a:p>
            <a:pPr algn="l" indent="0" marL="0">
              <a:lnSpc>
                <a:spcPts val="3060"/>
              </a:lnSpc>
              <a:buNone/>
            </a:pPr>
            <a:r>
              <a:rPr lang="en-US" sz="2550" spc="-37" kern="0" dirty="0">
                <a:solidFill>
                  <a:srgbClr val="0A0A0A"/>
                </a:solidFill>
                <a:latin typeface="Arial" pitchFamily="34" charset="0"/>
                <a:ea typeface="Arial" pitchFamily="34" charset="-122"/>
                <a:cs typeface="Arial" pitchFamily="34" charset="-120"/>
              </a:rPr>
              <a:t>Potential clients</a:t>
            </a:r>
            <a:endParaRPr lang="en-US" sz="2550" dirty="0"/>
          </a:p>
          <a:p>
            <a:pPr algn="l" indent="0" marL="0">
              <a:lnSpc>
                <a:spcPts val="3060"/>
              </a:lnSpc>
              <a:buNone/>
            </a:pPr>
            <a:r>
              <a:rPr lang="en-US" sz="2550" spc="-37" kern="0" dirty="0">
                <a:solidFill>
                  <a:srgbClr val="0A0A0A"/>
                </a:solidFill>
                <a:latin typeface="Arial" pitchFamily="34" charset="0"/>
                <a:ea typeface="Arial" pitchFamily="34" charset="-122"/>
                <a:cs typeface="Arial" pitchFamily="34" charset="-120"/>
              </a:rPr>
              <a:t>evaluating a small</a:t>
            </a:r>
            <a:endParaRPr lang="en-US" sz="2550" dirty="0"/>
          </a:p>
          <a:p>
            <a:pPr algn="l" indent="0" marL="0">
              <a:lnSpc>
                <a:spcPts val="3060"/>
              </a:lnSpc>
              <a:buNone/>
            </a:pPr>
            <a:r>
              <a:rPr lang="en-US" sz="2550" spc="-37" kern="0" dirty="0">
                <a:solidFill>
                  <a:srgbClr val="0A0A0A"/>
                </a:solidFill>
                <a:latin typeface="Arial" pitchFamily="34" charset="0"/>
                <a:ea typeface="Arial" pitchFamily="34" charset="-122"/>
                <a:cs typeface="Arial" pitchFamily="34" charset="-120"/>
              </a:rPr>
              <a:t>creative studio.</a:t>
            </a:r>
            <a:endParaRPr lang="en-US" sz="2550" dirty="0"/>
          </a:p>
        </p:txBody>
      </p:sp>
      <p:sp>
        <p:nvSpPr>
          <p:cNvPr id="9" name="slide-04-example-label"/>
          <p:cNvSpPr txBox="1"/>
          <p:nvPr/>
        </p:nvSpPr>
        <p:spPr>
          <a:xfrm>
            <a:off x="1066800" y="5353050"/>
            <a:ext cx="4305300" cy="209550"/>
          </a:xfrm>
          <a:prstGeom prst="rect">
            <a:avLst/>
          </a:prstGeom>
          <a:noFill/>
          <a:ln/>
        </p:spPr>
        <p:txBody>
          <a:bodyPr wrap="square" lIns="0" tIns="0" rIns="0" bIns="0" rtlCol="0" anchor="t"/>
          <a:lstStyle/>
          <a:p>
            <a:pPr algn="l" indent="0" marL="0">
              <a:lnSpc>
                <a:spcPts val="1080"/>
              </a:lnSpc>
              <a:buNone/>
            </a:pPr>
            <a:r>
              <a:rPr lang="en-US" sz="900" spc="113" kern="0" dirty="0">
                <a:solidFill>
                  <a:srgbClr val="555555"/>
                </a:solidFill>
                <a:latin typeface="Arial" pitchFamily="34" charset="0"/>
                <a:ea typeface="Arial" pitchFamily="34" charset="-122"/>
                <a:cs typeface="Arial" pitchFamily="34" charset="-120"/>
              </a:rPr>
              <a:t>FICTIONAL TEACHING EXAMPLE</a:t>
            </a:r>
            <a:endParaRPr lang="en-US" sz="900" dirty="0"/>
          </a:p>
        </p:txBody>
      </p:sp>
      <p:sp>
        <p:nvSpPr>
          <p:cNvPr id="10" name="slide-04-card-1"/>
          <p:cNvSpPr/>
          <p:nvPr/>
        </p:nvSpPr>
        <p:spPr>
          <a:xfrm>
            <a:off x="6096000" y="2971800"/>
            <a:ext cx="5334000" cy="781050"/>
          </a:xfrm>
          <a:prstGeom prst="roundRect">
            <a:avLst>
              <a:gd name="adj" fmla="val 2439"/>
            </a:avLst>
          </a:prstGeom>
          <a:solidFill>
            <a:srgbClr val="0A0A0A"/>
          </a:solidFill>
          <a:ln w="9525">
            <a:solidFill>
              <a:srgbClr val="444444"/>
            </a:solidFill>
            <a:prstDash val="solid"/>
          </a:ln>
        </p:spPr>
      </p:sp>
      <p:sp>
        <p:nvSpPr>
          <p:cNvPr id="11" name="slide-04-card-number-1"/>
          <p:cNvSpPr txBox="1"/>
          <p:nvPr/>
        </p:nvSpPr>
        <p:spPr>
          <a:xfrm>
            <a:off x="6324600" y="3105150"/>
            <a:ext cx="4876800" cy="190500"/>
          </a:xfrm>
          <a:prstGeom prst="rect">
            <a:avLst/>
          </a:prstGeom>
          <a:noFill/>
          <a:ln/>
        </p:spPr>
        <p:txBody>
          <a:bodyPr wrap="square" lIns="0" tIns="0" rIns="0" bIns="0" rtlCol="0" anchor="t"/>
          <a:lstStyle/>
          <a:p>
            <a:pPr algn="l" indent="0" marL="0">
              <a:lnSpc>
                <a:spcPts val="1170"/>
              </a:lnSpc>
              <a:buNone/>
            </a:pPr>
            <a:r>
              <a:rPr lang="en-US" sz="975" spc="113" kern="0" dirty="0">
                <a:solidFill>
                  <a:srgbClr val="A3A3A3"/>
                </a:solidFill>
                <a:latin typeface="Arial" pitchFamily="34" charset="0"/>
                <a:ea typeface="Arial" pitchFamily="34" charset="-122"/>
                <a:cs typeface="Arial" pitchFamily="34" charset="-120"/>
              </a:rPr>
              <a:t>02  /  PRIMARY ACTION</a:t>
            </a:r>
            <a:endParaRPr lang="en-US" sz="975" dirty="0"/>
          </a:p>
        </p:txBody>
      </p:sp>
      <p:sp>
        <p:nvSpPr>
          <p:cNvPr id="12" name="slide-04-card-text-1"/>
          <p:cNvSpPr txBox="1"/>
          <p:nvPr/>
        </p:nvSpPr>
        <p:spPr>
          <a:xfrm>
            <a:off x="6324600" y="3352800"/>
            <a:ext cx="4876800" cy="285750"/>
          </a:xfrm>
          <a:prstGeom prst="rect">
            <a:avLst/>
          </a:prstGeom>
          <a:noFill/>
          <a:ln/>
        </p:spPr>
        <p:txBody>
          <a:bodyPr wrap="square" lIns="0" tIns="0" rIns="0" bIns="0" rtlCol="0" anchor="t"/>
          <a:lstStyle/>
          <a:p>
            <a:pPr algn="l" indent="0" marL="0">
              <a:lnSpc>
                <a:spcPts val="2160"/>
              </a:lnSpc>
              <a:buNone/>
            </a:pPr>
            <a:r>
              <a:rPr lang="en-US" sz="1800" dirty="0">
                <a:solidFill>
                  <a:srgbClr val="FFFFFF"/>
                </a:solidFill>
                <a:latin typeface="Arial" pitchFamily="34" charset="0"/>
                <a:ea typeface="Arial" pitchFamily="34" charset="-122"/>
                <a:cs typeface="Arial" pitchFamily="34" charset="-120"/>
              </a:rPr>
              <a:t>Send a project inquiry.</a:t>
            </a:r>
            <a:endParaRPr lang="en-US" sz="1800" dirty="0"/>
          </a:p>
        </p:txBody>
      </p:sp>
      <p:sp>
        <p:nvSpPr>
          <p:cNvPr id="13" name="slide-04-card-2"/>
          <p:cNvSpPr/>
          <p:nvPr/>
        </p:nvSpPr>
        <p:spPr>
          <a:xfrm>
            <a:off x="6096000" y="3905250"/>
            <a:ext cx="5334000" cy="857250"/>
          </a:xfrm>
          <a:prstGeom prst="roundRect">
            <a:avLst>
              <a:gd name="adj" fmla="val 2222"/>
            </a:avLst>
          </a:prstGeom>
          <a:solidFill>
            <a:srgbClr val="0A0A0A"/>
          </a:solidFill>
          <a:ln w="9525">
            <a:solidFill>
              <a:srgbClr val="444444"/>
            </a:solidFill>
            <a:prstDash val="solid"/>
          </a:ln>
        </p:spPr>
      </p:sp>
      <p:sp>
        <p:nvSpPr>
          <p:cNvPr id="14" name="slide-04-card-number-2"/>
          <p:cNvSpPr txBox="1"/>
          <p:nvPr/>
        </p:nvSpPr>
        <p:spPr>
          <a:xfrm>
            <a:off x="6324600" y="4038600"/>
            <a:ext cx="4876800" cy="190500"/>
          </a:xfrm>
          <a:prstGeom prst="rect">
            <a:avLst/>
          </a:prstGeom>
          <a:noFill/>
          <a:ln/>
        </p:spPr>
        <p:txBody>
          <a:bodyPr wrap="square" lIns="0" tIns="0" rIns="0" bIns="0" rtlCol="0" anchor="t"/>
          <a:lstStyle/>
          <a:p>
            <a:pPr algn="l" indent="0" marL="0">
              <a:lnSpc>
                <a:spcPts val="1170"/>
              </a:lnSpc>
              <a:buNone/>
            </a:pPr>
            <a:r>
              <a:rPr lang="en-US" sz="975" spc="113" kern="0" dirty="0">
                <a:solidFill>
                  <a:srgbClr val="A3A3A3"/>
                </a:solidFill>
                <a:latin typeface="Arial" pitchFamily="34" charset="0"/>
                <a:ea typeface="Arial" pitchFamily="34" charset="-122"/>
                <a:cs typeface="Arial" pitchFamily="34" charset="-120"/>
              </a:rPr>
              <a:t>03  /  CONTENT</a:t>
            </a:r>
            <a:endParaRPr lang="en-US" sz="975" dirty="0"/>
          </a:p>
        </p:txBody>
      </p:sp>
      <p:sp>
        <p:nvSpPr>
          <p:cNvPr id="15" name="slide-04-card-text-2"/>
          <p:cNvSpPr txBox="1"/>
          <p:nvPr/>
        </p:nvSpPr>
        <p:spPr>
          <a:xfrm>
            <a:off x="6324600" y="4295775"/>
            <a:ext cx="4876800" cy="285750"/>
          </a:xfrm>
          <a:prstGeom prst="rect">
            <a:avLst/>
          </a:prstGeom>
          <a:noFill/>
          <a:ln/>
        </p:spPr>
        <p:txBody>
          <a:bodyPr wrap="square" lIns="0" tIns="0" rIns="0" bIns="0" rtlCol="0" anchor="t"/>
          <a:lstStyle/>
          <a:p>
            <a:pPr algn="l" indent="0" marL="0">
              <a:lnSpc>
                <a:spcPts val="1980"/>
              </a:lnSpc>
              <a:buNone/>
            </a:pPr>
            <a:r>
              <a:rPr lang="en-US" sz="1650" dirty="0">
                <a:solidFill>
                  <a:srgbClr val="FFFFFF"/>
                </a:solidFill>
                <a:latin typeface="Arial" pitchFamily="34" charset="0"/>
                <a:ea typeface="Arial" pitchFamily="34" charset="-122"/>
                <a:cs typeface="Arial" pitchFamily="34" charset="-120"/>
              </a:rPr>
              <a:t>Selected work, services, process, and contact.</a:t>
            </a:r>
            <a:endParaRPr lang="en-US" sz="1650" dirty="0"/>
          </a:p>
        </p:txBody>
      </p:sp>
      <p:sp>
        <p:nvSpPr>
          <p:cNvPr id="16" name="slide-04-card-3"/>
          <p:cNvSpPr/>
          <p:nvPr/>
        </p:nvSpPr>
        <p:spPr>
          <a:xfrm>
            <a:off x="6096000" y="4914900"/>
            <a:ext cx="5334000" cy="895350"/>
          </a:xfrm>
          <a:prstGeom prst="roundRect">
            <a:avLst>
              <a:gd name="adj" fmla="val 2128"/>
            </a:avLst>
          </a:prstGeom>
          <a:solidFill>
            <a:srgbClr val="0A0A0A"/>
          </a:solidFill>
          <a:ln w="9525">
            <a:solidFill>
              <a:srgbClr val="444444"/>
            </a:solidFill>
            <a:prstDash val="solid"/>
          </a:ln>
        </p:spPr>
      </p:sp>
      <p:sp>
        <p:nvSpPr>
          <p:cNvPr id="17" name="slide-04-card-number-3"/>
          <p:cNvSpPr txBox="1"/>
          <p:nvPr/>
        </p:nvSpPr>
        <p:spPr>
          <a:xfrm>
            <a:off x="6324600" y="5048250"/>
            <a:ext cx="4876800" cy="190500"/>
          </a:xfrm>
          <a:prstGeom prst="rect">
            <a:avLst/>
          </a:prstGeom>
          <a:noFill/>
          <a:ln/>
        </p:spPr>
        <p:txBody>
          <a:bodyPr wrap="square" lIns="0" tIns="0" rIns="0" bIns="0" rtlCol="0" anchor="t"/>
          <a:lstStyle/>
          <a:p>
            <a:pPr algn="l" indent="0" marL="0">
              <a:lnSpc>
                <a:spcPts val="1170"/>
              </a:lnSpc>
              <a:buNone/>
            </a:pPr>
            <a:r>
              <a:rPr lang="en-US" sz="975" spc="113" kern="0" dirty="0">
                <a:solidFill>
                  <a:srgbClr val="A3A3A3"/>
                </a:solidFill>
                <a:latin typeface="Arial" pitchFamily="34" charset="0"/>
                <a:ea typeface="Arial" pitchFamily="34" charset="-122"/>
                <a:cs typeface="Arial" pitchFamily="34" charset="-120"/>
              </a:rPr>
              <a:t>04  /  CONSTRAINTS</a:t>
            </a:r>
            <a:endParaRPr lang="en-US" sz="975" dirty="0"/>
          </a:p>
        </p:txBody>
      </p:sp>
      <p:sp>
        <p:nvSpPr>
          <p:cNvPr id="18" name="slide-04-card-text-3"/>
          <p:cNvSpPr txBox="1"/>
          <p:nvPr/>
        </p:nvSpPr>
        <p:spPr>
          <a:xfrm>
            <a:off x="6324600" y="5286375"/>
            <a:ext cx="4876800" cy="476250"/>
          </a:xfrm>
          <a:prstGeom prst="rect">
            <a:avLst/>
          </a:prstGeom>
          <a:noFill/>
          <a:ln/>
        </p:spPr>
        <p:txBody>
          <a:bodyPr wrap="square" lIns="0" tIns="0" rIns="0" bIns="0" rtlCol="0" anchor="t"/>
          <a:lstStyle/>
          <a:p>
            <a:pPr algn="l" indent="0" marL="0">
              <a:lnSpc>
                <a:spcPts val="1811"/>
              </a:lnSpc>
              <a:buNone/>
            </a:pPr>
            <a:r>
              <a:rPr lang="en-US" sz="1575" dirty="0">
                <a:solidFill>
                  <a:srgbClr val="FFFFFF"/>
                </a:solidFill>
                <a:latin typeface="Arial" pitchFamily="34" charset="0"/>
                <a:ea typeface="Arial" pitchFamily="34" charset="-122"/>
                <a:cs typeface="Arial" pitchFamily="34" charset="-120"/>
              </a:rPr>
              <a:t>Monochrome, mobile readability, subtle motion,</a:t>
            </a:r>
            <a:endParaRPr lang="en-US" sz="1575" dirty="0"/>
          </a:p>
          <a:p>
            <a:pPr algn="l" indent="0" marL="0">
              <a:lnSpc>
                <a:spcPts val="1811"/>
              </a:lnSpc>
              <a:buNone/>
            </a:pPr>
            <a:r>
              <a:rPr lang="en-US" sz="1575" dirty="0">
                <a:solidFill>
                  <a:srgbClr val="FFFFFF"/>
                </a:solidFill>
                <a:latin typeface="Arial" pitchFamily="34" charset="0"/>
                <a:ea typeface="Arial" pitchFamily="34" charset="-122"/>
                <a:cs typeface="Arial" pitchFamily="34" charset="-120"/>
              </a:rPr>
              <a:t>and no invented testimonials.</a:t>
            </a:r>
            <a:endParaRPr lang="en-US" sz="1575" dirty="0"/>
          </a:p>
        </p:txBody>
      </p:sp>
      <p:sp>
        <p:nvSpPr>
          <p:cNvPr id="19" name="slide-04-footer-rule"/>
          <p:cNvSpPr/>
          <p:nvPr/>
        </p:nvSpPr>
        <p:spPr>
          <a:xfrm>
            <a:off x="762000" y="6267450"/>
            <a:ext cx="10668000" cy="9525"/>
          </a:xfrm>
          <a:prstGeom prst="rect">
            <a:avLst/>
          </a:prstGeom>
          <a:solidFill>
            <a:srgbClr val="333333"/>
          </a:solidFill>
          <a:ln w="12700">
            <a:solidFill>
              <a:srgbClr val="333333">
                <a:alpha val="0"/>
              </a:srgbClr>
            </a:solidFill>
            <a:prstDash val="solid"/>
          </a:ln>
        </p:spPr>
      </p:sp>
      <p:sp>
        <p:nvSpPr>
          <p:cNvPr id="20" name="slide-04-footer"/>
          <p:cNvSpPr txBox="1"/>
          <p:nvPr/>
        </p:nvSpPr>
        <p:spPr>
          <a:xfrm>
            <a:off x="762000" y="6448425"/>
            <a:ext cx="9525000" cy="190500"/>
          </a:xfrm>
          <a:prstGeom prst="rect">
            <a:avLst/>
          </a:prstGeom>
          <a:noFill/>
          <a:ln/>
        </p:spPr>
        <p:txBody>
          <a:bodyPr wrap="square" lIns="0" tIns="0" rIns="0" bIns="0" rtlCol="0" anchor="t"/>
          <a:lstStyle/>
          <a:p>
            <a:pPr algn="l" indent="0" marL="0">
              <a:lnSpc>
                <a:spcPts val="1080"/>
              </a:lnSpc>
              <a:buNone/>
            </a:pPr>
            <a:r>
              <a:rPr lang="en-US" sz="900" spc="113" kern="0" dirty="0">
                <a:solidFill>
                  <a:srgbClr val="A3A3A3"/>
                </a:solidFill>
                <a:latin typeface="Arial" pitchFamily="34" charset="0"/>
                <a:ea typeface="Arial" pitchFamily="34" charset="-122"/>
                <a:cs typeface="Arial" pitchFamily="34" charset="-120"/>
              </a:rPr>
              <a:t>ONE BRIEF. EVERY ITERATION.</a:t>
            </a:r>
            <a:endParaRPr lang="en-US" sz="900" dirty="0"/>
          </a:p>
        </p:txBody>
      </p:sp>
      <p:sp>
        <p:nvSpPr>
          <p:cNvPr id="21" name="slide-04-page"/>
          <p:cNvSpPr txBox="1"/>
          <p:nvPr/>
        </p:nvSpPr>
        <p:spPr>
          <a:xfrm>
            <a:off x="10477500" y="6448425"/>
            <a:ext cx="952500" cy="190500"/>
          </a:xfrm>
          <a:prstGeom prst="rect">
            <a:avLst/>
          </a:prstGeom>
          <a:noFill/>
          <a:ln/>
        </p:spPr>
        <p:txBody>
          <a:bodyPr wrap="square" lIns="0" tIns="0" rIns="0" bIns="0" rtlCol="0" anchor="t"/>
          <a:lstStyle/>
          <a:p>
            <a:pPr algn="r" indent="0" marL="0">
              <a:lnSpc>
                <a:spcPts val="1080"/>
              </a:lnSpc>
              <a:buNone/>
            </a:pPr>
            <a:r>
              <a:rPr lang="en-US" sz="900" spc="75" kern="0" dirty="0">
                <a:solidFill>
                  <a:srgbClr val="A3A3A3"/>
                </a:solidFill>
                <a:latin typeface="Arial" pitchFamily="34" charset="0"/>
                <a:ea typeface="Arial" pitchFamily="34" charset="-122"/>
                <a:cs typeface="Arial" pitchFamily="34" charset="-120"/>
              </a:rPr>
              <a:t>04 / 20</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A0A0A"/>
        </a:solidFill>
      </p:bgPr>
    </p:bg>
    <p:spTree>
      <p:nvGrpSpPr>
        <p:cNvPr id="1" name=""/>
        <p:cNvGrpSpPr/>
        <p:nvPr/>
      </p:nvGrpSpPr>
      <p:grpSpPr>
        <a:xfrm>
          <a:off x="0" y="0"/>
          <a:ext cx="0" cy="0"/>
          <a:chOff x="0" y="0"/>
          <a:chExt cx="0" cy="0"/>
        </a:xfrm>
      </p:grpSpPr>
      <p:sp>
        <p:nvSpPr>
          <p:cNvPr id="3" name="slide-05-eyebrow"/>
          <p:cNvSpPr txBox="1"/>
          <p:nvPr/>
        </p:nvSpPr>
        <p:spPr>
          <a:xfrm>
            <a:off x="609600" y="323850"/>
            <a:ext cx="8763000" cy="228600"/>
          </a:xfrm>
          <a:prstGeom prst="rect">
            <a:avLst/>
          </a:prstGeom>
          <a:noFill/>
          <a:ln/>
        </p:spPr>
        <p:txBody>
          <a:bodyPr wrap="square" lIns="0" tIns="0" rIns="0" bIns="0" rtlCol="0" anchor="t"/>
          <a:lstStyle/>
          <a:p>
            <a:pPr algn="l" indent="0" marL="0">
              <a:lnSpc>
                <a:spcPts val="1170"/>
              </a:lnSpc>
              <a:buNone/>
            </a:pPr>
            <a:r>
              <a:rPr lang="en-US" sz="975" spc="150" kern="0" dirty="0">
                <a:solidFill>
                  <a:srgbClr val="A3A3A3"/>
                </a:solidFill>
                <a:latin typeface="Arial" pitchFamily="34" charset="0"/>
                <a:ea typeface="Arial" pitchFamily="34" charset="-122"/>
                <a:cs typeface="Arial" pitchFamily="34" charset="-120"/>
              </a:rPr>
              <a:t>CLAUDE CODE  /  DESIGN DIRECTION</a:t>
            </a:r>
            <a:endParaRPr lang="en-US" sz="975" dirty="0"/>
          </a:p>
        </p:txBody>
      </p:sp>
      <p:sp>
        <p:nvSpPr>
          <p:cNvPr id="4" name="slide-05-index"/>
          <p:cNvSpPr txBox="1"/>
          <p:nvPr/>
        </p:nvSpPr>
        <p:spPr>
          <a:xfrm>
            <a:off x="10439400" y="323850"/>
            <a:ext cx="1143000" cy="228600"/>
          </a:xfrm>
          <a:prstGeom prst="rect">
            <a:avLst/>
          </a:prstGeom>
          <a:noFill/>
          <a:ln/>
        </p:spPr>
        <p:txBody>
          <a:bodyPr wrap="square" lIns="0" tIns="0" rIns="0" bIns="0" rtlCol="0" anchor="t"/>
          <a:lstStyle/>
          <a:p>
            <a:pPr algn="r" indent="0" marL="0">
              <a:lnSpc>
                <a:spcPts val="1170"/>
              </a:lnSpc>
              <a:buNone/>
            </a:pPr>
            <a:r>
              <a:rPr lang="en-US" sz="975" spc="75" kern="0" dirty="0">
                <a:solidFill>
                  <a:srgbClr val="A3A3A3"/>
                </a:solidFill>
                <a:latin typeface="Arial" pitchFamily="34" charset="0"/>
                <a:ea typeface="Arial" pitchFamily="34" charset="-122"/>
                <a:cs typeface="Arial" pitchFamily="34" charset="-120"/>
              </a:rPr>
              <a:t>05 / 20</a:t>
            </a:r>
            <a:endParaRPr lang="en-US" sz="975" dirty="0"/>
          </a:p>
        </p:txBody>
      </p:sp>
      <p:sp>
        <p:nvSpPr>
          <p:cNvPr id="5" name="slide-05-title"/>
          <p:cNvSpPr txBox="1"/>
          <p:nvPr/>
        </p:nvSpPr>
        <p:spPr>
          <a:xfrm>
            <a:off x="609600" y="790575"/>
            <a:ext cx="10972800" cy="1104900"/>
          </a:xfrm>
          <a:prstGeom prst="rect">
            <a:avLst/>
          </a:prstGeom>
          <a:noFill/>
          <a:ln/>
        </p:spPr>
        <p:txBody>
          <a:bodyPr wrap="square" lIns="0" tIns="0" rIns="0" bIns="0" rtlCol="0" anchor="t"/>
          <a:lstStyle/>
          <a:p>
            <a:pPr algn="l" indent="0" marL="0">
              <a:lnSpc>
                <a:spcPts val="3888"/>
              </a:lnSpc>
              <a:buNone/>
            </a:pPr>
            <a:r>
              <a:rPr lang="en-US" sz="3600" spc="-90" kern="0" dirty="0">
                <a:solidFill>
                  <a:srgbClr val="FFFFFF"/>
                </a:solidFill>
                <a:latin typeface="Arial" pitchFamily="34" charset="0"/>
                <a:ea typeface="Arial" pitchFamily="34" charset="-122"/>
                <a:cs typeface="Arial" pitchFamily="34" charset="-120"/>
              </a:rPr>
              <a:t>Adapt design principles—</a:t>
            </a:r>
            <a:endParaRPr lang="en-US" sz="3600" dirty="0"/>
          </a:p>
          <a:p>
            <a:pPr algn="l" indent="0" marL="0">
              <a:lnSpc>
                <a:spcPts val="3888"/>
              </a:lnSpc>
              <a:buNone/>
            </a:pPr>
            <a:r>
              <a:rPr lang="en-US" sz="3600" spc="-90" kern="0" dirty="0">
                <a:solidFill>
                  <a:srgbClr val="FFFFFF"/>
                </a:solidFill>
                <a:latin typeface="Arial" pitchFamily="34" charset="0"/>
                <a:ea typeface="Arial" pitchFamily="34" charset="-122"/>
                <a:cs typeface="Arial" pitchFamily="34" charset="-120"/>
              </a:rPr>
              <a:t>not someone else’s website.</a:t>
            </a:r>
            <a:endParaRPr lang="en-US" sz="3600" dirty="0"/>
          </a:p>
        </p:txBody>
      </p:sp>
      <p:pic>
        <p:nvPicPr>
          <p:cNvPr id="6" name="slide-05-image" descr="Original monochrome illustration of floating composition planes, blank geometric masses, contour lines and a sparse alignment grid above a dark drafting surface.">    </p:cNvPr>
          <p:cNvPicPr>
            <a:picLocks noChangeAspect="1"/>
          </p:cNvPicPr>
          <p:nvPr/>
        </p:nvPicPr>
        <p:blipFill>
          <a:blip r:embed="rId1"/>
          <a:stretch>
            <a:fillRect/>
          </a:stretch>
        </p:blipFill>
        <p:spPr>
          <a:xfrm>
            <a:off x="381000" y="2133600"/>
            <a:ext cx="6934200" cy="3870293"/>
          </a:xfrm>
          <a:prstGeom prst="rect">
            <a:avLst/>
          </a:prstGeom>
        </p:spPr>
      </p:pic>
      <p:sp>
        <p:nvSpPr>
          <p:cNvPr id="7" name="slide-05-column-rule"/>
          <p:cNvSpPr/>
          <p:nvPr/>
        </p:nvSpPr>
        <p:spPr>
          <a:xfrm>
            <a:off x="7467600" y="2266950"/>
            <a:ext cx="9525" cy="3486150"/>
          </a:xfrm>
          <a:prstGeom prst="rect">
            <a:avLst/>
          </a:prstGeom>
          <a:solidFill>
            <a:srgbClr val="333333"/>
          </a:solidFill>
          <a:ln w="12700">
            <a:solidFill>
              <a:srgbClr val="333333">
                <a:alpha val="0"/>
              </a:srgbClr>
            </a:solidFill>
            <a:prstDash val="solid"/>
          </a:ln>
        </p:spPr>
      </p:sp>
      <p:sp>
        <p:nvSpPr>
          <p:cNvPr id="8" name="slide-05-observe-label"/>
          <p:cNvSpPr txBox="1"/>
          <p:nvPr/>
        </p:nvSpPr>
        <p:spPr>
          <a:xfrm>
            <a:off x="7772400" y="2266950"/>
            <a:ext cx="3810000" cy="266700"/>
          </a:xfrm>
          <a:prstGeom prst="rect">
            <a:avLst/>
          </a:prstGeom>
          <a:noFill/>
          <a:ln/>
        </p:spPr>
        <p:txBody>
          <a:bodyPr wrap="square" lIns="0" tIns="0" rIns="0" bIns="0" rtlCol="0" anchor="t"/>
          <a:lstStyle/>
          <a:p>
            <a:pPr algn="l" indent="0" marL="0">
              <a:lnSpc>
                <a:spcPts val="1897"/>
              </a:lnSpc>
              <a:buNone/>
            </a:pPr>
            <a:r>
              <a:rPr lang="en-US" sz="1650" b="1" dirty="0">
                <a:solidFill>
                  <a:srgbClr val="FFFFFF"/>
                </a:solidFill>
                <a:latin typeface="Arial" pitchFamily="34" charset="0"/>
                <a:ea typeface="Arial" pitchFamily="34" charset="-122"/>
                <a:cs typeface="Arial" pitchFamily="34" charset="-120"/>
              </a:rPr>
              <a:t>01  Observe the system</a:t>
            </a:r>
            <a:endParaRPr lang="en-US" sz="1650" dirty="0"/>
          </a:p>
        </p:txBody>
      </p:sp>
      <p:sp>
        <p:nvSpPr>
          <p:cNvPr id="9" name="slide-05-body"/>
          <p:cNvSpPr txBox="1"/>
          <p:nvPr/>
        </p:nvSpPr>
        <p:spPr>
          <a:xfrm>
            <a:off x="7772400" y="2609850"/>
            <a:ext cx="3810000" cy="552450"/>
          </a:xfrm>
          <a:prstGeom prst="rect">
            <a:avLst/>
          </a:prstGeom>
          <a:noFill/>
          <a:ln/>
        </p:spPr>
        <p:txBody>
          <a:bodyPr wrap="square" lIns="0" tIns="0" rIns="0" bIns="0" rtlCol="0" anchor="t"/>
          <a:lstStyle/>
          <a:p>
            <a:pPr algn="l" indent="0" marL="0">
              <a:lnSpc>
                <a:spcPts val="1950"/>
              </a:lnSpc>
              <a:buNone/>
            </a:pPr>
            <a:r>
              <a:rPr lang="en-US" sz="1500" dirty="0">
                <a:solidFill>
                  <a:srgbClr val="A3A3A3"/>
                </a:solidFill>
                <a:latin typeface="Arial" pitchFamily="34" charset="0"/>
                <a:ea typeface="Arial" pitchFamily="34" charset="-122"/>
                <a:cs typeface="Arial" pitchFamily="34" charset="-120"/>
              </a:rPr>
              <a:t>Hierarchy, negative space, alignment,</a:t>
            </a:r>
            <a:endParaRPr lang="en-US" sz="1500" dirty="0"/>
          </a:p>
          <a:p>
            <a:pPr algn="l" indent="0" marL="0">
              <a:lnSpc>
                <a:spcPts val="1950"/>
              </a:lnSpc>
              <a:buNone/>
            </a:pPr>
            <a:r>
              <a:rPr lang="en-US" sz="1500" dirty="0">
                <a:solidFill>
                  <a:srgbClr val="A3A3A3"/>
                </a:solidFill>
                <a:latin typeface="Arial" pitchFamily="34" charset="0"/>
                <a:ea typeface="Arial" pitchFamily="34" charset="-122"/>
                <a:cs typeface="Arial" pitchFamily="34" charset="-120"/>
              </a:rPr>
              <a:t>texture, and rhythm.</a:t>
            </a:r>
            <a:endParaRPr lang="en-US" sz="1500" dirty="0"/>
          </a:p>
        </p:txBody>
      </p:sp>
      <p:sp>
        <p:nvSpPr>
          <p:cNvPr id="10" name="slide-05-translate-label"/>
          <p:cNvSpPr txBox="1"/>
          <p:nvPr/>
        </p:nvSpPr>
        <p:spPr>
          <a:xfrm>
            <a:off x="7772400" y="3371850"/>
            <a:ext cx="3810000" cy="266700"/>
          </a:xfrm>
          <a:prstGeom prst="rect">
            <a:avLst/>
          </a:prstGeom>
          <a:noFill/>
          <a:ln/>
        </p:spPr>
        <p:txBody>
          <a:bodyPr wrap="square" lIns="0" tIns="0" rIns="0" bIns="0" rtlCol="0" anchor="t"/>
          <a:lstStyle/>
          <a:p>
            <a:pPr algn="l" indent="0" marL="0">
              <a:lnSpc>
                <a:spcPts val="1897"/>
              </a:lnSpc>
              <a:buNone/>
            </a:pPr>
            <a:r>
              <a:rPr lang="en-US" sz="1650" b="1" dirty="0">
                <a:solidFill>
                  <a:srgbClr val="FFFFFF"/>
                </a:solidFill>
                <a:latin typeface="Arial" pitchFamily="34" charset="0"/>
                <a:ea typeface="Arial" pitchFamily="34" charset="-122"/>
                <a:cs typeface="Arial" pitchFamily="34" charset="-120"/>
              </a:rPr>
              <a:t>02  Define your direction</a:t>
            </a:r>
            <a:endParaRPr lang="en-US" sz="1650" dirty="0"/>
          </a:p>
        </p:txBody>
      </p:sp>
      <p:sp>
        <p:nvSpPr>
          <p:cNvPr id="11" name="slide-05-direction"/>
          <p:cNvSpPr txBox="1"/>
          <p:nvPr/>
        </p:nvSpPr>
        <p:spPr>
          <a:xfrm>
            <a:off x="7772400" y="3714750"/>
            <a:ext cx="3810000" cy="781050"/>
          </a:xfrm>
          <a:prstGeom prst="rect">
            <a:avLst/>
          </a:prstGeom>
          <a:noFill/>
          <a:ln/>
        </p:spPr>
        <p:txBody>
          <a:bodyPr wrap="square" lIns="0" tIns="0" rIns="0" bIns="0" rtlCol="0" anchor="t"/>
          <a:lstStyle/>
          <a:p>
            <a:pPr algn="l" indent="0" marL="0">
              <a:lnSpc>
                <a:spcPts val="1950"/>
              </a:lnSpc>
              <a:buNone/>
            </a:pPr>
            <a:r>
              <a:rPr lang="en-US" sz="1500" dirty="0">
                <a:solidFill>
                  <a:srgbClr val="A3A3A3"/>
                </a:solidFill>
                <a:latin typeface="Arial" pitchFamily="34" charset="0"/>
                <a:ea typeface="Arial" pitchFamily="34" charset="-122"/>
                <a:cs typeface="Arial" pitchFamily="34" charset="-120"/>
              </a:rPr>
              <a:t>Dark fields, fine white lines,</a:t>
            </a:r>
            <a:endParaRPr lang="en-US" sz="1500" dirty="0"/>
          </a:p>
          <a:p>
            <a:pPr algn="l" indent="0" marL="0">
              <a:lnSpc>
                <a:spcPts val="1950"/>
              </a:lnSpc>
              <a:buNone/>
            </a:pPr>
            <a:r>
              <a:rPr lang="en-US" sz="1500" dirty="0">
                <a:solidFill>
                  <a:srgbClr val="A3A3A3"/>
                </a:solidFill>
                <a:latin typeface="Arial" pitchFamily="34" charset="0"/>
                <a:ea typeface="Arial" pitchFamily="34" charset="-122"/>
                <a:cs typeface="Arial" pitchFamily="34" charset="-120"/>
              </a:rPr>
              <a:t>restrained grain, clear typography.</a:t>
            </a:r>
            <a:endParaRPr lang="en-US" sz="1500" dirty="0"/>
          </a:p>
          <a:p>
            <a:pPr algn="l" indent="0" marL="0">
              <a:lnSpc>
                <a:spcPts val="1950"/>
              </a:lnSpc>
              <a:buNone/>
            </a:pPr>
            <a:r>
              <a:rPr lang="en-US" sz="1500" dirty="0">
                <a:solidFill>
                  <a:srgbClr val="A3A3A3"/>
                </a:solidFill>
                <a:latin typeface="Arial" pitchFamily="34" charset="0"/>
                <a:ea typeface="Arial" pitchFamily="34" charset="-122"/>
                <a:cs typeface="Arial" pitchFamily="34" charset="-120"/>
              </a:rPr>
              <a:t>Turn observations into a design brief.</a:t>
            </a:r>
            <a:endParaRPr lang="en-US" sz="1500" dirty="0"/>
          </a:p>
        </p:txBody>
      </p:sp>
      <p:sp>
        <p:nvSpPr>
          <p:cNvPr id="12" name="slide-05-original-step"/>
          <p:cNvSpPr txBox="1"/>
          <p:nvPr/>
        </p:nvSpPr>
        <p:spPr>
          <a:xfrm>
            <a:off x="7772400" y="4705350"/>
            <a:ext cx="285750" cy="266700"/>
          </a:xfrm>
          <a:prstGeom prst="rect">
            <a:avLst/>
          </a:prstGeom>
          <a:noFill/>
          <a:ln/>
        </p:spPr>
        <p:txBody>
          <a:bodyPr wrap="square" lIns="0" tIns="0" rIns="0" bIns="0" rtlCol="0" anchor="t"/>
          <a:lstStyle/>
          <a:p>
            <a:pPr algn="l" indent="0" marL="0">
              <a:lnSpc>
                <a:spcPts val="1897"/>
              </a:lnSpc>
              <a:buNone/>
            </a:pPr>
            <a:r>
              <a:rPr lang="en-US" sz="1650" b="1" dirty="0">
                <a:solidFill>
                  <a:srgbClr val="FFFFFF"/>
                </a:solidFill>
                <a:latin typeface="Arial" pitchFamily="34" charset="0"/>
                <a:ea typeface="Arial" pitchFamily="34" charset="-122"/>
                <a:cs typeface="Arial" pitchFamily="34" charset="-120"/>
              </a:rPr>
              <a:t>03</a:t>
            </a:r>
            <a:endParaRPr lang="en-US" sz="1650" dirty="0"/>
          </a:p>
        </p:txBody>
      </p:sp>
      <p:sp>
        <p:nvSpPr>
          <p:cNvPr id="13" name="slide-05-original-label"/>
          <p:cNvSpPr txBox="1"/>
          <p:nvPr/>
        </p:nvSpPr>
        <p:spPr>
          <a:xfrm>
            <a:off x="8121968" y="4705350"/>
            <a:ext cx="3460433" cy="266700"/>
          </a:xfrm>
          <a:prstGeom prst="rect">
            <a:avLst/>
          </a:prstGeom>
          <a:noFill/>
          <a:ln/>
        </p:spPr>
        <p:txBody>
          <a:bodyPr wrap="square" lIns="0" tIns="0" rIns="0" bIns="0" rtlCol="0" anchor="t"/>
          <a:lstStyle/>
          <a:p>
            <a:pPr algn="l" indent="0" marL="0">
              <a:lnSpc>
                <a:spcPts val="1897"/>
              </a:lnSpc>
              <a:buNone/>
            </a:pPr>
            <a:r>
              <a:rPr lang="en-US" sz="1650" b="1" dirty="0">
                <a:solidFill>
                  <a:srgbClr val="FFFFFF"/>
                </a:solidFill>
                <a:latin typeface="Arial" pitchFamily="34" charset="0"/>
                <a:ea typeface="Arial" pitchFamily="34" charset="-122"/>
                <a:cs typeface="Arial" pitchFamily="34" charset="-120"/>
              </a:rPr>
              <a:t>Make it your own</a:t>
            </a:r>
            <a:endParaRPr lang="en-US" sz="1650" dirty="0"/>
          </a:p>
        </p:txBody>
      </p:sp>
      <p:sp>
        <p:nvSpPr>
          <p:cNvPr id="14" name="slide-05-original-body"/>
          <p:cNvSpPr txBox="1"/>
          <p:nvPr/>
        </p:nvSpPr>
        <p:spPr>
          <a:xfrm>
            <a:off x="7772400" y="5048250"/>
            <a:ext cx="3810000" cy="781050"/>
          </a:xfrm>
          <a:prstGeom prst="rect">
            <a:avLst/>
          </a:prstGeom>
          <a:noFill/>
          <a:ln/>
        </p:spPr>
        <p:txBody>
          <a:bodyPr wrap="square" lIns="0" tIns="0" rIns="0" bIns="0" rtlCol="0" anchor="t"/>
          <a:lstStyle/>
          <a:p>
            <a:pPr algn="l" indent="0" marL="0">
              <a:lnSpc>
                <a:spcPts val="1950"/>
              </a:lnSpc>
              <a:buNone/>
            </a:pPr>
            <a:r>
              <a:rPr lang="en-US" sz="1500" dirty="0">
                <a:solidFill>
                  <a:srgbClr val="A3A3A3"/>
                </a:solidFill>
                <a:latin typeface="Arial" pitchFamily="34" charset="0"/>
                <a:ea typeface="Arial" pitchFamily="34" charset="-122"/>
                <a:cs typeface="Arial" pitchFamily="34" charset="-120"/>
              </a:rPr>
              <a:t>Create your own layout, assets,</a:t>
            </a:r>
            <a:endParaRPr lang="en-US" sz="1500" dirty="0"/>
          </a:p>
          <a:p>
            <a:pPr algn="l" indent="0" marL="0">
              <a:lnSpc>
                <a:spcPts val="1950"/>
              </a:lnSpc>
              <a:buNone/>
            </a:pPr>
            <a:r>
              <a:rPr lang="en-US" sz="1500" dirty="0">
                <a:solidFill>
                  <a:srgbClr val="A3A3A3"/>
                </a:solidFill>
                <a:latin typeface="Arial" pitchFamily="34" charset="0"/>
                <a:ea typeface="Arial" pitchFamily="34" charset="-122"/>
                <a:cs typeface="Arial" pitchFamily="34" charset="-120"/>
              </a:rPr>
              <a:t>copy, and brand identity—not protected</a:t>
            </a:r>
            <a:endParaRPr lang="en-US" sz="1500" dirty="0"/>
          </a:p>
          <a:p>
            <a:pPr algn="l" indent="0" marL="0">
              <a:lnSpc>
                <a:spcPts val="1950"/>
              </a:lnSpc>
              <a:buNone/>
            </a:pPr>
            <a:r>
              <a:rPr lang="en-US" sz="1500" dirty="0">
                <a:solidFill>
                  <a:srgbClr val="A3A3A3"/>
                </a:solidFill>
                <a:latin typeface="Arial" pitchFamily="34" charset="0"/>
                <a:ea typeface="Arial" pitchFamily="34" charset="-122"/>
                <a:cs typeface="Arial" pitchFamily="34" charset="-120"/>
              </a:rPr>
              <a:t>branding, imagery, or content.</a:t>
            </a:r>
            <a:endParaRPr lang="en-US" sz="1500" dirty="0"/>
          </a:p>
        </p:txBody>
      </p:sp>
      <p:sp>
        <p:nvSpPr>
          <p:cNvPr id="15" name="slide-05-footer-rule"/>
          <p:cNvSpPr/>
          <p:nvPr/>
        </p:nvSpPr>
        <p:spPr>
          <a:xfrm>
            <a:off x="609600" y="6210300"/>
            <a:ext cx="10972800" cy="9525"/>
          </a:xfrm>
          <a:prstGeom prst="rect">
            <a:avLst/>
          </a:prstGeom>
          <a:solidFill>
            <a:srgbClr val="333333"/>
          </a:solidFill>
          <a:ln w="12700">
            <a:solidFill>
              <a:srgbClr val="333333">
                <a:alpha val="0"/>
              </a:srgbClr>
            </a:solidFill>
            <a:prstDash val="solid"/>
          </a:ln>
        </p:spPr>
      </p:sp>
      <p:sp>
        <p:nvSpPr>
          <p:cNvPr id="16" name="slide-05-footer"/>
          <p:cNvSpPr txBox="1"/>
          <p:nvPr/>
        </p:nvSpPr>
        <p:spPr>
          <a:xfrm>
            <a:off x="609600" y="6381750"/>
            <a:ext cx="10972800" cy="266700"/>
          </a:xfrm>
          <a:prstGeom prst="rect">
            <a:avLst/>
          </a:prstGeom>
          <a:noFill/>
          <a:ln/>
        </p:spPr>
        <p:txBody>
          <a:bodyPr wrap="square" lIns="0" tIns="0" rIns="0" bIns="0" rtlCol="0" anchor="t"/>
          <a:lstStyle/>
          <a:p>
            <a:pPr algn="l" indent="0" marL="0">
              <a:lnSpc>
                <a:spcPts val="1800"/>
              </a:lnSpc>
              <a:buNone/>
            </a:pPr>
            <a:r>
              <a:rPr lang="en-US" sz="1500" dirty="0">
                <a:solidFill>
                  <a:srgbClr val="FFFFFF"/>
                </a:solidFill>
                <a:latin typeface="Arial" pitchFamily="34" charset="0"/>
                <a:ea typeface="Arial" pitchFamily="34" charset="-122"/>
                <a:cs typeface="Arial" pitchFamily="34" charset="-120"/>
              </a:rPr>
              <a:t>Give Claude Code an original direction—not a website to clone.</a:t>
            </a:r>
            <a:endParaRPr lang="en-US" sz="15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A0A0A"/>
        </a:solidFill>
      </p:bgPr>
    </p:bg>
    <p:spTree>
      <p:nvGrpSpPr>
        <p:cNvPr id="1" name=""/>
        <p:cNvGrpSpPr/>
        <p:nvPr/>
      </p:nvGrpSpPr>
      <p:grpSpPr>
        <a:xfrm>
          <a:off x="0" y="0"/>
          <a:ext cx="0" cy="0"/>
          <a:chOff x="0" y="0"/>
          <a:chExt cx="0" cy="0"/>
        </a:xfrm>
      </p:grpSpPr>
      <p:sp>
        <p:nvSpPr>
          <p:cNvPr id="3" name="slide-06-eyebrow"/>
          <p:cNvSpPr txBox="1"/>
          <p:nvPr/>
        </p:nvSpPr>
        <p:spPr>
          <a:xfrm>
            <a:off x="609600" y="361950"/>
            <a:ext cx="8572500" cy="228600"/>
          </a:xfrm>
          <a:prstGeom prst="rect">
            <a:avLst/>
          </a:prstGeom>
          <a:noFill/>
          <a:ln/>
        </p:spPr>
        <p:txBody>
          <a:bodyPr wrap="square" lIns="0" tIns="0" rIns="0" bIns="0" rtlCol="0" anchor="t"/>
          <a:lstStyle/>
          <a:p>
            <a:pPr algn="l" indent="0" marL="0">
              <a:lnSpc>
                <a:spcPts val="1170"/>
              </a:lnSpc>
              <a:buNone/>
            </a:pPr>
            <a:r>
              <a:rPr lang="en-US" sz="975" spc="150" kern="0" dirty="0">
                <a:solidFill>
                  <a:srgbClr val="A3A3A3"/>
                </a:solidFill>
                <a:latin typeface="Arial" pitchFamily="34" charset="0"/>
                <a:ea typeface="Arial" pitchFamily="34" charset="-122"/>
                <a:cs typeface="Arial" pitchFamily="34" charset="-120"/>
              </a:rPr>
              <a:t>CLAUDE CODE   /   DESIGN CONSTRAINTS</a:t>
            </a:r>
            <a:endParaRPr lang="en-US" sz="975" dirty="0"/>
          </a:p>
        </p:txBody>
      </p:sp>
      <p:sp>
        <p:nvSpPr>
          <p:cNvPr id="4" name="slide-06-title"/>
          <p:cNvSpPr txBox="1"/>
          <p:nvPr/>
        </p:nvSpPr>
        <p:spPr>
          <a:xfrm>
            <a:off x="609600" y="895350"/>
            <a:ext cx="10820400" cy="1162050"/>
          </a:xfrm>
          <a:prstGeom prst="rect">
            <a:avLst/>
          </a:prstGeom>
          <a:noFill/>
          <a:ln/>
        </p:spPr>
        <p:txBody>
          <a:bodyPr wrap="square" lIns="0" tIns="0" rIns="0" bIns="0" rtlCol="0" anchor="t"/>
          <a:lstStyle/>
          <a:p>
            <a:pPr algn="l" indent="0" marL="0">
              <a:lnSpc>
                <a:spcPts val="4212"/>
              </a:lnSpc>
              <a:buNone/>
            </a:pPr>
            <a:r>
              <a:rPr lang="en-US" sz="3900" b="1" spc="-112" kern="0" dirty="0">
                <a:solidFill>
                  <a:srgbClr val="FFFFFF"/>
                </a:solidFill>
                <a:latin typeface="Arial" pitchFamily="34" charset="0"/>
                <a:ea typeface="Arial" pitchFamily="34" charset="-122"/>
                <a:cs typeface="Arial" pitchFamily="34" charset="-120"/>
              </a:rPr>
              <a:t>Turn the vibe into</a:t>
            </a:r>
            <a:endParaRPr lang="en-US" sz="3900" dirty="0"/>
          </a:p>
          <a:p>
            <a:pPr algn="l" indent="0" marL="0">
              <a:lnSpc>
                <a:spcPts val="4212"/>
              </a:lnSpc>
              <a:buNone/>
            </a:pPr>
            <a:r>
              <a:rPr lang="en-US" sz="3900" b="1" spc="-112" kern="0" dirty="0">
                <a:solidFill>
                  <a:srgbClr val="FFFFFF"/>
                </a:solidFill>
                <a:latin typeface="Arial" pitchFamily="34" charset="0"/>
                <a:ea typeface="Arial" pitchFamily="34" charset="-122"/>
                <a:cs typeface="Arial" pitchFamily="34" charset="-120"/>
              </a:rPr>
              <a:t>reusable design rules</a:t>
            </a:r>
            <a:endParaRPr lang="en-US" sz="3900" dirty="0"/>
          </a:p>
        </p:txBody>
      </p:sp>
      <p:sp>
        <p:nvSpPr>
          <p:cNvPr id="5" name="slide-06-lead"/>
          <p:cNvSpPr txBox="1"/>
          <p:nvPr/>
        </p:nvSpPr>
        <p:spPr>
          <a:xfrm>
            <a:off x="609600" y="2571750"/>
            <a:ext cx="3638550" cy="1123950"/>
          </a:xfrm>
          <a:prstGeom prst="rect">
            <a:avLst/>
          </a:prstGeom>
          <a:noFill/>
          <a:ln/>
        </p:spPr>
        <p:txBody>
          <a:bodyPr wrap="square" lIns="0" tIns="0" rIns="0" bIns="0" rtlCol="0" anchor="t"/>
          <a:lstStyle/>
          <a:p>
            <a:pPr algn="l" indent="0" marL="0">
              <a:lnSpc>
                <a:spcPts val="2697"/>
              </a:lnSpc>
              <a:buNone/>
            </a:pPr>
            <a:r>
              <a:rPr lang="en-US" sz="2175" dirty="0">
                <a:solidFill>
                  <a:srgbClr val="FFFFFF"/>
                </a:solidFill>
                <a:latin typeface="Arial" pitchFamily="34" charset="0"/>
                <a:ea typeface="Arial" pitchFamily="34" charset="-122"/>
                <a:cs typeface="Arial" pitchFamily="34" charset="-120"/>
              </a:rPr>
              <a:t>Give Claude Code explicit constraints—not just “make it premium.”</a:t>
            </a:r>
            <a:endParaRPr lang="en-US" sz="2175" dirty="0"/>
          </a:p>
        </p:txBody>
      </p:sp>
      <p:sp>
        <p:nvSpPr>
          <p:cNvPr id="6" name="slide-06-rule"/>
          <p:cNvSpPr/>
          <p:nvPr/>
        </p:nvSpPr>
        <p:spPr>
          <a:xfrm>
            <a:off x="4705350" y="2571750"/>
            <a:ext cx="9525" cy="3486150"/>
          </a:xfrm>
          <a:prstGeom prst="rect">
            <a:avLst/>
          </a:prstGeom>
          <a:solidFill>
            <a:srgbClr val="333333"/>
          </a:solidFill>
          <a:ln w="12700">
            <a:solidFill>
              <a:srgbClr val="333333">
                <a:alpha val="0"/>
              </a:srgbClr>
            </a:solidFill>
            <a:prstDash val="solid"/>
          </a:ln>
        </p:spPr>
      </p:sp>
      <p:sp>
        <p:nvSpPr>
          <p:cNvPr id="7" name="slide-06-palette-black"/>
          <p:cNvSpPr/>
          <p:nvPr/>
        </p:nvSpPr>
        <p:spPr>
          <a:xfrm>
            <a:off x="609600" y="4038600"/>
            <a:ext cx="1219200" cy="342900"/>
          </a:xfrm>
          <a:prstGeom prst="rect">
            <a:avLst/>
          </a:prstGeom>
          <a:solidFill>
            <a:srgbClr val="0A0A0A"/>
          </a:solidFill>
          <a:ln w="9525">
            <a:solidFill>
              <a:srgbClr val="444444"/>
            </a:solidFill>
            <a:prstDash val="solid"/>
          </a:ln>
        </p:spPr>
      </p:sp>
      <p:sp>
        <p:nvSpPr>
          <p:cNvPr id="8" name="slide-06-palette-white"/>
          <p:cNvSpPr/>
          <p:nvPr/>
        </p:nvSpPr>
        <p:spPr>
          <a:xfrm>
            <a:off x="1828800" y="4038600"/>
            <a:ext cx="1219200" cy="342900"/>
          </a:xfrm>
          <a:prstGeom prst="rect">
            <a:avLst/>
          </a:prstGeom>
          <a:solidFill>
            <a:srgbClr val="FFFFFF"/>
          </a:solidFill>
          <a:ln w="12700">
            <a:solidFill>
              <a:srgbClr val="FFFFFF">
                <a:alpha val="0"/>
              </a:srgbClr>
            </a:solidFill>
            <a:prstDash val="solid"/>
          </a:ln>
        </p:spPr>
      </p:sp>
      <p:sp>
        <p:nvSpPr>
          <p:cNvPr id="9" name="slide-06-palette-gray"/>
          <p:cNvSpPr/>
          <p:nvPr/>
        </p:nvSpPr>
        <p:spPr>
          <a:xfrm>
            <a:off x="3048000" y="4038600"/>
            <a:ext cx="1219200" cy="342900"/>
          </a:xfrm>
          <a:prstGeom prst="rect">
            <a:avLst/>
          </a:prstGeom>
          <a:solidFill>
            <a:srgbClr val="A3A3A3"/>
          </a:solidFill>
          <a:ln w="12700">
            <a:solidFill>
              <a:srgbClr val="A3A3A3">
                <a:alpha val="0"/>
              </a:srgbClr>
            </a:solidFill>
            <a:prstDash val="solid"/>
          </a:ln>
        </p:spPr>
      </p:sp>
      <p:sp>
        <p:nvSpPr>
          <p:cNvPr id="10" name="slide-06-palette-label"/>
          <p:cNvSpPr txBox="1"/>
          <p:nvPr/>
        </p:nvSpPr>
        <p:spPr>
          <a:xfrm>
            <a:off x="609600" y="4476750"/>
            <a:ext cx="3657600" cy="209550"/>
          </a:xfrm>
          <a:prstGeom prst="rect">
            <a:avLst/>
          </a:prstGeom>
          <a:noFill/>
          <a:ln/>
        </p:spPr>
        <p:txBody>
          <a:bodyPr wrap="square" lIns="0" tIns="0" rIns="0" bIns="0" rtlCol="0" anchor="t"/>
          <a:lstStyle/>
          <a:p>
            <a:pPr algn="l" indent="0" marL="0">
              <a:lnSpc>
                <a:spcPts val="990"/>
              </a:lnSpc>
              <a:buNone/>
            </a:pPr>
            <a:r>
              <a:rPr lang="en-US" sz="825" spc="90" kern="0" dirty="0">
                <a:solidFill>
                  <a:srgbClr val="A3A3A3"/>
                </a:solidFill>
                <a:latin typeface="Arial" pitchFamily="34" charset="0"/>
                <a:ea typeface="Arial" pitchFamily="34" charset="-122"/>
                <a:cs typeface="Arial" pitchFamily="34" charset="-120"/>
              </a:rPr>
              <a:t>BACKGROUND     EMPHASIS     SUPPORT</a:t>
            </a:r>
            <a:endParaRPr lang="en-US" sz="825" dirty="0"/>
          </a:p>
        </p:txBody>
      </p:sp>
      <p:sp>
        <p:nvSpPr>
          <p:cNvPr id="11" name="slide-06-type-specimen"/>
          <p:cNvSpPr txBox="1"/>
          <p:nvPr/>
        </p:nvSpPr>
        <p:spPr>
          <a:xfrm>
            <a:off x="609600" y="4895850"/>
            <a:ext cx="1047750" cy="523875"/>
          </a:xfrm>
          <a:prstGeom prst="rect">
            <a:avLst/>
          </a:prstGeom>
          <a:noFill/>
          <a:ln/>
        </p:spPr>
        <p:txBody>
          <a:bodyPr wrap="square" lIns="0" tIns="0" rIns="0" bIns="0" rtlCol="0" anchor="t"/>
          <a:lstStyle/>
          <a:p>
            <a:pPr algn="l" indent="0" marL="0">
              <a:lnSpc>
                <a:spcPts val="3795"/>
              </a:lnSpc>
              <a:buNone/>
            </a:pPr>
            <a:r>
              <a:rPr lang="en-US" sz="3450" b="1" spc="-75" kern="0" dirty="0">
                <a:solidFill>
                  <a:srgbClr val="FFFFFF"/>
                </a:solidFill>
                <a:latin typeface="Arial" pitchFamily="34" charset="0"/>
                <a:ea typeface="Arial" pitchFamily="34" charset="-122"/>
                <a:cs typeface="Arial" pitchFamily="34" charset="-120"/>
              </a:rPr>
              <a:t>Aa</a:t>
            </a:r>
            <a:endParaRPr lang="en-US" sz="3450" dirty="0"/>
          </a:p>
        </p:txBody>
      </p:sp>
      <p:sp>
        <p:nvSpPr>
          <p:cNvPr id="12" name="slide-06-type-caption"/>
          <p:cNvSpPr txBox="1"/>
          <p:nvPr/>
        </p:nvSpPr>
        <p:spPr>
          <a:xfrm>
            <a:off x="1752600" y="4953000"/>
            <a:ext cx="2514600" cy="466725"/>
          </a:xfrm>
          <a:prstGeom prst="rect">
            <a:avLst/>
          </a:prstGeom>
          <a:noFill/>
          <a:ln/>
        </p:spPr>
        <p:txBody>
          <a:bodyPr wrap="square" lIns="0" tIns="0" rIns="0" bIns="0" rtlCol="0" anchor="t"/>
          <a:lstStyle/>
          <a:p>
            <a:pPr algn="l" indent="0" marL="0">
              <a:lnSpc>
                <a:spcPts val="1755"/>
              </a:lnSpc>
              <a:buNone/>
            </a:pPr>
            <a:r>
              <a:rPr lang="en-US" sz="1350" dirty="0">
                <a:solidFill>
                  <a:srgbClr val="A3A3A3"/>
                </a:solidFill>
                <a:latin typeface="Arial" pitchFamily="34" charset="0"/>
                <a:ea typeface="Arial" pitchFamily="34" charset="-122"/>
                <a:cs typeface="Arial" pitchFamily="34" charset="-120"/>
              </a:rPr>
              <a:t>One family.</a:t>
            </a:r>
            <a:endParaRPr lang="en-US" sz="1350" dirty="0"/>
          </a:p>
          <a:p>
            <a:pPr algn="l" indent="0" marL="0">
              <a:lnSpc>
                <a:spcPts val="1755"/>
              </a:lnSpc>
              <a:buNone/>
            </a:pPr>
            <a:r>
              <a:rPr lang="en-US" sz="1350" dirty="0">
                <a:solidFill>
                  <a:srgbClr val="A3A3A3"/>
                </a:solidFill>
                <a:latin typeface="Arial" pitchFamily="34" charset="0"/>
                <a:ea typeface="Arial" pitchFamily="34" charset="-122"/>
                <a:cs typeface="Arial" pitchFamily="34" charset="-120"/>
              </a:rPr>
              <a:t>A deliberate hierarchy.</a:t>
            </a:r>
            <a:endParaRPr lang="en-US" sz="1350" dirty="0"/>
          </a:p>
        </p:txBody>
      </p:sp>
      <p:pic>
        <p:nvPicPr>
          <p:cNvPr id="13" name="slide-06-spacing-ruler" descr="preencoded.pn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609600" y="5619750"/>
            <a:ext cx="3657600" cy="152400"/>
          </a:xfrm>
          <a:prstGeom prst="rect">
            <a:avLst/>
          </a:prstGeom>
        </p:spPr>
      </p:pic>
      <p:sp>
        <p:nvSpPr>
          <p:cNvPr id="14" name="slide-06-spacing-caption"/>
          <p:cNvSpPr txBox="1"/>
          <p:nvPr/>
        </p:nvSpPr>
        <p:spPr>
          <a:xfrm>
            <a:off x="609600" y="5876925"/>
            <a:ext cx="3657600" cy="200025"/>
          </a:xfrm>
          <a:prstGeom prst="rect">
            <a:avLst/>
          </a:prstGeom>
          <a:noFill/>
          <a:ln/>
        </p:spPr>
        <p:txBody>
          <a:bodyPr wrap="square" lIns="0" tIns="0" rIns="0" bIns="0" rtlCol="0" anchor="t"/>
          <a:lstStyle/>
          <a:p>
            <a:pPr algn="l" indent="0" marL="0">
              <a:lnSpc>
                <a:spcPts val="990"/>
              </a:lnSpc>
              <a:buNone/>
            </a:pPr>
            <a:r>
              <a:rPr lang="en-US" sz="825" spc="90" kern="0" dirty="0">
                <a:solidFill>
                  <a:srgbClr val="A3A3A3"/>
                </a:solidFill>
                <a:latin typeface="Arial" pitchFamily="34" charset="0"/>
                <a:ea typeface="Arial" pitchFamily="34" charset="-122"/>
                <a:cs typeface="Arial" pitchFamily="34" charset="-120"/>
              </a:rPr>
              <a:t>CONSISTENT GUTTERS + SECTION SPACE</a:t>
            </a:r>
            <a:endParaRPr lang="en-US" sz="825" dirty="0"/>
          </a:p>
        </p:txBody>
      </p:sp>
      <p:sp>
        <p:nvSpPr>
          <p:cNvPr id="15" name="slide-06-palette-heading"/>
          <p:cNvSpPr txBox="1"/>
          <p:nvPr/>
        </p:nvSpPr>
        <p:spPr>
          <a:xfrm>
            <a:off x="5181600" y="2552700"/>
            <a:ext cx="6286500" cy="238125"/>
          </a:xfrm>
          <a:prstGeom prst="rect">
            <a:avLst/>
          </a:prstGeom>
          <a:noFill/>
          <a:ln/>
        </p:spPr>
        <p:txBody>
          <a:bodyPr wrap="square" lIns="0" tIns="0" rIns="0" bIns="0" rtlCol="0" anchor="t"/>
          <a:lstStyle/>
          <a:p>
            <a:pPr algn="l" indent="0" marL="0">
              <a:lnSpc>
                <a:spcPts val="1710"/>
              </a:lnSpc>
              <a:buNone/>
            </a:pPr>
            <a:r>
              <a:rPr lang="en-US" sz="1425" b="1" dirty="0">
                <a:solidFill>
                  <a:srgbClr val="FFFFFF"/>
                </a:solidFill>
                <a:latin typeface="Arial" pitchFamily="34" charset="0"/>
                <a:ea typeface="Arial" pitchFamily="34" charset="-122"/>
                <a:cs typeface="Arial" pitchFamily="34" charset="-120"/>
              </a:rPr>
              <a:t>01   Palette</a:t>
            </a:r>
            <a:endParaRPr lang="en-US" sz="1425" dirty="0"/>
          </a:p>
        </p:txBody>
      </p:sp>
      <p:sp>
        <p:nvSpPr>
          <p:cNvPr id="16" name="slide-06-body"/>
          <p:cNvSpPr txBox="1"/>
          <p:nvPr/>
        </p:nvSpPr>
        <p:spPr>
          <a:xfrm>
            <a:off x="5181600" y="2838450"/>
            <a:ext cx="6286500" cy="266700"/>
          </a:xfrm>
          <a:prstGeom prst="rect">
            <a:avLst/>
          </a:prstGeom>
          <a:noFill/>
          <a:ln/>
        </p:spPr>
        <p:txBody>
          <a:bodyPr wrap="square" lIns="0" tIns="0" rIns="0" bIns="0" rtlCol="0" anchor="t"/>
          <a:lstStyle/>
          <a:p>
            <a:pPr algn="l" indent="0" marL="0">
              <a:lnSpc>
                <a:spcPts val="1781"/>
              </a:lnSpc>
              <a:buNone/>
            </a:pPr>
            <a:r>
              <a:rPr lang="en-US" sz="1425" dirty="0">
                <a:solidFill>
                  <a:srgbClr val="A3A3A3"/>
                </a:solidFill>
                <a:latin typeface="Arial" pitchFamily="34" charset="0"/>
                <a:ea typeface="Arial" pitchFamily="34" charset="-122"/>
                <a:cs typeface="Arial" pitchFamily="34" charset="-120"/>
              </a:rPr>
              <a:t>Near-black backgrounds, white emphasis, gray supporting text.</a:t>
            </a:r>
            <a:endParaRPr lang="en-US" sz="1425" dirty="0"/>
          </a:p>
        </p:txBody>
      </p:sp>
      <p:sp>
        <p:nvSpPr>
          <p:cNvPr id="17" name="slide-06-type-heading"/>
          <p:cNvSpPr txBox="1"/>
          <p:nvPr/>
        </p:nvSpPr>
        <p:spPr>
          <a:xfrm>
            <a:off x="5181600" y="3295650"/>
            <a:ext cx="6286500" cy="238125"/>
          </a:xfrm>
          <a:prstGeom prst="rect">
            <a:avLst/>
          </a:prstGeom>
          <a:noFill/>
          <a:ln/>
        </p:spPr>
        <p:txBody>
          <a:bodyPr wrap="square" lIns="0" tIns="0" rIns="0" bIns="0" rtlCol="0" anchor="t"/>
          <a:lstStyle/>
          <a:p>
            <a:pPr algn="l" indent="0" marL="0">
              <a:lnSpc>
                <a:spcPts val="1710"/>
              </a:lnSpc>
              <a:buNone/>
            </a:pPr>
            <a:r>
              <a:rPr lang="en-US" sz="1425" b="1" dirty="0">
                <a:solidFill>
                  <a:srgbClr val="FFFFFF"/>
                </a:solidFill>
                <a:latin typeface="Arial" pitchFamily="34" charset="0"/>
                <a:ea typeface="Arial" pitchFamily="34" charset="-122"/>
                <a:cs typeface="Arial" pitchFamily="34" charset="-120"/>
              </a:rPr>
              <a:t>02   Typography</a:t>
            </a:r>
            <a:endParaRPr lang="en-US" sz="1425" dirty="0"/>
          </a:p>
        </p:txBody>
      </p:sp>
      <p:sp>
        <p:nvSpPr>
          <p:cNvPr id="18" name="slide-06-type-body"/>
          <p:cNvSpPr txBox="1"/>
          <p:nvPr/>
        </p:nvSpPr>
        <p:spPr>
          <a:xfrm>
            <a:off x="5181600" y="3581400"/>
            <a:ext cx="6286500" cy="266700"/>
          </a:xfrm>
          <a:prstGeom prst="rect">
            <a:avLst/>
          </a:prstGeom>
          <a:noFill/>
          <a:ln/>
        </p:spPr>
        <p:txBody>
          <a:bodyPr wrap="square" lIns="0" tIns="0" rIns="0" bIns="0" rtlCol="0" anchor="t"/>
          <a:lstStyle/>
          <a:p>
            <a:pPr algn="l" indent="0" marL="0">
              <a:lnSpc>
                <a:spcPts val="1781"/>
              </a:lnSpc>
              <a:buNone/>
            </a:pPr>
            <a:r>
              <a:rPr lang="en-US" sz="1425" dirty="0">
                <a:solidFill>
                  <a:srgbClr val="A3A3A3"/>
                </a:solidFill>
                <a:latin typeface="Arial" pitchFamily="34" charset="0"/>
                <a:ea typeface="Arial" pitchFamily="34" charset="-122"/>
                <a:cs typeface="Arial" pitchFamily="34" charset="-120"/>
              </a:rPr>
              <a:t>One body font family, clear heading levels, deliberate exceptions.</a:t>
            </a:r>
            <a:endParaRPr lang="en-US" sz="1425" dirty="0"/>
          </a:p>
        </p:txBody>
      </p:sp>
      <p:sp>
        <p:nvSpPr>
          <p:cNvPr id="19" name="slide-06-layout-heading"/>
          <p:cNvSpPr txBox="1"/>
          <p:nvPr/>
        </p:nvSpPr>
        <p:spPr>
          <a:xfrm>
            <a:off x="5181600" y="4038600"/>
            <a:ext cx="6286500" cy="238125"/>
          </a:xfrm>
          <a:prstGeom prst="rect">
            <a:avLst/>
          </a:prstGeom>
          <a:noFill/>
          <a:ln/>
        </p:spPr>
        <p:txBody>
          <a:bodyPr wrap="square" lIns="0" tIns="0" rIns="0" bIns="0" rtlCol="0" anchor="t"/>
          <a:lstStyle/>
          <a:p>
            <a:pPr algn="l" indent="0" marL="0">
              <a:lnSpc>
                <a:spcPts val="1710"/>
              </a:lnSpc>
              <a:buNone/>
            </a:pPr>
            <a:r>
              <a:rPr lang="en-US" sz="1425" b="1" dirty="0">
                <a:solidFill>
                  <a:srgbClr val="FFFFFF"/>
                </a:solidFill>
                <a:latin typeface="Arial" pitchFamily="34" charset="0"/>
                <a:ea typeface="Arial" pitchFamily="34" charset="-122"/>
                <a:cs typeface="Arial" pitchFamily="34" charset="-120"/>
              </a:rPr>
              <a:t>03   Layout</a:t>
            </a:r>
            <a:endParaRPr lang="en-US" sz="1425" dirty="0"/>
          </a:p>
        </p:txBody>
      </p:sp>
      <p:sp>
        <p:nvSpPr>
          <p:cNvPr id="20" name="slide-06-layout-body"/>
          <p:cNvSpPr txBox="1"/>
          <p:nvPr/>
        </p:nvSpPr>
        <p:spPr>
          <a:xfrm>
            <a:off x="5181600" y="4324350"/>
            <a:ext cx="6286500" cy="266700"/>
          </a:xfrm>
          <a:prstGeom prst="rect">
            <a:avLst/>
          </a:prstGeom>
          <a:noFill/>
          <a:ln/>
        </p:spPr>
        <p:txBody>
          <a:bodyPr wrap="square" lIns="0" tIns="0" rIns="0" bIns="0" rtlCol="0" anchor="t"/>
          <a:lstStyle/>
          <a:p>
            <a:pPr algn="l" indent="0" marL="0">
              <a:lnSpc>
                <a:spcPts val="1781"/>
              </a:lnSpc>
              <a:buNone/>
            </a:pPr>
            <a:r>
              <a:rPr lang="en-US" sz="1425" dirty="0">
                <a:solidFill>
                  <a:srgbClr val="A3A3A3"/>
                </a:solidFill>
                <a:latin typeface="Arial" pitchFamily="34" charset="0"/>
                <a:ea typeface="Arial" pitchFamily="34" charset="-122"/>
                <a:cs typeface="Arial" pitchFamily="34" charset="-120"/>
              </a:rPr>
              <a:t>Consistent gutters, readable text width, generous section spacing.</a:t>
            </a:r>
            <a:endParaRPr lang="en-US" sz="1425" dirty="0"/>
          </a:p>
        </p:txBody>
      </p:sp>
      <p:sp>
        <p:nvSpPr>
          <p:cNvPr id="21" name="slide-06-components-heading"/>
          <p:cNvSpPr txBox="1"/>
          <p:nvPr/>
        </p:nvSpPr>
        <p:spPr>
          <a:xfrm>
            <a:off x="5181600" y="4781550"/>
            <a:ext cx="6286500" cy="238125"/>
          </a:xfrm>
          <a:prstGeom prst="rect">
            <a:avLst/>
          </a:prstGeom>
          <a:noFill/>
          <a:ln/>
        </p:spPr>
        <p:txBody>
          <a:bodyPr wrap="square" lIns="0" tIns="0" rIns="0" bIns="0" rtlCol="0" anchor="t"/>
          <a:lstStyle/>
          <a:p>
            <a:pPr algn="l" indent="0" marL="0">
              <a:lnSpc>
                <a:spcPts val="1710"/>
              </a:lnSpc>
              <a:buNone/>
            </a:pPr>
            <a:r>
              <a:rPr lang="en-US" sz="1425" b="1" dirty="0">
                <a:solidFill>
                  <a:srgbClr val="FFFFFF"/>
                </a:solidFill>
                <a:latin typeface="Arial" pitchFamily="34" charset="0"/>
                <a:ea typeface="Arial" pitchFamily="34" charset="-122"/>
                <a:cs typeface="Arial" pitchFamily="34" charset="-120"/>
              </a:rPr>
              <a:t>04   Components</a:t>
            </a:r>
            <a:endParaRPr lang="en-US" sz="1425" dirty="0"/>
          </a:p>
        </p:txBody>
      </p:sp>
      <p:sp>
        <p:nvSpPr>
          <p:cNvPr id="22" name="slide-06-components-body"/>
          <p:cNvSpPr txBox="1"/>
          <p:nvPr/>
        </p:nvSpPr>
        <p:spPr>
          <a:xfrm>
            <a:off x="5181600" y="5067300"/>
            <a:ext cx="6286500" cy="266700"/>
          </a:xfrm>
          <a:prstGeom prst="rect">
            <a:avLst/>
          </a:prstGeom>
          <a:noFill/>
          <a:ln/>
        </p:spPr>
        <p:txBody>
          <a:bodyPr wrap="square" lIns="0" tIns="0" rIns="0" bIns="0" rtlCol="0" anchor="t"/>
          <a:lstStyle/>
          <a:p>
            <a:pPr algn="l" indent="0" marL="0">
              <a:lnSpc>
                <a:spcPts val="1781"/>
              </a:lnSpc>
              <a:buNone/>
            </a:pPr>
            <a:r>
              <a:rPr lang="en-US" sz="1425" dirty="0">
                <a:solidFill>
                  <a:srgbClr val="A3A3A3"/>
                </a:solidFill>
                <a:latin typeface="Arial" pitchFamily="34" charset="0"/>
                <a:ea typeface="Arial" pitchFamily="34" charset="-122"/>
                <a:cs typeface="Arial" pitchFamily="34" charset="-120"/>
              </a:rPr>
              <a:t>Consistent button, border, and surface treatments.</a:t>
            </a:r>
            <a:endParaRPr lang="en-US" sz="1425" dirty="0"/>
          </a:p>
        </p:txBody>
      </p:sp>
      <p:sp>
        <p:nvSpPr>
          <p:cNvPr id="23" name="slide-06-motion-heading"/>
          <p:cNvSpPr txBox="1"/>
          <p:nvPr/>
        </p:nvSpPr>
        <p:spPr>
          <a:xfrm>
            <a:off x="5181600" y="5524500"/>
            <a:ext cx="6286500" cy="238125"/>
          </a:xfrm>
          <a:prstGeom prst="rect">
            <a:avLst/>
          </a:prstGeom>
          <a:noFill/>
          <a:ln/>
        </p:spPr>
        <p:txBody>
          <a:bodyPr wrap="square" lIns="0" tIns="0" rIns="0" bIns="0" rtlCol="0" anchor="t"/>
          <a:lstStyle/>
          <a:p>
            <a:pPr algn="l" indent="0" marL="0">
              <a:lnSpc>
                <a:spcPts val="1710"/>
              </a:lnSpc>
              <a:buNone/>
            </a:pPr>
            <a:r>
              <a:rPr lang="en-US" sz="1425" b="1" dirty="0">
                <a:solidFill>
                  <a:srgbClr val="FFFFFF"/>
                </a:solidFill>
                <a:latin typeface="Arial" pitchFamily="34" charset="0"/>
                <a:ea typeface="Arial" pitchFamily="34" charset="-122"/>
                <a:cs typeface="Arial" pitchFamily="34" charset="-120"/>
              </a:rPr>
              <a:t>05   Motion</a:t>
            </a:r>
            <a:endParaRPr lang="en-US" sz="1425" dirty="0"/>
          </a:p>
        </p:txBody>
      </p:sp>
      <p:sp>
        <p:nvSpPr>
          <p:cNvPr id="24" name="slide-06-motion-body"/>
          <p:cNvSpPr txBox="1"/>
          <p:nvPr/>
        </p:nvSpPr>
        <p:spPr>
          <a:xfrm>
            <a:off x="5181600" y="5810250"/>
            <a:ext cx="6286500" cy="266700"/>
          </a:xfrm>
          <a:prstGeom prst="rect">
            <a:avLst/>
          </a:prstGeom>
          <a:noFill/>
          <a:ln/>
        </p:spPr>
        <p:txBody>
          <a:bodyPr wrap="square" lIns="0" tIns="0" rIns="0" bIns="0" rtlCol="0" anchor="t"/>
          <a:lstStyle/>
          <a:p>
            <a:pPr algn="l" indent="0" marL="0">
              <a:lnSpc>
                <a:spcPts val="1781"/>
              </a:lnSpc>
              <a:buNone/>
            </a:pPr>
            <a:r>
              <a:rPr lang="en-US" sz="1425" dirty="0">
                <a:solidFill>
                  <a:srgbClr val="A3A3A3"/>
                </a:solidFill>
                <a:latin typeface="Arial" pitchFamily="34" charset="0"/>
                <a:ea typeface="Arial" pitchFamily="34" charset="-122"/>
                <a:cs typeface="Arial" pitchFamily="34" charset="-120"/>
              </a:rPr>
              <a:t>Restrained fades; no decorative movement competing with content.</a:t>
            </a:r>
            <a:endParaRPr lang="en-US" sz="1425" dirty="0"/>
          </a:p>
        </p:txBody>
      </p:sp>
      <p:sp>
        <p:nvSpPr>
          <p:cNvPr id="25" name="slide-06-footer-rule"/>
          <p:cNvSpPr/>
          <p:nvPr/>
        </p:nvSpPr>
        <p:spPr>
          <a:xfrm>
            <a:off x="609600" y="6343650"/>
            <a:ext cx="10972800" cy="9525"/>
          </a:xfrm>
          <a:prstGeom prst="rect">
            <a:avLst/>
          </a:prstGeom>
          <a:solidFill>
            <a:srgbClr val="333333"/>
          </a:solidFill>
          <a:ln w="12700">
            <a:solidFill>
              <a:srgbClr val="333333">
                <a:alpha val="0"/>
              </a:srgbClr>
            </a:solidFill>
            <a:prstDash val="solid"/>
          </a:ln>
        </p:spPr>
      </p:sp>
      <p:sp>
        <p:nvSpPr>
          <p:cNvPr id="26" name="slide-06-footer"/>
          <p:cNvSpPr txBox="1"/>
          <p:nvPr/>
        </p:nvSpPr>
        <p:spPr>
          <a:xfrm>
            <a:off x="609600" y="6486525"/>
            <a:ext cx="9239250" cy="190500"/>
          </a:xfrm>
          <a:prstGeom prst="rect">
            <a:avLst/>
          </a:prstGeom>
          <a:noFill/>
          <a:ln/>
        </p:spPr>
        <p:txBody>
          <a:bodyPr wrap="square" lIns="0" tIns="0" rIns="0" bIns="0" rtlCol="0" anchor="t"/>
          <a:lstStyle/>
          <a:p>
            <a:pPr algn="l" indent="0" marL="0">
              <a:lnSpc>
                <a:spcPts val="990"/>
              </a:lnSpc>
              <a:buNone/>
            </a:pPr>
            <a:r>
              <a:rPr lang="en-US" sz="825" spc="83" kern="0" dirty="0">
                <a:solidFill>
                  <a:srgbClr val="A3A3A3"/>
                </a:solidFill>
                <a:latin typeface="Arial" pitchFamily="34" charset="0"/>
                <a:ea typeface="Arial" pitchFamily="34" charset="-122"/>
                <a:cs typeface="Arial" pitchFamily="34" charset="-120"/>
              </a:rPr>
              <a:t>ILLUSTRATIVE STUDIO SITE   /   RECOMMENDED CONSTRAINTS</a:t>
            </a:r>
            <a:endParaRPr lang="en-US" sz="825" dirty="0"/>
          </a:p>
        </p:txBody>
      </p:sp>
      <p:sp>
        <p:nvSpPr>
          <p:cNvPr id="27" name="slide-06-page"/>
          <p:cNvSpPr txBox="1"/>
          <p:nvPr/>
        </p:nvSpPr>
        <p:spPr>
          <a:xfrm>
            <a:off x="10439400" y="6486525"/>
            <a:ext cx="1143000" cy="190500"/>
          </a:xfrm>
          <a:prstGeom prst="rect">
            <a:avLst/>
          </a:prstGeom>
          <a:noFill/>
          <a:ln/>
        </p:spPr>
        <p:txBody>
          <a:bodyPr wrap="square" lIns="0" tIns="0" rIns="0" bIns="0" rtlCol="0" anchor="t"/>
          <a:lstStyle/>
          <a:p>
            <a:pPr algn="r" indent="0" marL="0">
              <a:lnSpc>
                <a:spcPts val="1080"/>
              </a:lnSpc>
              <a:buNone/>
            </a:pPr>
            <a:r>
              <a:rPr lang="en-US" sz="900" spc="75" kern="0" dirty="0">
                <a:solidFill>
                  <a:srgbClr val="A3A3A3"/>
                </a:solidFill>
                <a:latin typeface="Arial" pitchFamily="34" charset="0"/>
                <a:ea typeface="Arial" pitchFamily="34" charset="-122"/>
                <a:cs typeface="Arial" pitchFamily="34" charset="-120"/>
              </a:rPr>
              <a:t>06 / 20</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A0A0A"/>
        </a:solidFill>
      </p:bgPr>
    </p:bg>
    <p:spTree>
      <p:nvGrpSpPr>
        <p:cNvPr id="1" name=""/>
        <p:cNvGrpSpPr/>
        <p:nvPr/>
      </p:nvGrpSpPr>
      <p:grpSpPr>
        <a:xfrm>
          <a:off x="0" y="0"/>
          <a:ext cx="0" cy="0"/>
          <a:chOff x="0" y="0"/>
          <a:chExt cx="0" cy="0"/>
        </a:xfrm>
      </p:grpSpPr>
      <p:sp>
        <p:nvSpPr>
          <p:cNvPr id="3" name="slide-07-eyebrow"/>
          <p:cNvSpPr txBox="1"/>
          <p:nvPr/>
        </p:nvSpPr>
        <p:spPr>
          <a:xfrm>
            <a:off x="762000" y="381000"/>
            <a:ext cx="8572500" cy="228600"/>
          </a:xfrm>
          <a:prstGeom prst="rect">
            <a:avLst/>
          </a:prstGeom>
          <a:noFill/>
          <a:ln/>
        </p:spPr>
        <p:txBody>
          <a:bodyPr wrap="square" lIns="0" tIns="0" rIns="0" bIns="0" rtlCol="0" anchor="t"/>
          <a:lstStyle/>
          <a:p>
            <a:pPr algn="l" indent="0" marL="0">
              <a:lnSpc>
                <a:spcPts val="1170"/>
              </a:lnSpc>
              <a:buNone/>
            </a:pPr>
            <a:r>
              <a:rPr lang="en-US" sz="975" spc="105" kern="0" dirty="0">
                <a:solidFill>
                  <a:srgbClr val="A3A3A3"/>
                </a:solidFill>
                <a:latin typeface="Courier New" pitchFamily="34" charset="0"/>
                <a:ea typeface="Courier New" pitchFamily="34" charset="-122"/>
                <a:cs typeface="Courier New" pitchFamily="34" charset="-120"/>
              </a:rPr>
              <a:t>WEBSITE WORKFLOW  /  PROJECT PREPARATION</a:t>
            </a:r>
            <a:endParaRPr lang="en-US" sz="975" dirty="0"/>
          </a:p>
        </p:txBody>
      </p:sp>
      <p:sp>
        <p:nvSpPr>
          <p:cNvPr id="4" name="slide-07-title"/>
          <p:cNvSpPr txBox="1"/>
          <p:nvPr/>
        </p:nvSpPr>
        <p:spPr>
          <a:xfrm>
            <a:off x="762000" y="914400"/>
            <a:ext cx="10382250" cy="1104900"/>
          </a:xfrm>
          <a:prstGeom prst="rect">
            <a:avLst/>
          </a:prstGeom>
          <a:noFill/>
          <a:ln/>
        </p:spPr>
        <p:txBody>
          <a:bodyPr wrap="square" lIns="0" tIns="0" rIns="0" bIns="0" rtlCol="0" anchor="t"/>
          <a:lstStyle/>
          <a:p>
            <a:pPr algn="l" indent="0" marL="0">
              <a:lnSpc>
                <a:spcPts val="3888"/>
              </a:lnSpc>
              <a:buNone/>
            </a:pPr>
            <a:r>
              <a:rPr lang="en-US" sz="3600" b="1" spc="-90" kern="0" dirty="0">
                <a:solidFill>
                  <a:srgbClr val="FFFFFF"/>
                </a:solidFill>
                <a:latin typeface="Arial" pitchFamily="34" charset="0"/>
                <a:ea typeface="Arial" pitchFamily="34" charset="-122"/>
                <a:cs typeface="Arial" pitchFamily="34" charset="-120"/>
              </a:rPr>
              <a:t>Prepare the project</a:t>
            </a:r>
            <a:endParaRPr lang="en-US" sz="3600" dirty="0"/>
          </a:p>
          <a:p>
            <a:pPr algn="l" indent="0" marL="0">
              <a:lnSpc>
                <a:spcPts val="3888"/>
              </a:lnSpc>
              <a:buNone/>
            </a:pPr>
            <a:r>
              <a:rPr lang="en-US" sz="3600" b="1" spc="-90" kern="0" dirty="0">
                <a:solidFill>
                  <a:srgbClr val="FFFFFF"/>
                </a:solidFill>
                <a:latin typeface="Arial" pitchFamily="34" charset="0"/>
                <a:ea typeface="Arial" pitchFamily="34" charset="-122"/>
                <a:cs typeface="Arial" pitchFamily="34" charset="-120"/>
              </a:rPr>
              <a:t>before Claude Code edits</a:t>
            </a:r>
            <a:endParaRPr lang="en-US" sz="3600" dirty="0"/>
          </a:p>
        </p:txBody>
      </p:sp>
      <p:sp>
        <p:nvSpPr>
          <p:cNvPr id="5" name="slide-07-lead"/>
          <p:cNvSpPr txBox="1"/>
          <p:nvPr/>
        </p:nvSpPr>
        <p:spPr>
          <a:xfrm>
            <a:off x="762000" y="2171700"/>
            <a:ext cx="10477500" cy="323850"/>
          </a:xfrm>
          <a:prstGeom prst="rect">
            <a:avLst/>
          </a:prstGeom>
          <a:noFill/>
          <a:ln/>
        </p:spPr>
        <p:txBody>
          <a:bodyPr wrap="square" lIns="0" tIns="0" rIns="0" bIns="0" rtlCol="0" anchor="t"/>
          <a:lstStyle/>
          <a:p>
            <a:pPr algn="l" indent="0" marL="0">
              <a:lnSpc>
                <a:spcPts val="2070"/>
              </a:lnSpc>
              <a:buNone/>
            </a:pPr>
            <a:r>
              <a:rPr lang="en-US" sz="1725" dirty="0">
                <a:solidFill>
                  <a:srgbClr val="A3A3A3"/>
                </a:solidFill>
                <a:latin typeface="Arial" pitchFamily="34" charset="0"/>
                <a:ea typeface="Arial" pitchFamily="34" charset="-122"/>
                <a:cs typeface="Arial" pitchFamily="34" charset="-120"/>
              </a:rPr>
              <a:t>Understand the starting point and make changes recoverable.</a:t>
            </a:r>
            <a:endParaRPr lang="en-US" sz="1725" dirty="0"/>
          </a:p>
        </p:txBody>
      </p:sp>
      <p:sp>
        <p:nvSpPr>
          <p:cNvPr id="6" name="slide-07-timeline"/>
          <p:cNvSpPr/>
          <p:nvPr/>
        </p:nvSpPr>
        <p:spPr>
          <a:xfrm>
            <a:off x="895350" y="3076575"/>
            <a:ext cx="9525" cy="2247900"/>
          </a:xfrm>
          <a:prstGeom prst="rect">
            <a:avLst/>
          </a:prstGeom>
          <a:solidFill>
            <a:srgbClr val="444444"/>
          </a:solidFill>
          <a:ln w="12700">
            <a:solidFill>
              <a:srgbClr val="444444">
                <a:alpha val="0"/>
              </a:srgbClr>
            </a:solidFill>
            <a:prstDash val="solid"/>
          </a:ln>
        </p:spPr>
      </p:sp>
      <p:sp>
        <p:nvSpPr>
          <p:cNvPr id="7" name="slide-07-card-0"/>
          <p:cNvSpPr/>
          <p:nvPr/>
        </p:nvSpPr>
        <p:spPr>
          <a:xfrm>
            <a:off x="762000" y="2857500"/>
            <a:ext cx="304800" cy="304800"/>
          </a:xfrm>
          <a:prstGeom prst="roundRect">
            <a:avLst>
              <a:gd name="adj" fmla="val 6250"/>
            </a:avLst>
          </a:prstGeom>
          <a:solidFill>
            <a:srgbClr val="0A0A0A"/>
          </a:solidFill>
          <a:ln w="9525">
            <a:solidFill>
              <a:srgbClr val="666666"/>
            </a:solidFill>
            <a:prstDash val="solid"/>
          </a:ln>
        </p:spPr>
      </p:sp>
      <p:sp>
        <p:nvSpPr>
          <p:cNvPr id="8" name="slide-07-card-number-0"/>
          <p:cNvSpPr txBox="1"/>
          <p:nvPr/>
        </p:nvSpPr>
        <p:spPr>
          <a:xfrm>
            <a:off x="762000" y="2924175"/>
            <a:ext cx="304800" cy="190500"/>
          </a:xfrm>
          <a:prstGeom prst="rect">
            <a:avLst/>
          </a:prstGeom>
          <a:noFill/>
          <a:ln/>
        </p:spPr>
        <p:txBody>
          <a:bodyPr wrap="square" lIns="0" tIns="0" rIns="0" bIns="0" rtlCol="0" anchor="t"/>
          <a:lstStyle/>
          <a:p>
            <a:pPr algn="ctr" indent="0" marL="0">
              <a:lnSpc>
                <a:spcPts val="1050"/>
              </a:lnSpc>
              <a:buNone/>
            </a:pPr>
            <a:r>
              <a:rPr lang="en-US" sz="1050" dirty="0">
                <a:solidFill>
                  <a:srgbClr val="FFFFFF"/>
                </a:solidFill>
                <a:latin typeface="Courier New" pitchFamily="34" charset="0"/>
                <a:ea typeface="Courier New" pitchFamily="34" charset="-122"/>
                <a:cs typeface="Courier New" pitchFamily="34" charset="-120"/>
              </a:rPr>
              <a:t>01</a:t>
            </a:r>
            <a:endParaRPr lang="en-US" sz="1050" dirty="0"/>
          </a:p>
        </p:txBody>
      </p:sp>
      <p:sp>
        <p:nvSpPr>
          <p:cNvPr id="9" name="slide-07-card-text-0"/>
          <p:cNvSpPr txBox="1"/>
          <p:nvPr/>
        </p:nvSpPr>
        <p:spPr>
          <a:xfrm>
            <a:off x="1314450" y="2838450"/>
            <a:ext cx="4762500" cy="838200"/>
          </a:xfrm>
          <a:prstGeom prst="rect">
            <a:avLst/>
          </a:prstGeom>
          <a:noFill/>
          <a:ln/>
        </p:spPr>
        <p:txBody>
          <a:bodyPr wrap="square" lIns="0" tIns="0" rIns="0" bIns="0" rtlCol="0" anchor="t"/>
          <a:lstStyle/>
          <a:p>
            <a:pPr algn="l" indent="0" marL="0">
              <a:lnSpc>
                <a:spcPts val="2228"/>
              </a:lnSpc>
              <a:buNone/>
            </a:pPr>
            <a:r>
              <a:rPr lang="en-US" sz="1650" dirty="0">
                <a:solidFill>
                  <a:srgbClr val="FFFFFF"/>
                </a:solidFill>
                <a:latin typeface="Arial" pitchFamily="34" charset="0"/>
                <a:ea typeface="Arial" pitchFamily="34" charset="-122"/>
                <a:cs typeface="Arial" pitchFamily="34" charset="-120"/>
              </a:rPr>
              <a:t>Check current Claude Code setup and</a:t>
            </a:r>
            <a:endParaRPr lang="en-US" sz="1650" dirty="0"/>
          </a:p>
          <a:p>
            <a:pPr algn="l" indent="0" marL="0">
              <a:lnSpc>
                <a:spcPts val="2228"/>
              </a:lnSpc>
              <a:buNone/>
            </a:pPr>
            <a:r>
              <a:rPr lang="en-US" sz="1650" dirty="0">
                <a:solidFill>
                  <a:srgbClr val="FFFFFF"/>
                </a:solidFill>
                <a:latin typeface="Arial" pitchFamily="34" charset="0"/>
                <a:ea typeface="Arial" pitchFamily="34" charset="-122"/>
                <a:cs typeface="Arial" pitchFamily="34" charset="-120"/>
              </a:rPr>
              <a:t>permissions against official documentation.</a:t>
            </a:r>
            <a:endParaRPr lang="en-US" sz="1650" dirty="0"/>
          </a:p>
        </p:txBody>
      </p:sp>
      <p:sp>
        <p:nvSpPr>
          <p:cNvPr id="10" name="slide-07-card-1"/>
          <p:cNvSpPr/>
          <p:nvPr/>
        </p:nvSpPr>
        <p:spPr>
          <a:xfrm>
            <a:off x="762000" y="3943350"/>
            <a:ext cx="304800" cy="304800"/>
          </a:xfrm>
          <a:prstGeom prst="roundRect">
            <a:avLst>
              <a:gd name="adj" fmla="val 6250"/>
            </a:avLst>
          </a:prstGeom>
          <a:solidFill>
            <a:srgbClr val="0A0A0A"/>
          </a:solidFill>
          <a:ln w="9525">
            <a:solidFill>
              <a:srgbClr val="666666"/>
            </a:solidFill>
            <a:prstDash val="solid"/>
          </a:ln>
        </p:spPr>
      </p:sp>
      <p:sp>
        <p:nvSpPr>
          <p:cNvPr id="11" name="slide-07-card-number-1"/>
          <p:cNvSpPr txBox="1"/>
          <p:nvPr/>
        </p:nvSpPr>
        <p:spPr>
          <a:xfrm>
            <a:off x="762000" y="4010025"/>
            <a:ext cx="304800" cy="190500"/>
          </a:xfrm>
          <a:prstGeom prst="rect">
            <a:avLst/>
          </a:prstGeom>
          <a:noFill/>
          <a:ln/>
        </p:spPr>
        <p:txBody>
          <a:bodyPr wrap="square" lIns="0" tIns="0" rIns="0" bIns="0" rtlCol="0" anchor="t"/>
          <a:lstStyle/>
          <a:p>
            <a:pPr algn="ctr" indent="0" marL="0">
              <a:lnSpc>
                <a:spcPts val="1050"/>
              </a:lnSpc>
              <a:buNone/>
            </a:pPr>
            <a:r>
              <a:rPr lang="en-US" sz="1050" dirty="0">
                <a:solidFill>
                  <a:srgbClr val="FFFFFF"/>
                </a:solidFill>
                <a:latin typeface="Courier New" pitchFamily="34" charset="0"/>
                <a:ea typeface="Courier New" pitchFamily="34" charset="-122"/>
                <a:cs typeface="Courier New" pitchFamily="34" charset="-120"/>
              </a:rPr>
              <a:t>02</a:t>
            </a:r>
            <a:endParaRPr lang="en-US" sz="1050" dirty="0"/>
          </a:p>
        </p:txBody>
      </p:sp>
      <p:sp>
        <p:nvSpPr>
          <p:cNvPr id="12" name="slide-07-card-text-1"/>
          <p:cNvSpPr txBox="1"/>
          <p:nvPr/>
        </p:nvSpPr>
        <p:spPr>
          <a:xfrm>
            <a:off x="1314450" y="3924300"/>
            <a:ext cx="4762500" cy="838200"/>
          </a:xfrm>
          <a:prstGeom prst="rect">
            <a:avLst/>
          </a:prstGeom>
          <a:noFill/>
          <a:ln/>
        </p:spPr>
        <p:txBody>
          <a:bodyPr wrap="square" lIns="0" tIns="0" rIns="0" bIns="0" rtlCol="0" anchor="t"/>
          <a:lstStyle/>
          <a:p>
            <a:pPr algn="l" indent="0" marL="0">
              <a:lnSpc>
                <a:spcPts val="2228"/>
              </a:lnSpc>
              <a:buNone/>
            </a:pPr>
            <a:r>
              <a:rPr lang="en-US" sz="1650" dirty="0">
                <a:solidFill>
                  <a:srgbClr val="FFFFFF"/>
                </a:solidFill>
                <a:latin typeface="Arial" pitchFamily="34" charset="0"/>
                <a:ea typeface="Arial" pitchFamily="34" charset="-122"/>
                <a:cs typeface="Arial" pitchFamily="34" charset="-120"/>
              </a:rPr>
              <a:t>Identify the framework, project structure,</a:t>
            </a:r>
            <a:endParaRPr lang="en-US" sz="1650" dirty="0"/>
          </a:p>
          <a:p>
            <a:pPr algn="l" indent="0" marL="0">
              <a:lnSpc>
                <a:spcPts val="2228"/>
              </a:lnSpc>
              <a:buNone/>
            </a:pPr>
            <a:r>
              <a:rPr lang="en-US" sz="1650" dirty="0">
                <a:solidFill>
                  <a:srgbClr val="FFFFFF"/>
                </a:solidFill>
                <a:latin typeface="Arial" pitchFamily="34" charset="0"/>
                <a:ea typeface="Arial" pitchFamily="34" charset="-122"/>
                <a:cs typeface="Arial" pitchFamily="34" charset="-120"/>
              </a:rPr>
              <a:t>and existing development instructions.</a:t>
            </a:r>
            <a:endParaRPr lang="en-US" sz="1650" dirty="0"/>
          </a:p>
        </p:txBody>
      </p:sp>
      <p:sp>
        <p:nvSpPr>
          <p:cNvPr id="13" name="slide-07-card-2"/>
          <p:cNvSpPr/>
          <p:nvPr/>
        </p:nvSpPr>
        <p:spPr>
          <a:xfrm>
            <a:off x="762000" y="5029200"/>
            <a:ext cx="304800" cy="304800"/>
          </a:xfrm>
          <a:prstGeom prst="roundRect">
            <a:avLst>
              <a:gd name="adj" fmla="val 6250"/>
            </a:avLst>
          </a:prstGeom>
          <a:solidFill>
            <a:srgbClr val="0A0A0A"/>
          </a:solidFill>
          <a:ln w="9525">
            <a:solidFill>
              <a:srgbClr val="666666"/>
            </a:solidFill>
            <a:prstDash val="solid"/>
          </a:ln>
        </p:spPr>
      </p:sp>
      <p:sp>
        <p:nvSpPr>
          <p:cNvPr id="14" name="slide-07-card-number-2"/>
          <p:cNvSpPr txBox="1"/>
          <p:nvPr/>
        </p:nvSpPr>
        <p:spPr>
          <a:xfrm>
            <a:off x="762000" y="5095875"/>
            <a:ext cx="304800" cy="190500"/>
          </a:xfrm>
          <a:prstGeom prst="rect">
            <a:avLst/>
          </a:prstGeom>
          <a:noFill/>
          <a:ln/>
        </p:spPr>
        <p:txBody>
          <a:bodyPr wrap="square" lIns="0" tIns="0" rIns="0" bIns="0" rtlCol="0" anchor="t"/>
          <a:lstStyle/>
          <a:p>
            <a:pPr algn="ctr" indent="0" marL="0">
              <a:lnSpc>
                <a:spcPts val="1050"/>
              </a:lnSpc>
              <a:buNone/>
            </a:pPr>
            <a:r>
              <a:rPr lang="en-US" sz="1050" dirty="0">
                <a:solidFill>
                  <a:srgbClr val="FFFFFF"/>
                </a:solidFill>
                <a:latin typeface="Courier New" pitchFamily="34" charset="0"/>
                <a:ea typeface="Courier New" pitchFamily="34" charset="-122"/>
                <a:cs typeface="Courier New" pitchFamily="34" charset="-120"/>
              </a:rPr>
              <a:t>03</a:t>
            </a:r>
            <a:endParaRPr lang="en-US" sz="1050" dirty="0"/>
          </a:p>
        </p:txBody>
      </p:sp>
      <p:sp>
        <p:nvSpPr>
          <p:cNvPr id="15" name="slide-07-card-text-2"/>
          <p:cNvSpPr txBox="1"/>
          <p:nvPr/>
        </p:nvSpPr>
        <p:spPr>
          <a:xfrm>
            <a:off x="1314450" y="5010150"/>
            <a:ext cx="4762500" cy="838200"/>
          </a:xfrm>
          <a:prstGeom prst="rect">
            <a:avLst/>
          </a:prstGeom>
          <a:noFill/>
          <a:ln/>
        </p:spPr>
        <p:txBody>
          <a:bodyPr wrap="square" lIns="0" tIns="0" rIns="0" bIns="0" rtlCol="0" anchor="t"/>
          <a:lstStyle/>
          <a:p>
            <a:pPr algn="l" indent="0" marL="0">
              <a:lnSpc>
                <a:spcPts val="2228"/>
              </a:lnSpc>
              <a:buNone/>
            </a:pPr>
            <a:r>
              <a:rPr lang="en-US" sz="1650" dirty="0">
                <a:solidFill>
                  <a:srgbClr val="FFFFFF"/>
                </a:solidFill>
                <a:latin typeface="Arial" pitchFamily="34" charset="0"/>
                <a:ea typeface="Arial" pitchFamily="34" charset="-122"/>
                <a:cs typeface="Arial" pitchFamily="34" charset="-120"/>
              </a:rPr>
              <a:t>Save a recoverable baseline in version</a:t>
            </a:r>
            <a:endParaRPr lang="en-US" sz="1650" dirty="0"/>
          </a:p>
          <a:p>
            <a:pPr algn="l" indent="0" marL="0">
              <a:lnSpc>
                <a:spcPts val="2228"/>
              </a:lnSpc>
              <a:buNone/>
            </a:pPr>
            <a:r>
              <a:rPr lang="en-US" sz="1650" dirty="0">
                <a:solidFill>
                  <a:srgbClr val="FFFFFF"/>
                </a:solidFill>
                <a:latin typeface="Arial" pitchFamily="34" charset="0"/>
                <a:ea typeface="Arial" pitchFamily="34" charset="-122"/>
                <a:cs typeface="Arial" pitchFamily="34" charset="-120"/>
              </a:rPr>
              <a:t>control; keep credentials out of prompts.</a:t>
            </a:r>
            <a:endParaRPr lang="en-US" sz="1650" dirty="0"/>
          </a:p>
        </p:txBody>
      </p:sp>
      <p:sp>
        <p:nvSpPr>
          <p:cNvPr id="16" name="slide-07-prompt-panel"/>
          <p:cNvSpPr/>
          <p:nvPr/>
        </p:nvSpPr>
        <p:spPr>
          <a:xfrm>
            <a:off x="6858000" y="2838450"/>
            <a:ext cx="4572000" cy="3067050"/>
          </a:xfrm>
          <a:prstGeom prst="roundRect">
            <a:avLst>
              <a:gd name="adj" fmla="val 621"/>
            </a:avLst>
          </a:prstGeom>
          <a:solidFill>
            <a:srgbClr val="F5F5F5"/>
          </a:solidFill>
          <a:ln w="12700">
            <a:solidFill>
              <a:srgbClr val="F5F5F5">
                <a:alpha val="0"/>
              </a:srgbClr>
            </a:solidFill>
            <a:prstDash val="solid"/>
          </a:ln>
        </p:spPr>
      </p:sp>
      <p:sp>
        <p:nvSpPr>
          <p:cNvPr id="17" name="slide-07-prompt-label"/>
          <p:cNvSpPr txBox="1"/>
          <p:nvPr/>
        </p:nvSpPr>
        <p:spPr>
          <a:xfrm>
            <a:off x="7143750" y="3086100"/>
            <a:ext cx="4000500" cy="209550"/>
          </a:xfrm>
          <a:prstGeom prst="rect">
            <a:avLst/>
          </a:prstGeom>
          <a:noFill/>
          <a:ln/>
        </p:spPr>
        <p:txBody>
          <a:bodyPr wrap="square" lIns="0" tIns="0" rIns="0" bIns="0" rtlCol="0" anchor="t"/>
          <a:lstStyle/>
          <a:p>
            <a:pPr algn="l" indent="0" marL="0">
              <a:lnSpc>
                <a:spcPts val="1170"/>
              </a:lnSpc>
              <a:buNone/>
            </a:pPr>
            <a:r>
              <a:rPr lang="en-US" sz="975" b="1" spc="52" kern="0" dirty="0">
                <a:solidFill>
                  <a:srgbClr val="444444"/>
                </a:solidFill>
                <a:latin typeface="Courier New" pitchFamily="34" charset="0"/>
                <a:ea typeface="Courier New" pitchFamily="34" charset="-122"/>
                <a:cs typeface="Courier New" pitchFamily="34" charset="-120"/>
              </a:rPr>
              <a:t>START WITH  /  PLAN BEFORE EDITING</a:t>
            </a:r>
            <a:endParaRPr lang="en-US" sz="975" dirty="0"/>
          </a:p>
        </p:txBody>
      </p:sp>
      <p:sp>
        <p:nvSpPr>
          <p:cNvPr id="18" name="slide-07-prompt-text"/>
          <p:cNvSpPr txBox="1"/>
          <p:nvPr/>
        </p:nvSpPr>
        <p:spPr>
          <a:xfrm>
            <a:off x="7143750" y="3562350"/>
            <a:ext cx="4000500" cy="2095500"/>
          </a:xfrm>
          <a:prstGeom prst="rect">
            <a:avLst/>
          </a:prstGeom>
          <a:noFill/>
          <a:ln/>
        </p:spPr>
        <p:txBody>
          <a:bodyPr wrap="square" lIns="0" tIns="0" rIns="0" bIns="0" rtlCol="0" anchor="t"/>
          <a:lstStyle/>
          <a:p>
            <a:pPr algn="l" indent="0" marL="0">
              <a:lnSpc>
                <a:spcPts val="2663"/>
              </a:lnSpc>
              <a:buNone/>
            </a:pPr>
            <a:r>
              <a:rPr lang="en-US" sz="1875" dirty="0">
                <a:solidFill>
                  <a:srgbClr val="0A0A0A"/>
                </a:solidFill>
                <a:latin typeface="Courier New" pitchFamily="34" charset="0"/>
                <a:ea typeface="Courier New" pitchFamily="34" charset="-122"/>
                <a:cs typeface="Courier New" pitchFamily="34" charset="-120"/>
              </a:rPr>
              <a:t>“Summarize this project's</a:t>
            </a:r>
            <a:endParaRPr lang="en-US" sz="1875" dirty="0"/>
          </a:p>
          <a:p>
            <a:pPr algn="l" indent="0" marL="0">
              <a:lnSpc>
                <a:spcPts val="2663"/>
              </a:lnSpc>
              <a:buNone/>
            </a:pPr>
            <a:r>
              <a:rPr lang="en-US" sz="1875" dirty="0">
                <a:solidFill>
                  <a:srgbClr val="0A0A0A"/>
                </a:solidFill>
                <a:latin typeface="Courier New" pitchFamily="34" charset="0"/>
                <a:ea typeface="Courier New" pitchFamily="34" charset="-122"/>
                <a:cs typeface="Courier New" pitchFamily="34" charset="-120"/>
              </a:rPr>
              <a:t>structure and propose a</a:t>
            </a:r>
            <a:endParaRPr lang="en-US" sz="1875" dirty="0"/>
          </a:p>
          <a:p>
            <a:pPr algn="l" indent="0" marL="0">
              <a:lnSpc>
                <a:spcPts val="2663"/>
              </a:lnSpc>
              <a:buNone/>
            </a:pPr>
            <a:r>
              <a:rPr lang="en-US" sz="1875" dirty="0">
                <a:solidFill>
                  <a:srgbClr val="0A0A0A"/>
                </a:solidFill>
                <a:latin typeface="Courier New" pitchFamily="34" charset="0"/>
                <a:ea typeface="Courier New" pitchFamily="34" charset="-122"/>
                <a:cs typeface="Courier New" pitchFamily="34" charset="-120"/>
              </a:rPr>
              <a:t>page plan. Do not edit</a:t>
            </a:r>
            <a:endParaRPr lang="en-US" sz="1875" dirty="0"/>
          </a:p>
          <a:p>
            <a:pPr algn="l" indent="0" marL="0">
              <a:lnSpc>
                <a:spcPts val="2663"/>
              </a:lnSpc>
              <a:buNone/>
            </a:pPr>
            <a:r>
              <a:rPr lang="en-US" sz="1875" dirty="0">
                <a:solidFill>
                  <a:srgbClr val="0A0A0A"/>
                </a:solidFill>
                <a:latin typeface="Courier New" pitchFamily="34" charset="0"/>
                <a:ea typeface="Courier New" pitchFamily="34" charset="-122"/>
                <a:cs typeface="Courier New" pitchFamily="34" charset="-120"/>
              </a:rPr>
              <a:t>files yet.”</a:t>
            </a:r>
            <a:endParaRPr lang="en-US" sz="1875" dirty="0"/>
          </a:p>
        </p:txBody>
      </p:sp>
      <p:sp>
        <p:nvSpPr>
          <p:cNvPr id="19" name="slide-07-footer-rule"/>
          <p:cNvSpPr/>
          <p:nvPr/>
        </p:nvSpPr>
        <p:spPr>
          <a:xfrm>
            <a:off x="762000" y="6343650"/>
            <a:ext cx="10668000" cy="9525"/>
          </a:xfrm>
          <a:prstGeom prst="rect">
            <a:avLst/>
          </a:prstGeom>
          <a:solidFill>
            <a:srgbClr val="333333"/>
          </a:solidFill>
          <a:ln w="12700">
            <a:solidFill>
              <a:srgbClr val="333333">
                <a:alpha val="0"/>
              </a:srgbClr>
            </a:solidFill>
            <a:prstDash val="solid"/>
          </a:ln>
        </p:spPr>
      </p:sp>
      <p:sp>
        <p:nvSpPr>
          <p:cNvPr id="20" name="slide-07-footer"/>
          <p:cNvSpPr txBox="1"/>
          <p:nvPr/>
        </p:nvSpPr>
        <p:spPr>
          <a:xfrm>
            <a:off x="762000" y="6505575"/>
            <a:ext cx="8096250" cy="171450"/>
          </a:xfrm>
          <a:prstGeom prst="rect">
            <a:avLst/>
          </a:prstGeom>
          <a:noFill/>
          <a:ln/>
        </p:spPr>
        <p:txBody>
          <a:bodyPr wrap="square" lIns="0" tIns="0" rIns="0" bIns="0" rtlCol="0" anchor="t"/>
          <a:lstStyle/>
          <a:p>
            <a:pPr algn="l" indent="0" marL="0">
              <a:lnSpc>
                <a:spcPts val="908"/>
              </a:lnSpc>
              <a:buNone/>
            </a:pPr>
            <a:r>
              <a:rPr lang="en-US" sz="825" spc="75" kern="0" dirty="0">
                <a:solidFill>
                  <a:srgbClr val="A3A3A3"/>
                </a:solidFill>
                <a:latin typeface="Courier New" pitchFamily="34" charset="0"/>
                <a:ea typeface="Courier New" pitchFamily="34" charset="-122"/>
                <a:cs typeface="Courier New" pitchFamily="34" charset="-120"/>
              </a:rPr>
              <a:t>CLAUDE CODE  /  RECOMMENDED PREPARATION</a:t>
            </a:r>
            <a:endParaRPr lang="en-US" sz="825" dirty="0"/>
          </a:p>
        </p:txBody>
      </p:sp>
      <p:sp>
        <p:nvSpPr>
          <p:cNvPr id="21" name="slide-07-page-index"/>
          <p:cNvSpPr txBox="1"/>
          <p:nvPr/>
        </p:nvSpPr>
        <p:spPr>
          <a:xfrm>
            <a:off x="10477500" y="6505575"/>
            <a:ext cx="952500" cy="171450"/>
          </a:xfrm>
          <a:prstGeom prst="rect">
            <a:avLst/>
          </a:prstGeom>
          <a:noFill/>
          <a:ln/>
        </p:spPr>
        <p:txBody>
          <a:bodyPr wrap="square" lIns="0" tIns="0" rIns="0" bIns="0" rtlCol="0" anchor="t"/>
          <a:lstStyle/>
          <a:p>
            <a:pPr algn="r" indent="0" marL="0">
              <a:lnSpc>
                <a:spcPts val="908"/>
              </a:lnSpc>
              <a:buNone/>
            </a:pPr>
            <a:r>
              <a:rPr lang="en-US" sz="825" spc="75" kern="0" dirty="0">
                <a:solidFill>
                  <a:srgbClr val="A3A3A3"/>
                </a:solidFill>
                <a:latin typeface="Courier New" pitchFamily="34" charset="0"/>
                <a:ea typeface="Courier New" pitchFamily="34" charset="-122"/>
                <a:cs typeface="Courier New" pitchFamily="34" charset="-120"/>
              </a:rPr>
              <a:t>07 / 20</a:t>
            </a:r>
            <a:endParaRPr lang="en-US" sz="825"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A0A0A"/>
        </a:solidFill>
      </p:bgPr>
    </p:bg>
    <p:spTree>
      <p:nvGrpSpPr>
        <p:cNvPr id="1" name=""/>
        <p:cNvGrpSpPr/>
        <p:nvPr/>
      </p:nvGrpSpPr>
      <p:grpSpPr>
        <a:xfrm>
          <a:off x="0" y="0"/>
          <a:ext cx="0" cy="0"/>
          <a:chOff x="0" y="0"/>
          <a:chExt cx="0" cy="0"/>
        </a:xfrm>
      </p:grpSpPr>
      <p:sp>
        <p:nvSpPr>
          <p:cNvPr id="3" name="slide-08-eyebrow"/>
          <p:cNvSpPr txBox="1"/>
          <p:nvPr/>
        </p:nvSpPr>
        <p:spPr>
          <a:xfrm>
            <a:off x="609600" y="304800"/>
            <a:ext cx="9525000" cy="228600"/>
          </a:xfrm>
          <a:prstGeom prst="rect">
            <a:avLst/>
          </a:prstGeom>
          <a:noFill/>
          <a:ln/>
        </p:spPr>
        <p:txBody>
          <a:bodyPr wrap="square" lIns="0" tIns="0" rIns="0" bIns="0" rtlCol="0" anchor="t"/>
          <a:lstStyle/>
          <a:p>
            <a:pPr algn="l" indent="0" marL="0">
              <a:lnSpc>
                <a:spcPts val="1170"/>
              </a:lnSpc>
              <a:buNone/>
            </a:pPr>
            <a:r>
              <a:rPr lang="en-US" sz="975" spc="98" kern="0" dirty="0">
                <a:solidFill>
                  <a:srgbClr val="A3A3A3"/>
                </a:solidFill>
                <a:latin typeface="Courier New" pitchFamily="34" charset="0"/>
                <a:ea typeface="Courier New" pitchFamily="34" charset="-122"/>
                <a:cs typeface="Courier New" pitchFamily="34" charset="-120"/>
              </a:rPr>
              <a:t>CLAUDE CODE   /   FIRST-BUILD PROMPT</a:t>
            </a:r>
            <a:endParaRPr lang="en-US" sz="975" dirty="0"/>
          </a:p>
        </p:txBody>
      </p:sp>
      <p:sp>
        <p:nvSpPr>
          <p:cNvPr id="4" name="slide-08-title"/>
          <p:cNvSpPr txBox="1"/>
          <p:nvPr/>
        </p:nvSpPr>
        <p:spPr>
          <a:xfrm>
            <a:off x="609600" y="781050"/>
            <a:ext cx="10972800" cy="1066800"/>
          </a:xfrm>
          <a:prstGeom prst="rect">
            <a:avLst/>
          </a:prstGeom>
          <a:noFill/>
          <a:ln/>
        </p:spPr>
        <p:txBody>
          <a:bodyPr wrap="square" lIns="0" tIns="0" rIns="0" bIns="0" rtlCol="0" anchor="t"/>
          <a:lstStyle/>
          <a:p>
            <a:pPr algn="l" indent="0" marL="0">
              <a:lnSpc>
                <a:spcPts val="3888"/>
              </a:lnSpc>
              <a:buNone/>
            </a:pPr>
            <a:r>
              <a:rPr lang="en-US" sz="3600" spc="-90" kern="0" dirty="0">
                <a:solidFill>
                  <a:srgbClr val="FFFFFF"/>
                </a:solidFill>
                <a:latin typeface="Arial" pitchFamily="34" charset="0"/>
                <a:ea typeface="Arial" pitchFamily="34" charset="-122"/>
                <a:cs typeface="Arial" pitchFamily="34" charset="-120"/>
              </a:rPr>
              <a:t>Give your first-build prompt</a:t>
            </a:r>
            <a:endParaRPr lang="en-US" sz="3600" dirty="0"/>
          </a:p>
          <a:p>
            <a:pPr algn="l" indent="0" marL="0">
              <a:lnSpc>
                <a:spcPts val="3888"/>
              </a:lnSpc>
              <a:buNone/>
            </a:pPr>
            <a:r>
              <a:rPr lang="en-US" sz="3600" spc="-90" kern="0" dirty="0">
                <a:solidFill>
                  <a:srgbClr val="FFFFFF"/>
                </a:solidFill>
                <a:latin typeface="Arial" pitchFamily="34" charset="0"/>
                <a:ea typeface="Arial" pitchFamily="34" charset="-122"/>
                <a:cs typeface="Arial" pitchFamily="34" charset="-120"/>
              </a:rPr>
              <a:t>a finish line</a:t>
            </a:r>
            <a:endParaRPr lang="en-US" sz="3600" dirty="0"/>
          </a:p>
        </p:txBody>
      </p:sp>
      <p:sp>
        <p:nvSpPr>
          <p:cNvPr id="5" name="slide-08-lead"/>
          <p:cNvSpPr txBox="1"/>
          <p:nvPr/>
        </p:nvSpPr>
        <p:spPr>
          <a:xfrm>
            <a:off x="609600" y="1905000"/>
            <a:ext cx="10972800" cy="285750"/>
          </a:xfrm>
          <a:prstGeom prst="rect">
            <a:avLst/>
          </a:prstGeom>
          <a:noFill/>
          <a:ln/>
        </p:spPr>
        <p:txBody>
          <a:bodyPr wrap="square" lIns="0" tIns="0" rIns="0" bIns="0" rtlCol="0" anchor="t"/>
          <a:lstStyle/>
          <a:p>
            <a:pPr algn="l" indent="0" marL="0">
              <a:lnSpc>
                <a:spcPts val="1969"/>
              </a:lnSpc>
              <a:buNone/>
            </a:pPr>
            <a:r>
              <a:rPr lang="en-US" sz="1575" dirty="0">
                <a:solidFill>
                  <a:srgbClr val="A3A3A3"/>
                </a:solidFill>
                <a:latin typeface="Arial" pitchFamily="34" charset="0"/>
                <a:ea typeface="Arial" pitchFamily="34" charset="-122"/>
                <a:cs typeface="Arial" pitchFamily="34" charset="-120"/>
              </a:rPr>
              <a:t>Define the scope, design rules, content limits, and checks before editing.</a:t>
            </a:r>
            <a:endParaRPr lang="en-US" sz="1575" dirty="0"/>
          </a:p>
        </p:txBody>
      </p:sp>
      <p:sp>
        <p:nvSpPr>
          <p:cNvPr id="6" name="slide-08-prompt-frame"/>
          <p:cNvSpPr/>
          <p:nvPr/>
        </p:nvSpPr>
        <p:spPr>
          <a:xfrm>
            <a:off x="609600" y="2362200"/>
            <a:ext cx="10972800" cy="3752850"/>
          </a:xfrm>
          <a:prstGeom prst="roundRect">
            <a:avLst>
              <a:gd name="adj" fmla="val 508"/>
            </a:avLst>
          </a:prstGeom>
          <a:solidFill>
            <a:srgbClr val="111111"/>
          </a:solidFill>
          <a:ln w="9525">
            <a:solidFill>
              <a:srgbClr val="383838"/>
            </a:solidFill>
            <a:prstDash val="solid"/>
          </a:ln>
        </p:spPr>
      </p:sp>
      <p:sp>
        <p:nvSpPr>
          <p:cNvPr id="7" name="slide-08-rule"/>
          <p:cNvSpPr/>
          <p:nvPr/>
        </p:nvSpPr>
        <p:spPr>
          <a:xfrm>
            <a:off x="2571750" y="2552700"/>
            <a:ext cx="9525" cy="3352800"/>
          </a:xfrm>
          <a:prstGeom prst="rect">
            <a:avLst/>
          </a:prstGeom>
          <a:solidFill>
            <a:srgbClr val="383838"/>
          </a:solidFill>
          <a:ln w="12700">
            <a:solidFill>
              <a:srgbClr val="383838">
                <a:alpha val="0"/>
              </a:srgbClr>
            </a:solidFill>
            <a:prstDash val="solid"/>
          </a:ln>
        </p:spPr>
      </p:sp>
      <p:sp>
        <p:nvSpPr>
          <p:cNvPr id="8" name="slide-08-body"/>
          <p:cNvSpPr txBox="1"/>
          <p:nvPr/>
        </p:nvSpPr>
        <p:spPr>
          <a:xfrm>
            <a:off x="2838450" y="2552700"/>
            <a:ext cx="8458200" cy="3429000"/>
          </a:xfrm>
          <a:prstGeom prst="rect">
            <a:avLst/>
          </a:prstGeom>
          <a:noFill/>
          <a:ln/>
        </p:spPr>
        <p:txBody>
          <a:bodyPr wrap="square" lIns="0" tIns="0" rIns="0" bIns="0" rtlCol="0" anchor="t"/>
          <a:lstStyle/>
          <a:p>
            <a:pPr algn="l" indent="0" marL="0">
              <a:lnSpc>
                <a:spcPts val="2063"/>
              </a:lnSpc>
              <a:buNone/>
            </a:pPr>
            <a:r>
              <a:rPr lang="en-US" sz="1650" dirty="0">
                <a:solidFill>
                  <a:srgbClr val="F5F5F5"/>
                </a:solidFill>
                <a:latin typeface="Arial" pitchFamily="34" charset="0"/>
                <a:ea typeface="Arial" pitchFamily="34" charset="-122"/>
                <a:cs typeface="Arial" pitchFamily="34" charset="-120"/>
              </a:rPr>
              <a:t>Build a one-page creative-studio website using the existing project stack.</a:t>
            </a:r>
            <a:endParaRPr lang="en-US" sz="1650" dirty="0"/>
          </a:p>
          <a:p>
            <a:pPr algn="l" indent="0" marL="0">
              <a:lnSpc>
                <a:spcPts val="2063"/>
              </a:lnSpc>
              <a:buNone/>
            </a:pPr>
            <a:endParaRPr lang="en-US" sz="1650" dirty="0"/>
          </a:p>
          <a:p>
            <a:pPr algn="l" indent="0" marL="0">
              <a:lnSpc>
                <a:spcPts val="2063"/>
              </a:lnSpc>
              <a:buNone/>
            </a:pPr>
            <a:r>
              <a:rPr lang="en-US" sz="1650" dirty="0">
                <a:solidFill>
                  <a:srgbClr val="F5F5F5"/>
                </a:solidFill>
                <a:latin typeface="Arial" pitchFamily="34" charset="0"/>
                <a:ea typeface="Arial" pitchFamily="34" charset="-122"/>
                <a:cs typeface="Arial" pitchFamily="34" charset="-120"/>
              </a:rPr>
              <a:t>Include a hero, selected work, services, process,</a:t>
            </a:r>
            <a:endParaRPr lang="en-US" sz="1650" dirty="0"/>
          </a:p>
          <a:p>
            <a:pPr algn="l" indent="0" marL="0">
              <a:lnSpc>
                <a:spcPts val="2063"/>
              </a:lnSpc>
              <a:buNone/>
            </a:pPr>
            <a:r>
              <a:rPr lang="en-US" sz="1650" dirty="0">
                <a:solidFill>
                  <a:srgbClr val="F5F5F5"/>
                </a:solidFill>
                <a:latin typeface="Arial" pitchFamily="34" charset="0"/>
                <a:ea typeface="Arial" pitchFamily="34" charset="-122"/>
                <a:cs typeface="Arial" pitchFamily="34" charset="-120"/>
              </a:rPr>
              <a:t>and project-inquiry section.</a:t>
            </a:r>
            <a:endParaRPr lang="en-US" sz="1650" dirty="0"/>
          </a:p>
          <a:p>
            <a:pPr algn="l" indent="0" marL="0">
              <a:lnSpc>
                <a:spcPts val="2063"/>
              </a:lnSpc>
              <a:buNone/>
            </a:pPr>
            <a:endParaRPr lang="en-US" sz="1650" dirty="0"/>
          </a:p>
          <a:p>
            <a:pPr algn="l" indent="0" marL="0">
              <a:lnSpc>
                <a:spcPts val="2063"/>
              </a:lnSpc>
              <a:buNone/>
            </a:pPr>
            <a:r>
              <a:rPr lang="en-US" sz="1650" dirty="0">
                <a:solidFill>
                  <a:srgbClr val="F5F5F5"/>
                </a:solidFill>
                <a:latin typeface="Arial" pitchFamily="34" charset="0"/>
                <a:ea typeface="Arial" pitchFamily="34" charset="-122"/>
                <a:cs typeface="Arial" pitchFamily="34" charset="-120"/>
              </a:rPr>
              <a:t>Use only near-black, white, and gray, with clear heading levels,</a:t>
            </a:r>
            <a:endParaRPr lang="en-US" sz="1650" dirty="0"/>
          </a:p>
          <a:p>
            <a:pPr algn="l" indent="0" marL="0">
              <a:lnSpc>
                <a:spcPts val="2063"/>
              </a:lnSpc>
              <a:buNone/>
            </a:pPr>
            <a:r>
              <a:rPr lang="en-US" sz="1650" dirty="0">
                <a:solidFill>
                  <a:srgbClr val="F5F5F5"/>
                </a:solidFill>
                <a:latin typeface="Arial" pitchFamily="34" charset="0"/>
                <a:ea typeface="Arial" pitchFamily="34" charset="-122"/>
                <a:cs typeface="Arial" pitchFamily="34" charset="-120"/>
              </a:rPr>
              <a:t>generous spacing, and subtle fades.</a:t>
            </a:r>
            <a:endParaRPr lang="en-US" sz="1650" dirty="0"/>
          </a:p>
          <a:p>
            <a:pPr algn="l" indent="0" marL="0">
              <a:lnSpc>
                <a:spcPts val="2063"/>
              </a:lnSpc>
              <a:buNone/>
            </a:pPr>
            <a:endParaRPr lang="en-US" sz="1650" dirty="0"/>
          </a:p>
          <a:p>
            <a:pPr algn="l" indent="0" marL="0">
              <a:lnSpc>
                <a:spcPts val="2063"/>
              </a:lnSpc>
              <a:buNone/>
            </a:pPr>
            <a:r>
              <a:rPr lang="en-US" sz="1650" dirty="0">
                <a:solidFill>
                  <a:srgbClr val="F5F5F5"/>
                </a:solidFill>
                <a:latin typeface="Arial" pitchFamily="34" charset="0"/>
                <a:ea typeface="Arial" pitchFamily="34" charset="-122"/>
                <a:cs typeface="Arial" pitchFamily="34" charset="-120"/>
              </a:rPr>
              <a:t>Use approved content or clearly marked placeholders.</a:t>
            </a:r>
            <a:endParaRPr lang="en-US" sz="1650" dirty="0"/>
          </a:p>
          <a:p>
            <a:pPr algn="l" indent="0" marL="0">
              <a:lnSpc>
                <a:spcPts val="2063"/>
              </a:lnSpc>
              <a:buNone/>
            </a:pPr>
            <a:r>
              <a:rPr lang="en-US" sz="1650" dirty="0">
                <a:solidFill>
                  <a:srgbClr val="F5F5F5"/>
                </a:solidFill>
                <a:latin typeface="Arial" pitchFamily="34" charset="0"/>
                <a:ea typeface="Arial" pitchFamily="34" charset="-122"/>
                <a:cs typeface="Arial" pitchFamily="34" charset="-120"/>
              </a:rPr>
              <a:t>Do not invent clients or reviews.</a:t>
            </a:r>
            <a:endParaRPr lang="en-US" sz="1650" dirty="0"/>
          </a:p>
          <a:p>
            <a:pPr algn="l" indent="0" marL="0">
              <a:lnSpc>
                <a:spcPts val="2063"/>
              </a:lnSpc>
              <a:buNone/>
            </a:pPr>
            <a:endParaRPr lang="en-US" sz="1650" dirty="0"/>
          </a:p>
          <a:p>
            <a:pPr algn="l" indent="0" marL="0">
              <a:lnSpc>
                <a:spcPts val="2063"/>
              </a:lnSpc>
              <a:buNone/>
            </a:pPr>
            <a:r>
              <a:rPr lang="en-US" sz="1650" dirty="0">
                <a:solidFill>
                  <a:srgbClr val="F5F5F5"/>
                </a:solidFill>
                <a:latin typeface="Arial" pitchFamily="34" charset="0"/>
                <a:ea typeface="Arial" pitchFamily="34" charset="-122"/>
                <a:cs typeface="Arial" pitchFamily="34" charset="-120"/>
              </a:rPr>
              <a:t>Before editing, outline the plan. Afterward, summarize changes</a:t>
            </a:r>
            <a:endParaRPr lang="en-US" sz="1650" dirty="0"/>
          </a:p>
          <a:p>
            <a:pPr algn="l" indent="0" marL="0">
              <a:lnSpc>
                <a:spcPts val="2063"/>
              </a:lnSpc>
              <a:buNone/>
            </a:pPr>
            <a:r>
              <a:rPr lang="en-US" sz="1650" dirty="0">
                <a:solidFill>
                  <a:srgbClr val="F5F5F5"/>
                </a:solidFill>
                <a:latin typeface="Arial" pitchFamily="34" charset="0"/>
                <a:ea typeface="Arial" pitchFamily="34" charset="-122"/>
                <a:cs typeface="Arial" pitchFamily="34" charset="-120"/>
              </a:rPr>
              <a:t>and checks performed.</a:t>
            </a:r>
            <a:endParaRPr lang="en-US" sz="1650" dirty="0"/>
          </a:p>
        </p:txBody>
      </p:sp>
      <p:sp>
        <p:nvSpPr>
          <p:cNvPr id="9" name="slide-08-scope-label"/>
          <p:cNvSpPr txBox="1"/>
          <p:nvPr/>
        </p:nvSpPr>
        <p:spPr>
          <a:xfrm>
            <a:off x="838200" y="2600325"/>
            <a:ext cx="1543050" cy="209550"/>
          </a:xfrm>
          <a:prstGeom prst="rect">
            <a:avLst/>
          </a:prstGeom>
          <a:noFill/>
          <a:ln/>
        </p:spPr>
        <p:txBody>
          <a:bodyPr wrap="square" lIns="0" tIns="0" rIns="0" bIns="0" rtlCol="0" anchor="t"/>
          <a:lstStyle/>
          <a:p>
            <a:pPr algn="l" indent="0" marL="0">
              <a:lnSpc>
                <a:spcPts val="1260"/>
              </a:lnSpc>
              <a:buNone/>
            </a:pPr>
            <a:r>
              <a:rPr lang="en-US" sz="1050" dirty="0">
                <a:solidFill>
                  <a:srgbClr val="A3A3A3"/>
                </a:solidFill>
                <a:latin typeface="Courier New" pitchFamily="34" charset="0"/>
                <a:ea typeface="Courier New" pitchFamily="34" charset="-122"/>
                <a:cs typeface="Courier New" pitchFamily="34" charset="-120"/>
              </a:rPr>
              <a:t>01 / SCOPE</a:t>
            </a:r>
            <a:endParaRPr lang="en-US" sz="1050" dirty="0"/>
          </a:p>
        </p:txBody>
      </p:sp>
      <p:sp>
        <p:nvSpPr>
          <p:cNvPr id="10" name="slide-08-sections-label"/>
          <p:cNvSpPr txBox="1"/>
          <p:nvPr/>
        </p:nvSpPr>
        <p:spPr>
          <a:xfrm>
            <a:off x="838200" y="3124200"/>
            <a:ext cx="1543050" cy="209550"/>
          </a:xfrm>
          <a:prstGeom prst="rect">
            <a:avLst/>
          </a:prstGeom>
          <a:noFill/>
          <a:ln/>
        </p:spPr>
        <p:txBody>
          <a:bodyPr wrap="square" lIns="0" tIns="0" rIns="0" bIns="0" rtlCol="0" anchor="t"/>
          <a:lstStyle/>
          <a:p>
            <a:pPr algn="l" indent="0" marL="0">
              <a:lnSpc>
                <a:spcPts val="1260"/>
              </a:lnSpc>
              <a:buNone/>
            </a:pPr>
            <a:r>
              <a:rPr lang="en-US" sz="1050" dirty="0">
                <a:solidFill>
                  <a:srgbClr val="A3A3A3"/>
                </a:solidFill>
                <a:latin typeface="Courier New" pitchFamily="34" charset="0"/>
                <a:ea typeface="Courier New" pitchFamily="34" charset="-122"/>
                <a:cs typeface="Courier New" pitchFamily="34" charset="-120"/>
              </a:rPr>
              <a:t>02 / SECTIONS</a:t>
            </a:r>
            <a:endParaRPr lang="en-US" sz="1050" dirty="0"/>
          </a:p>
        </p:txBody>
      </p:sp>
      <p:sp>
        <p:nvSpPr>
          <p:cNvPr id="11" name="slide-08-style-label"/>
          <p:cNvSpPr txBox="1"/>
          <p:nvPr/>
        </p:nvSpPr>
        <p:spPr>
          <a:xfrm>
            <a:off x="838200" y="3910012"/>
            <a:ext cx="1543050" cy="209550"/>
          </a:xfrm>
          <a:prstGeom prst="rect">
            <a:avLst/>
          </a:prstGeom>
          <a:noFill/>
          <a:ln/>
        </p:spPr>
        <p:txBody>
          <a:bodyPr wrap="square" lIns="0" tIns="0" rIns="0" bIns="0" rtlCol="0" anchor="t"/>
          <a:lstStyle/>
          <a:p>
            <a:pPr algn="l" indent="0" marL="0">
              <a:lnSpc>
                <a:spcPts val="1260"/>
              </a:lnSpc>
              <a:buNone/>
            </a:pPr>
            <a:r>
              <a:rPr lang="en-US" sz="1050" dirty="0">
                <a:solidFill>
                  <a:srgbClr val="A3A3A3"/>
                </a:solidFill>
                <a:latin typeface="Courier New" pitchFamily="34" charset="0"/>
                <a:ea typeface="Courier New" pitchFamily="34" charset="-122"/>
                <a:cs typeface="Courier New" pitchFamily="34" charset="-120"/>
              </a:rPr>
              <a:t>03 / STYLE</a:t>
            </a:r>
            <a:endParaRPr lang="en-US" sz="1050" dirty="0"/>
          </a:p>
        </p:txBody>
      </p:sp>
      <p:sp>
        <p:nvSpPr>
          <p:cNvPr id="12" name="slide-08-content-label"/>
          <p:cNvSpPr txBox="1"/>
          <p:nvPr/>
        </p:nvSpPr>
        <p:spPr>
          <a:xfrm>
            <a:off x="838200" y="4695825"/>
            <a:ext cx="1543050" cy="209550"/>
          </a:xfrm>
          <a:prstGeom prst="rect">
            <a:avLst/>
          </a:prstGeom>
          <a:noFill/>
          <a:ln/>
        </p:spPr>
        <p:txBody>
          <a:bodyPr wrap="square" lIns="0" tIns="0" rIns="0" bIns="0" rtlCol="0" anchor="t"/>
          <a:lstStyle/>
          <a:p>
            <a:pPr algn="l" indent="0" marL="0">
              <a:lnSpc>
                <a:spcPts val="1260"/>
              </a:lnSpc>
              <a:buNone/>
            </a:pPr>
            <a:r>
              <a:rPr lang="en-US" sz="1050" dirty="0">
                <a:solidFill>
                  <a:srgbClr val="A3A3A3"/>
                </a:solidFill>
                <a:latin typeface="Courier New" pitchFamily="34" charset="0"/>
                <a:ea typeface="Courier New" pitchFamily="34" charset="-122"/>
                <a:cs typeface="Courier New" pitchFamily="34" charset="-120"/>
              </a:rPr>
              <a:t>04 / INTEGRITY</a:t>
            </a:r>
            <a:endParaRPr lang="en-US" sz="1050" dirty="0"/>
          </a:p>
        </p:txBody>
      </p:sp>
      <p:sp>
        <p:nvSpPr>
          <p:cNvPr id="13" name="slide-08-checks-label"/>
          <p:cNvSpPr txBox="1"/>
          <p:nvPr/>
        </p:nvSpPr>
        <p:spPr>
          <a:xfrm>
            <a:off x="838200" y="5481637"/>
            <a:ext cx="1543050" cy="209550"/>
          </a:xfrm>
          <a:prstGeom prst="rect">
            <a:avLst/>
          </a:prstGeom>
          <a:noFill/>
          <a:ln/>
        </p:spPr>
        <p:txBody>
          <a:bodyPr wrap="square" lIns="0" tIns="0" rIns="0" bIns="0" rtlCol="0" anchor="t"/>
          <a:lstStyle/>
          <a:p>
            <a:pPr algn="l" indent="0" marL="0">
              <a:lnSpc>
                <a:spcPts val="1260"/>
              </a:lnSpc>
              <a:buNone/>
            </a:pPr>
            <a:r>
              <a:rPr lang="en-US" sz="1050" dirty="0">
                <a:solidFill>
                  <a:srgbClr val="A3A3A3"/>
                </a:solidFill>
                <a:latin typeface="Courier New" pitchFamily="34" charset="0"/>
                <a:ea typeface="Courier New" pitchFamily="34" charset="-122"/>
                <a:cs typeface="Courier New" pitchFamily="34" charset="-120"/>
              </a:rPr>
              <a:t>05 / VERIFICATION</a:t>
            </a:r>
            <a:endParaRPr lang="en-US" sz="1050" dirty="0"/>
          </a:p>
        </p:txBody>
      </p:sp>
      <p:sp>
        <p:nvSpPr>
          <p:cNvPr id="14" name="slide-08-footer-rule"/>
          <p:cNvSpPr/>
          <p:nvPr/>
        </p:nvSpPr>
        <p:spPr>
          <a:xfrm>
            <a:off x="609600" y="6334125"/>
            <a:ext cx="10972800" cy="9525"/>
          </a:xfrm>
          <a:prstGeom prst="rect">
            <a:avLst/>
          </a:prstGeom>
          <a:solidFill>
            <a:srgbClr val="222222"/>
          </a:solidFill>
          <a:ln w="12700">
            <a:solidFill>
              <a:srgbClr val="222222">
                <a:alpha val="0"/>
              </a:srgbClr>
            </a:solidFill>
            <a:prstDash val="solid"/>
          </a:ln>
        </p:spPr>
      </p:sp>
      <p:sp>
        <p:nvSpPr>
          <p:cNvPr id="15" name="slide-08-footer"/>
          <p:cNvSpPr txBox="1"/>
          <p:nvPr/>
        </p:nvSpPr>
        <p:spPr>
          <a:xfrm>
            <a:off x="609600" y="6457950"/>
            <a:ext cx="9525000" cy="209550"/>
          </a:xfrm>
          <a:prstGeom prst="rect">
            <a:avLst/>
          </a:prstGeom>
          <a:noFill/>
          <a:ln/>
        </p:spPr>
        <p:txBody>
          <a:bodyPr wrap="square" lIns="0" tIns="0" rIns="0" bIns="0" rtlCol="0" anchor="t"/>
          <a:lstStyle/>
          <a:p>
            <a:pPr algn="l" indent="0" marL="0">
              <a:lnSpc>
                <a:spcPts val="1170"/>
              </a:lnSpc>
              <a:buNone/>
            </a:pPr>
            <a:r>
              <a:rPr lang="en-US" sz="975" dirty="0">
                <a:solidFill>
                  <a:srgbClr val="A3A3A3"/>
                </a:solidFill>
                <a:latin typeface="Arial" pitchFamily="34" charset="0"/>
                <a:ea typeface="Arial" pitchFamily="34" charset="-122"/>
                <a:cs typeface="Arial" pitchFamily="34" charset="-120"/>
              </a:rPr>
              <a:t>Illustrative prompt · Not executed · A report of checks is not proof of success.</a:t>
            </a:r>
            <a:endParaRPr lang="en-US" sz="975" dirty="0"/>
          </a:p>
        </p:txBody>
      </p:sp>
      <p:sp>
        <p:nvSpPr>
          <p:cNvPr id="16" name="slide-08-pagination"/>
          <p:cNvSpPr txBox="1"/>
          <p:nvPr/>
        </p:nvSpPr>
        <p:spPr>
          <a:xfrm>
            <a:off x="10534650" y="304800"/>
            <a:ext cx="1047750" cy="228600"/>
          </a:xfrm>
          <a:prstGeom prst="rect">
            <a:avLst/>
          </a:prstGeom>
          <a:noFill/>
          <a:ln/>
        </p:spPr>
        <p:txBody>
          <a:bodyPr wrap="square" lIns="0" tIns="0" rIns="0" bIns="0" rtlCol="0" anchor="t"/>
          <a:lstStyle/>
          <a:p>
            <a:pPr algn="r" indent="0" marL="0">
              <a:lnSpc>
                <a:spcPts val="1260"/>
              </a:lnSpc>
              <a:buNone/>
            </a:pPr>
            <a:r>
              <a:rPr lang="en-US" sz="1050" dirty="0">
                <a:solidFill>
                  <a:srgbClr val="A3A3A3"/>
                </a:solidFill>
                <a:latin typeface="Courier New" pitchFamily="34" charset="0"/>
                <a:ea typeface="Courier New" pitchFamily="34" charset="-122"/>
                <a:cs typeface="Courier New" pitchFamily="34" charset="-120"/>
              </a:rPr>
              <a:t>08 / 20</a:t>
            </a:r>
            <a:endParaRPr lang="en-US" sz="10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A0A0A"/>
        </a:solidFill>
      </p:bgPr>
    </p:bg>
    <p:spTree>
      <p:nvGrpSpPr>
        <p:cNvPr id="1" name=""/>
        <p:cNvGrpSpPr/>
        <p:nvPr/>
      </p:nvGrpSpPr>
      <p:grpSpPr>
        <a:xfrm>
          <a:off x="0" y="0"/>
          <a:ext cx="0" cy="0"/>
          <a:chOff x="0" y="0"/>
          <a:chExt cx="0" cy="0"/>
        </a:xfrm>
      </p:grpSpPr>
      <p:pic>
        <p:nvPicPr>
          <p:cNvPr id="3" name="slide-09-image" descr="Conceptual exploded website model: five stacked architectural slabs, smaller reusable modules, and thin connecting paths in white and charcoal.">    </p:cNvPr>
          <p:cNvPicPr>
            <a:picLocks noChangeAspect="1"/>
          </p:cNvPicPr>
          <p:nvPr/>
        </p:nvPicPr>
        <p:blipFill>
          <a:blip r:embed="rId1"/>
          <a:stretch>
            <a:fillRect/>
          </a:stretch>
        </p:blipFill>
        <p:spPr>
          <a:xfrm>
            <a:off x="0" y="0"/>
            <a:ext cx="12192000" cy="6858000"/>
          </a:xfrm>
          <a:prstGeom prst="rect">
            <a:avLst/>
          </a:prstGeom>
        </p:spPr>
      </p:pic>
      <p:sp>
        <p:nvSpPr>
          <p:cNvPr id="4" name="slide-09-left-field"/>
          <p:cNvSpPr/>
          <p:nvPr/>
        </p:nvSpPr>
        <p:spPr>
          <a:xfrm>
            <a:off x="381000" y="228600"/>
            <a:ext cx="4724400" cy="6515100"/>
          </a:xfrm>
          <a:prstGeom prst="rect">
            <a:avLst/>
          </a:prstGeom>
          <a:solidFill>
            <a:srgbClr val="0A0A0A"/>
          </a:solidFill>
          <a:ln w="12700">
            <a:solidFill>
              <a:srgbClr val="0A0A0A">
                <a:alpha val="0"/>
              </a:srgbClr>
            </a:solidFill>
            <a:prstDash val="solid"/>
          </a:ln>
        </p:spPr>
      </p:sp>
      <p:sp>
        <p:nvSpPr>
          <p:cNvPr id="5" name="slide-09-eyebrow"/>
          <p:cNvSpPr txBox="1"/>
          <p:nvPr/>
        </p:nvSpPr>
        <p:spPr>
          <a:xfrm>
            <a:off x="609600" y="323850"/>
            <a:ext cx="4381500" cy="190500"/>
          </a:xfrm>
          <a:prstGeom prst="rect">
            <a:avLst/>
          </a:prstGeom>
          <a:noFill/>
          <a:ln/>
        </p:spPr>
        <p:txBody>
          <a:bodyPr wrap="square" lIns="0" tIns="0" rIns="0" bIns="0" rtlCol="0" anchor="t"/>
          <a:lstStyle/>
          <a:p>
            <a:pPr algn="l" indent="0" marL="0">
              <a:lnSpc>
                <a:spcPts val="1170"/>
              </a:lnSpc>
              <a:buNone/>
            </a:pPr>
            <a:r>
              <a:rPr lang="en-US" sz="975" spc="120" kern="0" dirty="0">
                <a:solidFill>
                  <a:srgbClr val="A3A3A3"/>
                </a:solidFill>
                <a:latin typeface="Arial" pitchFamily="34" charset="0"/>
                <a:ea typeface="Arial" pitchFamily="34" charset="-122"/>
                <a:cs typeface="Arial" pitchFamily="34" charset="-120"/>
              </a:rPr>
              <a:t>CLAUDE CODE  /  PAGE ASSEMBLY</a:t>
            </a:r>
            <a:endParaRPr lang="en-US" sz="975" dirty="0"/>
          </a:p>
        </p:txBody>
      </p:sp>
      <p:sp>
        <p:nvSpPr>
          <p:cNvPr id="6" name="slide-09-footer-rule"/>
          <p:cNvSpPr/>
          <p:nvPr/>
        </p:nvSpPr>
        <p:spPr>
          <a:xfrm>
            <a:off x="609600" y="619125"/>
            <a:ext cx="4305300" cy="9525"/>
          </a:xfrm>
          <a:prstGeom prst="rect">
            <a:avLst/>
          </a:prstGeom>
          <a:solidFill>
            <a:srgbClr val="333333"/>
          </a:solidFill>
          <a:ln w="12700">
            <a:solidFill>
              <a:srgbClr val="333333">
                <a:alpha val="0"/>
              </a:srgbClr>
            </a:solidFill>
            <a:prstDash val="solid"/>
          </a:ln>
        </p:spPr>
      </p:sp>
      <p:sp>
        <p:nvSpPr>
          <p:cNvPr id="7" name="slide-09-title"/>
          <p:cNvSpPr txBox="1"/>
          <p:nvPr/>
        </p:nvSpPr>
        <p:spPr>
          <a:xfrm>
            <a:off x="609600" y="809625"/>
            <a:ext cx="4667250" cy="1047750"/>
          </a:xfrm>
          <a:prstGeom prst="rect">
            <a:avLst/>
          </a:prstGeom>
          <a:noFill/>
          <a:ln/>
        </p:spPr>
        <p:txBody>
          <a:bodyPr wrap="square" lIns="0" tIns="0" rIns="0" bIns="0" rtlCol="0" anchor="t"/>
          <a:lstStyle/>
          <a:p>
            <a:pPr algn="l" indent="0" marL="0">
              <a:lnSpc>
                <a:spcPts val="3696"/>
              </a:lnSpc>
              <a:buNone/>
            </a:pPr>
            <a:r>
              <a:rPr lang="en-US" sz="3300" b="1" spc="-75" kern="0" dirty="0">
                <a:solidFill>
                  <a:srgbClr val="FFFFFF"/>
                </a:solidFill>
                <a:latin typeface="Arial" pitchFamily="34" charset="0"/>
                <a:ea typeface="Arial" pitchFamily="34" charset="-122"/>
                <a:cs typeface="Arial" pitchFamily="34" charset="-120"/>
              </a:rPr>
              <a:t>Build one page</a:t>
            </a:r>
            <a:endParaRPr lang="en-US" sz="3300" dirty="0"/>
          </a:p>
          <a:p>
            <a:pPr algn="l" indent="0" marL="0">
              <a:lnSpc>
                <a:spcPts val="3696"/>
              </a:lnSpc>
              <a:buNone/>
            </a:pPr>
            <a:r>
              <a:rPr lang="en-US" sz="3300" b="1" spc="-75" kern="0" dirty="0">
                <a:solidFill>
                  <a:srgbClr val="FFFFFF"/>
                </a:solidFill>
                <a:latin typeface="Arial" pitchFamily="34" charset="0"/>
                <a:ea typeface="Arial" pitchFamily="34" charset="-122"/>
                <a:cs typeface="Arial" pitchFamily="34" charset="-120"/>
              </a:rPr>
              <a:t>section at a time</a:t>
            </a:r>
            <a:endParaRPr lang="en-US" sz="3300" dirty="0"/>
          </a:p>
        </p:txBody>
      </p:sp>
      <p:sp>
        <p:nvSpPr>
          <p:cNvPr id="8" name="slide-09-body"/>
          <p:cNvSpPr txBox="1"/>
          <p:nvPr/>
        </p:nvSpPr>
        <p:spPr>
          <a:xfrm>
            <a:off x="609600" y="2000250"/>
            <a:ext cx="4286250" cy="742950"/>
          </a:xfrm>
          <a:prstGeom prst="rect">
            <a:avLst/>
          </a:prstGeom>
          <a:noFill/>
          <a:ln/>
        </p:spPr>
        <p:txBody>
          <a:bodyPr wrap="square" lIns="0" tIns="0" rIns="0" bIns="0" rtlCol="0" anchor="t"/>
          <a:lstStyle/>
          <a:p>
            <a:pPr algn="l" indent="0" marL="0">
              <a:lnSpc>
                <a:spcPts val="1937"/>
              </a:lnSpc>
              <a:buNone/>
            </a:pPr>
            <a:r>
              <a:rPr lang="en-US" sz="1575" dirty="0">
                <a:solidFill>
                  <a:srgbClr val="D0D0D0"/>
                </a:solidFill>
                <a:latin typeface="Arial" pitchFamily="34" charset="0"/>
                <a:ea typeface="Arial" pitchFamily="34" charset="-122"/>
                <a:cs typeface="Arial" pitchFamily="34" charset="-120"/>
              </a:rPr>
              <a:t>Keep each Claude Code request focused</a:t>
            </a:r>
            <a:endParaRPr lang="en-US" sz="1575" dirty="0"/>
          </a:p>
          <a:p>
            <a:pPr algn="l" indent="0" marL="0">
              <a:lnSpc>
                <a:spcPts val="1937"/>
              </a:lnSpc>
              <a:buNone/>
            </a:pPr>
            <a:r>
              <a:rPr lang="en-US" sz="1575" dirty="0">
                <a:solidFill>
                  <a:srgbClr val="D0D0D0"/>
                </a:solidFill>
                <a:latin typeface="Arial" pitchFamily="34" charset="0"/>
                <a:ea typeface="Arial" pitchFamily="34" charset="-122"/>
                <a:cs typeface="Arial" pitchFamily="34" charset="-120"/>
              </a:rPr>
              <a:t>so you can review and revise</a:t>
            </a:r>
            <a:endParaRPr lang="en-US" sz="1575" dirty="0"/>
          </a:p>
          <a:p>
            <a:pPr algn="l" indent="0" marL="0">
              <a:lnSpc>
                <a:spcPts val="1937"/>
              </a:lnSpc>
              <a:buNone/>
            </a:pPr>
            <a:r>
              <a:rPr lang="en-US" sz="1575" dirty="0">
                <a:solidFill>
                  <a:srgbClr val="D0D0D0"/>
                </a:solidFill>
                <a:latin typeface="Arial" pitchFamily="34" charset="0"/>
                <a:ea typeface="Arial" pitchFamily="34" charset="-122"/>
                <a:cs typeface="Arial" pitchFamily="34" charset="-120"/>
              </a:rPr>
              <a:t>one specific area.</a:t>
            </a:r>
            <a:endParaRPr lang="en-US" sz="1575" dirty="0"/>
          </a:p>
        </p:txBody>
      </p:sp>
      <p:sp>
        <p:nvSpPr>
          <p:cNvPr id="9" name="slide-09-content-label"/>
          <p:cNvSpPr txBox="1"/>
          <p:nvPr/>
        </p:nvSpPr>
        <p:spPr>
          <a:xfrm>
            <a:off x="609600" y="2952750"/>
            <a:ext cx="4286250" cy="200025"/>
          </a:xfrm>
          <a:prstGeom prst="rect">
            <a:avLst/>
          </a:prstGeom>
          <a:noFill/>
          <a:ln/>
        </p:spPr>
        <p:txBody>
          <a:bodyPr wrap="square" lIns="0" tIns="0" rIns="0" bIns="0" rtlCol="0" anchor="t"/>
          <a:lstStyle/>
          <a:p>
            <a:pPr algn="l" indent="0" marL="0">
              <a:lnSpc>
                <a:spcPts val="1260"/>
              </a:lnSpc>
              <a:buNone/>
            </a:pPr>
            <a:r>
              <a:rPr lang="en-US" sz="1050" b="1" spc="75" kern="0" dirty="0">
                <a:solidFill>
                  <a:srgbClr val="A3A3A3"/>
                </a:solidFill>
                <a:latin typeface="Arial" pitchFamily="34" charset="0"/>
                <a:ea typeface="Arial" pitchFamily="34" charset="-122"/>
                <a:cs typeface="Arial" pitchFamily="34" charset="-120"/>
              </a:rPr>
              <a:t>01  CONTENT · PAGE SECTIONS</a:t>
            </a:r>
            <a:endParaRPr lang="en-US" sz="1050" dirty="0"/>
          </a:p>
        </p:txBody>
      </p:sp>
      <p:sp>
        <p:nvSpPr>
          <p:cNvPr id="10" name="slide-09-content"/>
          <p:cNvSpPr txBox="1"/>
          <p:nvPr/>
        </p:nvSpPr>
        <p:spPr>
          <a:xfrm>
            <a:off x="609600" y="3219450"/>
            <a:ext cx="4286250" cy="514350"/>
          </a:xfrm>
          <a:prstGeom prst="rect">
            <a:avLst/>
          </a:prstGeom>
          <a:noFill/>
          <a:ln/>
        </p:spPr>
        <p:txBody>
          <a:bodyPr wrap="square" lIns="0" tIns="0" rIns="0" bIns="0" rtlCol="0" anchor="t"/>
          <a:lstStyle/>
          <a:p>
            <a:pPr algn="l" indent="0" marL="0">
              <a:lnSpc>
                <a:spcPts val="1980"/>
              </a:lnSpc>
              <a:buNone/>
            </a:pPr>
            <a:r>
              <a:rPr lang="en-US" sz="1650" dirty="0">
                <a:solidFill>
                  <a:srgbClr val="FFFFFF"/>
                </a:solidFill>
                <a:latin typeface="Arial" pitchFamily="34" charset="0"/>
                <a:ea typeface="Arial" pitchFamily="34" charset="-122"/>
                <a:cs typeface="Arial" pitchFamily="34" charset="-120"/>
              </a:rPr>
              <a:t>Hero → work → services</a:t>
            </a:r>
            <a:endParaRPr lang="en-US" sz="1650" dirty="0"/>
          </a:p>
          <a:p>
            <a:pPr algn="l" indent="0" marL="0">
              <a:lnSpc>
                <a:spcPts val="1980"/>
              </a:lnSpc>
              <a:buNone/>
            </a:pPr>
            <a:r>
              <a:rPr lang="en-US" sz="1650" dirty="0">
                <a:solidFill>
                  <a:srgbClr val="FFFFFF"/>
                </a:solidFill>
                <a:latin typeface="Arial" pitchFamily="34" charset="0"/>
                <a:ea typeface="Arial" pitchFamily="34" charset="-122"/>
                <a:cs typeface="Arial" pitchFamily="34" charset="-120"/>
              </a:rPr>
              <a:t>→ process → inquiry</a:t>
            </a:r>
            <a:endParaRPr lang="en-US" sz="1650" dirty="0"/>
          </a:p>
        </p:txBody>
      </p:sp>
      <p:sp>
        <p:nvSpPr>
          <p:cNvPr id="11" name="slide-09-components-label"/>
          <p:cNvSpPr txBox="1"/>
          <p:nvPr/>
        </p:nvSpPr>
        <p:spPr>
          <a:xfrm>
            <a:off x="609600" y="3857625"/>
            <a:ext cx="4286250" cy="200025"/>
          </a:xfrm>
          <a:prstGeom prst="rect">
            <a:avLst/>
          </a:prstGeom>
          <a:noFill/>
          <a:ln/>
        </p:spPr>
        <p:txBody>
          <a:bodyPr wrap="square" lIns="0" tIns="0" rIns="0" bIns="0" rtlCol="0" anchor="t"/>
          <a:lstStyle/>
          <a:p>
            <a:pPr algn="l" indent="0" marL="0">
              <a:lnSpc>
                <a:spcPts val="1260"/>
              </a:lnSpc>
              <a:buNone/>
            </a:pPr>
            <a:r>
              <a:rPr lang="en-US" sz="1050" b="1" spc="75" kern="0" dirty="0">
                <a:solidFill>
                  <a:srgbClr val="A3A3A3"/>
                </a:solidFill>
                <a:latin typeface="Arial" pitchFamily="34" charset="0"/>
                <a:ea typeface="Arial" pitchFamily="34" charset="-122"/>
                <a:cs typeface="Arial" pitchFamily="34" charset="-120"/>
              </a:rPr>
              <a:t>02  PRESENTATION · REUSABLE PARTS</a:t>
            </a:r>
            <a:endParaRPr lang="en-US" sz="1050" dirty="0"/>
          </a:p>
        </p:txBody>
      </p:sp>
      <p:sp>
        <p:nvSpPr>
          <p:cNvPr id="12" name="slide-09-components"/>
          <p:cNvSpPr txBox="1"/>
          <p:nvPr/>
        </p:nvSpPr>
        <p:spPr>
          <a:xfrm>
            <a:off x="609600" y="4124325"/>
            <a:ext cx="4286250" cy="514350"/>
          </a:xfrm>
          <a:prstGeom prst="rect">
            <a:avLst/>
          </a:prstGeom>
          <a:noFill/>
          <a:ln/>
        </p:spPr>
        <p:txBody>
          <a:bodyPr wrap="square" lIns="0" tIns="0" rIns="0" bIns="0" rtlCol="0" anchor="t"/>
          <a:lstStyle/>
          <a:p>
            <a:pPr algn="l" indent="0" marL="0">
              <a:lnSpc>
                <a:spcPts val="1980"/>
              </a:lnSpc>
              <a:buNone/>
            </a:pPr>
            <a:r>
              <a:rPr lang="en-US" sz="1650" dirty="0">
                <a:solidFill>
                  <a:srgbClr val="FFFFFF"/>
                </a:solidFill>
                <a:latin typeface="Arial" pitchFamily="34" charset="0"/>
                <a:ea typeface="Arial" pitchFamily="34" charset="-122"/>
                <a:cs typeface="Arial" pitchFamily="34" charset="-120"/>
              </a:rPr>
              <a:t>Navigation, buttons,</a:t>
            </a:r>
            <a:endParaRPr lang="en-US" sz="1650" dirty="0"/>
          </a:p>
          <a:p>
            <a:pPr algn="l" indent="0" marL="0">
              <a:lnSpc>
                <a:spcPts val="1980"/>
              </a:lnSpc>
              <a:buNone/>
            </a:pPr>
            <a:r>
              <a:rPr lang="en-US" sz="1650" dirty="0">
                <a:solidFill>
                  <a:srgbClr val="FFFFFF"/>
                </a:solidFill>
                <a:latin typeface="Arial" pitchFamily="34" charset="0"/>
                <a:ea typeface="Arial" pitchFamily="34" charset="-122"/>
                <a:cs typeface="Arial" pitchFamily="34" charset="-120"/>
              </a:rPr>
              <a:t>project previews, form fields</a:t>
            </a:r>
            <a:endParaRPr lang="en-US" sz="1650" dirty="0"/>
          </a:p>
        </p:txBody>
      </p:sp>
      <p:sp>
        <p:nvSpPr>
          <p:cNvPr id="13" name="slide-09-behavior-label"/>
          <p:cNvSpPr txBox="1"/>
          <p:nvPr/>
        </p:nvSpPr>
        <p:spPr>
          <a:xfrm>
            <a:off x="609600" y="4762500"/>
            <a:ext cx="4286250" cy="200025"/>
          </a:xfrm>
          <a:prstGeom prst="rect">
            <a:avLst/>
          </a:prstGeom>
          <a:noFill/>
          <a:ln/>
        </p:spPr>
        <p:txBody>
          <a:bodyPr wrap="square" lIns="0" tIns="0" rIns="0" bIns="0" rtlCol="0" anchor="t"/>
          <a:lstStyle/>
          <a:p>
            <a:pPr algn="l" indent="0" marL="0">
              <a:lnSpc>
                <a:spcPts val="1260"/>
              </a:lnSpc>
              <a:buNone/>
            </a:pPr>
            <a:r>
              <a:rPr lang="en-US" sz="1050" b="1" spc="75" kern="0" dirty="0">
                <a:solidFill>
                  <a:srgbClr val="A3A3A3"/>
                </a:solidFill>
                <a:latin typeface="Arial" pitchFamily="34" charset="0"/>
                <a:ea typeface="Arial" pitchFamily="34" charset="-122"/>
                <a:cs typeface="Arial" pitchFamily="34" charset="-120"/>
              </a:rPr>
              <a:t>03  BEHAVIOR · INTERACTIONS</a:t>
            </a:r>
            <a:endParaRPr lang="en-US" sz="1050" dirty="0"/>
          </a:p>
        </p:txBody>
      </p:sp>
      <p:sp>
        <p:nvSpPr>
          <p:cNvPr id="14" name="slide-09-behavior"/>
          <p:cNvSpPr txBox="1"/>
          <p:nvPr/>
        </p:nvSpPr>
        <p:spPr>
          <a:xfrm>
            <a:off x="609600" y="5029200"/>
            <a:ext cx="4286250" cy="514350"/>
          </a:xfrm>
          <a:prstGeom prst="rect">
            <a:avLst/>
          </a:prstGeom>
          <a:noFill/>
          <a:ln/>
        </p:spPr>
        <p:txBody>
          <a:bodyPr wrap="square" lIns="0" tIns="0" rIns="0" bIns="0" rtlCol="0" anchor="t"/>
          <a:lstStyle/>
          <a:p>
            <a:pPr algn="l" indent="0" marL="0">
              <a:lnSpc>
                <a:spcPts val="1980"/>
              </a:lnSpc>
              <a:buNone/>
            </a:pPr>
            <a:r>
              <a:rPr lang="en-US" sz="1650" dirty="0">
                <a:solidFill>
                  <a:srgbClr val="FFFFFF"/>
                </a:solidFill>
                <a:latin typeface="Arial" pitchFamily="34" charset="0"/>
                <a:ea typeface="Arial" pitchFamily="34" charset="-122"/>
                <a:cs typeface="Arial" pitchFamily="34" charset="-120"/>
              </a:rPr>
              <a:t>Navigation states,</a:t>
            </a:r>
            <a:endParaRPr lang="en-US" sz="1650" dirty="0"/>
          </a:p>
          <a:p>
            <a:pPr algn="l" indent="0" marL="0">
              <a:lnSpc>
                <a:spcPts val="1980"/>
              </a:lnSpc>
              <a:buNone/>
            </a:pPr>
            <a:r>
              <a:rPr lang="en-US" sz="1650" dirty="0">
                <a:solidFill>
                  <a:srgbClr val="FFFFFF"/>
                </a:solidFill>
                <a:latin typeface="Arial" pitchFamily="34" charset="0"/>
                <a:ea typeface="Arial" pitchFamily="34" charset="-122"/>
                <a:cs typeface="Arial" pitchFamily="34" charset="-120"/>
              </a:rPr>
              <a:t>inquiry submission, motion</a:t>
            </a:r>
            <a:endParaRPr lang="en-US" sz="1650" dirty="0"/>
          </a:p>
        </p:txBody>
      </p:sp>
      <p:sp>
        <p:nvSpPr>
          <p:cNvPr id="15" name="slide-09-example-rule"/>
          <p:cNvSpPr/>
          <p:nvPr/>
        </p:nvSpPr>
        <p:spPr>
          <a:xfrm>
            <a:off x="609600" y="5686425"/>
            <a:ext cx="4305300" cy="9525"/>
          </a:xfrm>
          <a:prstGeom prst="rect">
            <a:avLst/>
          </a:prstGeom>
          <a:solidFill>
            <a:srgbClr val="333333"/>
          </a:solidFill>
          <a:ln w="12700">
            <a:solidFill>
              <a:srgbClr val="333333">
                <a:alpha val="0"/>
              </a:srgbClr>
            </a:solidFill>
            <a:prstDash val="solid"/>
          </a:ln>
        </p:spPr>
      </p:sp>
      <p:sp>
        <p:nvSpPr>
          <p:cNvPr id="16" name="slide-09-tutorial"/>
          <p:cNvSpPr txBox="1"/>
          <p:nvPr/>
        </p:nvSpPr>
        <p:spPr>
          <a:xfrm>
            <a:off x="609600" y="5819775"/>
            <a:ext cx="4305300" cy="723900"/>
          </a:xfrm>
          <a:prstGeom prst="rect">
            <a:avLst/>
          </a:prstGeom>
          <a:noFill/>
          <a:ln/>
        </p:spPr>
        <p:txBody>
          <a:bodyPr wrap="square" lIns="0" tIns="0" rIns="0" bIns="0" rtlCol="0" anchor="t"/>
          <a:lstStyle/>
          <a:p>
            <a:pPr algn="l" indent="0" marL="0">
              <a:lnSpc>
                <a:spcPts val="1755"/>
              </a:lnSpc>
              <a:buNone/>
            </a:pPr>
            <a:r>
              <a:rPr lang="en-US" sz="1350" dirty="0">
                <a:solidFill>
                  <a:srgbClr val="A3A3A3"/>
                </a:solidFill>
                <a:latin typeface="Arial" pitchFamily="34" charset="0"/>
                <a:ea typeface="Arial" pitchFamily="34" charset="-122"/>
                <a:cs typeface="Arial" pitchFamily="34" charset="-120"/>
              </a:rPr>
              <a:t>Tutorial: banner, description, scrolling</a:t>
            </a:r>
            <a:endParaRPr lang="en-US" sz="1350" dirty="0"/>
          </a:p>
          <a:p>
            <a:pPr algn="l" indent="0" marL="0">
              <a:lnSpc>
                <a:spcPts val="1755"/>
              </a:lnSpc>
              <a:buNone/>
            </a:pPr>
            <a:r>
              <a:rPr lang="en-US" sz="1350" dirty="0">
                <a:solidFill>
                  <a:srgbClr val="A3A3A3"/>
                </a:solidFill>
                <a:latin typeface="Arial" pitchFamily="34" charset="0"/>
                <a:ea typeface="Arial" pitchFamily="34" charset="-122"/>
                <a:cs typeface="Arial" pitchFamily="34" charset="-120"/>
              </a:rPr>
              <a:t>mechanism. One prompt targeted</a:t>
            </a:r>
            <a:endParaRPr lang="en-US" sz="1350" dirty="0"/>
          </a:p>
          <a:p>
            <a:pPr algn="l" indent="0" marL="0">
              <a:lnSpc>
                <a:spcPts val="1755"/>
              </a:lnSpc>
              <a:buNone/>
            </a:pPr>
            <a:r>
              <a:rPr lang="en-US" sz="1350" dirty="0">
                <a:solidFill>
                  <a:srgbClr val="A3A3A3"/>
                </a:solidFill>
                <a:latin typeface="Arial" pitchFamily="34" charset="0"/>
                <a:ea typeface="Arial" pitchFamily="34" charset="-122"/>
                <a:cs typeface="Arial" pitchFamily="34" charset="-120"/>
              </a:rPr>
              <a:t>only the description column.</a:t>
            </a:r>
            <a:endParaRPr lang="en-US" sz="1350" dirty="0"/>
          </a:p>
        </p:txBody>
      </p:sp>
      <p:sp>
        <p:nvSpPr>
          <p:cNvPr id="17" name="slide-09-footer"/>
          <p:cNvSpPr txBox="1"/>
          <p:nvPr/>
        </p:nvSpPr>
        <p:spPr>
          <a:xfrm>
            <a:off x="10820400" y="6515100"/>
            <a:ext cx="952500" cy="190500"/>
          </a:xfrm>
          <a:prstGeom prst="rect">
            <a:avLst/>
          </a:prstGeom>
          <a:noFill/>
          <a:ln/>
        </p:spPr>
        <p:txBody>
          <a:bodyPr wrap="square" lIns="0" tIns="0" rIns="0" bIns="0" rtlCol="0" anchor="t"/>
          <a:lstStyle/>
          <a:p>
            <a:pPr algn="r" indent="0" marL="0">
              <a:lnSpc>
                <a:spcPts val="1170"/>
              </a:lnSpc>
              <a:buNone/>
            </a:pPr>
            <a:r>
              <a:rPr lang="en-US" sz="975" spc="75" kern="0" dirty="0">
                <a:solidFill>
                  <a:srgbClr val="A3A3A3"/>
                </a:solidFill>
                <a:latin typeface="Arial" pitchFamily="34" charset="0"/>
                <a:ea typeface="Arial" pitchFamily="34" charset="-122"/>
                <a:cs typeface="Arial" pitchFamily="34" charset="-120"/>
              </a:rPr>
              <a:t>09 / 20</a:t>
            </a:r>
            <a:endParaRPr lang="en-US" sz="975"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A0A0A"/>
        </a:solidFill>
      </p:bgPr>
    </p:bg>
    <p:spTree>
      <p:nvGrpSpPr>
        <p:cNvPr id="1" name=""/>
        <p:cNvGrpSpPr/>
        <p:nvPr/>
      </p:nvGrpSpPr>
      <p:grpSpPr>
        <a:xfrm>
          <a:off x="0" y="0"/>
          <a:ext cx="0" cy="0"/>
          <a:chOff x="0" y="0"/>
          <a:chExt cx="0" cy="0"/>
        </a:xfrm>
      </p:grpSpPr>
      <p:sp>
        <p:nvSpPr>
          <p:cNvPr id="3" name="slide-10-eyebrow"/>
          <p:cNvSpPr txBox="1"/>
          <p:nvPr/>
        </p:nvSpPr>
        <p:spPr>
          <a:xfrm>
            <a:off x="800100" y="381000"/>
            <a:ext cx="8096250" cy="228600"/>
          </a:xfrm>
          <a:prstGeom prst="rect">
            <a:avLst/>
          </a:prstGeom>
          <a:noFill/>
          <a:ln/>
        </p:spPr>
        <p:txBody>
          <a:bodyPr wrap="square" lIns="0" tIns="0" rIns="0" bIns="0" rtlCol="0" anchor="t"/>
          <a:lstStyle/>
          <a:p>
            <a:pPr algn="l" indent="0" marL="0">
              <a:lnSpc>
                <a:spcPts val="1260"/>
              </a:lnSpc>
              <a:buNone/>
            </a:pPr>
            <a:r>
              <a:rPr lang="en-US" sz="1050" spc="150" kern="0" dirty="0">
                <a:solidFill>
                  <a:srgbClr val="A3A3A3"/>
                </a:solidFill>
                <a:latin typeface="Arial" pitchFamily="34" charset="0"/>
                <a:ea typeface="Arial" pitchFamily="34" charset="-122"/>
                <a:cs typeface="Arial" pitchFamily="34" charset="-120"/>
              </a:rPr>
              <a:t>CLAUDE CODE     /     DESIGN ITERATION</a:t>
            </a:r>
            <a:endParaRPr lang="en-US" sz="1050" dirty="0"/>
          </a:p>
        </p:txBody>
      </p:sp>
      <p:sp>
        <p:nvSpPr>
          <p:cNvPr id="4" name="slide-10-title"/>
          <p:cNvSpPr txBox="1"/>
          <p:nvPr/>
        </p:nvSpPr>
        <p:spPr>
          <a:xfrm>
            <a:off x="800100" y="1028700"/>
            <a:ext cx="10553700" cy="704850"/>
          </a:xfrm>
          <a:prstGeom prst="rect">
            <a:avLst/>
          </a:prstGeom>
          <a:noFill/>
          <a:ln/>
        </p:spPr>
        <p:txBody>
          <a:bodyPr wrap="square" lIns="0" tIns="0" rIns="0" bIns="0" rtlCol="0" anchor="t"/>
          <a:lstStyle/>
          <a:p>
            <a:pPr algn="l" indent="0" marL="0">
              <a:lnSpc>
                <a:spcPts val="4455"/>
              </a:lnSpc>
              <a:buNone/>
            </a:pPr>
            <a:r>
              <a:rPr lang="en-US" sz="4050" spc="-112" kern="0" dirty="0">
                <a:solidFill>
                  <a:srgbClr val="FFFFFF"/>
                </a:solidFill>
                <a:latin typeface="Arial" pitchFamily="34" charset="0"/>
                <a:ea typeface="Arial" pitchFamily="34" charset="-122"/>
                <a:cs typeface="Arial" pitchFamily="34" charset="-120"/>
              </a:rPr>
              <a:t>Treat the first pass as a draft</a:t>
            </a:r>
            <a:endParaRPr lang="en-US" sz="4050" dirty="0"/>
          </a:p>
        </p:txBody>
      </p:sp>
      <p:sp>
        <p:nvSpPr>
          <p:cNvPr id="5" name="slide-10-lead"/>
          <p:cNvSpPr txBox="1"/>
          <p:nvPr/>
        </p:nvSpPr>
        <p:spPr>
          <a:xfrm>
            <a:off x="800100" y="1924050"/>
            <a:ext cx="9620250" cy="590550"/>
          </a:xfrm>
          <a:prstGeom prst="rect">
            <a:avLst/>
          </a:prstGeom>
          <a:noFill/>
          <a:ln/>
        </p:spPr>
        <p:txBody>
          <a:bodyPr wrap="square" lIns="0" tIns="0" rIns="0" bIns="0" rtlCol="0" anchor="t"/>
          <a:lstStyle/>
          <a:p>
            <a:pPr algn="l" indent="0" marL="0">
              <a:lnSpc>
                <a:spcPts val="2344"/>
              </a:lnSpc>
              <a:buNone/>
            </a:pPr>
            <a:r>
              <a:rPr lang="en-US" sz="1875" dirty="0">
                <a:solidFill>
                  <a:srgbClr val="A3A3A3"/>
                </a:solidFill>
                <a:latin typeface="Arial" pitchFamily="34" charset="0"/>
                <a:ea typeface="Arial" pitchFamily="34" charset="-122"/>
                <a:cs typeface="Arial" pitchFamily="34" charset="-120"/>
              </a:rPr>
              <a:t>Let the rendered page guide your next prompt to Claude Code.</a:t>
            </a:r>
            <a:endParaRPr lang="en-US" sz="1875" dirty="0"/>
          </a:p>
        </p:txBody>
      </p:sp>
      <p:sp>
        <p:nvSpPr>
          <p:cNvPr id="6" name="slide-10-card-0"/>
          <p:cNvSpPr/>
          <p:nvPr/>
        </p:nvSpPr>
        <p:spPr>
          <a:xfrm>
            <a:off x="800100" y="3124200"/>
            <a:ext cx="2686050" cy="9525"/>
          </a:xfrm>
          <a:prstGeom prst="rect">
            <a:avLst/>
          </a:prstGeom>
          <a:solidFill>
            <a:srgbClr val="555555"/>
          </a:solidFill>
          <a:ln w="12700">
            <a:solidFill>
              <a:srgbClr val="555555">
                <a:alpha val="0"/>
              </a:srgbClr>
            </a:solidFill>
            <a:prstDash val="solid"/>
          </a:ln>
        </p:spPr>
      </p:sp>
      <p:sp>
        <p:nvSpPr>
          <p:cNvPr id="7" name="slide-10-card-1"/>
          <p:cNvSpPr/>
          <p:nvPr/>
        </p:nvSpPr>
        <p:spPr>
          <a:xfrm>
            <a:off x="3486150" y="3124200"/>
            <a:ext cx="2686050" cy="9525"/>
          </a:xfrm>
          <a:prstGeom prst="rect">
            <a:avLst/>
          </a:prstGeom>
          <a:solidFill>
            <a:srgbClr val="555555"/>
          </a:solidFill>
          <a:ln w="12700">
            <a:solidFill>
              <a:srgbClr val="555555">
                <a:alpha val="0"/>
              </a:srgbClr>
            </a:solidFill>
            <a:prstDash val="solid"/>
          </a:ln>
        </p:spPr>
      </p:sp>
      <p:sp>
        <p:nvSpPr>
          <p:cNvPr id="8" name="slide-10-card-2"/>
          <p:cNvSpPr/>
          <p:nvPr/>
        </p:nvSpPr>
        <p:spPr>
          <a:xfrm>
            <a:off x="6172200" y="3124200"/>
            <a:ext cx="2686050" cy="9525"/>
          </a:xfrm>
          <a:prstGeom prst="rect">
            <a:avLst/>
          </a:prstGeom>
          <a:solidFill>
            <a:srgbClr val="555555"/>
          </a:solidFill>
          <a:ln w="12700">
            <a:solidFill>
              <a:srgbClr val="555555">
                <a:alpha val="0"/>
              </a:srgbClr>
            </a:solidFill>
            <a:prstDash val="solid"/>
          </a:ln>
        </p:spPr>
      </p:sp>
      <p:sp>
        <p:nvSpPr>
          <p:cNvPr id="9" name="slide-10-marker-0"/>
          <p:cNvSpPr/>
          <p:nvPr/>
        </p:nvSpPr>
        <p:spPr>
          <a:xfrm>
            <a:off x="800100" y="3086100"/>
            <a:ext cx="85725" cy="85725"/>
          </a:xfrm>
          <a:prstGeom prst="rect">
            <a:avLst/>
          </a:prstGeom>
          <a:solidFill>
            <a:srgbClr val="FFFFFF"/>
          </a:solidFill>
          <a:ln w="12700">
            <a:solidFill>
              <a:srgbClr val="FFFFFF">
                <a:alpha val="0"/>
              </a:srgbClr>
            </a:solidFill>
            <a:prstDash val="solid"/>
          </a:ln>
        </p:spPr>
      </p:sp>
      <p:sp>
        <p:nvSpPr>
          <p:cNvPr id="10" name="slide-10-marker-1"/>
          <p:cNvSpPr/>
          <p:nvPr/>
        </p:nvSpPr>
        <p:spPr>
          <a:xfrm>
            <a:off x="3486150" y="3086100"/>
            <a:ext cx="85725" cy="85725"/>
          </a:xfrm>
          <a:prstGeom prst="rect">
            <a:avLst/>
          </a:prstGeom>
          <a:solidFill>
            <a:srgbClr val="FFFFFF"/>
          </a:solidFill>
          <a:ln w="12700">
            <a:solidFill>
              <a:srgbClr val="FFFFFF">
                <a:alpha val="0"/>
              </a:srgbClr>
            </a:solidFill>
            <a:prstDash val="solid"/>
          </a:ln>
        </p:spPr>
      </p:sp>
      <p:sp>
        <p:nvSpPr>
          <p:cNvPr id="11" name="slide-10-marker-2"/>
          <p:cNvSpPr/>
          <p:nvPr/>
        </p:nvSpPr>
        <p:spPr>
          <a:xfrm>
            <a:off x="6172200" y="3086100"/>
            <a:ext cx="85725" cy="85725"/>
          </a:xfrm>
          <a:prstGeom prst="rect">
            <a:avLst/>
          </a:prstGeom>
          <a:solidFill>
            <a:srgbClr val="FFFFFF"/>
          </a:solidFill>
          <a:ln w="12700">
            <a:solidFill>
              <a:srgbClr val="FFFFFF">
                <a:alpha val="0"/>
              </a:srgbClr>
            </a:solidFill>
            <a:prstDash val="solid"/>
          </a:ln>
        </p:spPr>
      </p:sp>
      <p:sp>
        <p:nvSpPr>
          <p:cNvPr id="12" name="slide-10-marker-3"/>
          <p:cNvSpPr/>
          <p:nvPr/>
        </p:nvSpPr>
        <p:spPr>
          <a:xfrm>
            <a:off x="8858250" y="3086100"/>
            <a:ext cx="85725" cy="85725"/>
          </a:xfrm>
          <a:prstGeom prst="rect">
            <a:avLst/>
          </a:prstGeom>
          <a:solidFill>
            <a:srgbClr val="FFFFFF"/>
          </a:solidFill>
          <a:ln w="12700">
            <a:solidFill>
              <a:srgbClr val="FFFFFF">
                <a:alpha val="0"/>
              </a:srgbClr>
            </a:solidFill>
            <a:prstDash val="solid"/>
          </a:ln>
        </p:spPr>
      </p:sp>
      <p:sp>
        <p:nvSpPr>
          <p:cNvPr id="13" name="slide-10-card-number-0"/>
          <p:cNvSpPr txBox="1"/>
          <p:nvPr/>
        </p:nvSpPr>
        <p:spPr>
          <a:xfrm>
            <a:off x="800100" y="2743200"/>
            <a:ext cx="2333625" cy="228600"/>
          </a:xfrm>
          <a:prstGeom prst="rect">
            <a:avLst/>
          </a:prstGeom>
          <a:noFill/>
          <a:ln/>
        </p:spPr>
        <p:txBody>
          <a:bodyPr wrap="square" lIns="0" tIns="0" rIns="0" bIns="0" rtlCol="0" anchor="t"/>
          <a:lstStyle/>
          <a:p>
            <a:pPr algn="l" indent="0" marL="0">
              <a:lnSpc>
                <a:spcPts val="1350"/>
              </a:lnSpc>
              <a:buNone/>
            </a:pPr>
            <a:r>
              <a:rPr lang="en-US" sz="1125" spc="150" kern="0" dirty="0">
                <a:solidFill>
                  <a:srgbClr val="A3A3A3"/>
                </a:solidFill>
                <a:latin typeface="Arial" pitchFamily="34" charset="0"/>
                <a:ea typeface="Arial" pitchFamily="34" charset="-122"/>
                <a:cs typeface="Arial" pitchFamily="34" charset="-120"/>
              </a:rPr>
              <a:t>01</a:t>
            </a:r>
            <a:endParaRPr lang="en-US" sz="1125" dirty="0"/>
          </a:p>
        </p:txBody>
      </p:sp>
      <p:sp>
        <p:nvSpPr>
          <p:cNvPr id="14" name="slide-10-card-number-1"/>
          <p:cNvSpPr txBox="1"/>
          <p:nvPr/>
        </p:nvSpPr>
        <p:spPr>
          <a:xfrm>
            <a:off x="3486150" y="2743200"/>
            <a:ext cx="2333625" cy="228600"/>
          </a:xfrm>
          <a:prstGeom prst="rect">
            <a:avLst/>
          </a:prstGeom>
          <a:noFill/>
          <a:ln/>
        </p:spPr>
        <p:txBody>
          <a:bodyPr wrap="square" lIns="0" tIns="0" rIns="0" bIns="0" rtlCol="0" anchor="t"/>
          <a:lstStyle/>
          <a:p>
            <a:pPr algn="l" indent="0" marL="0">
              <a:lnSpc>
                <a:spcPts val="1350"/>
              </a:lnSpc>
              <a:buNone/>
            </a:pPr>
            <a:r>
              <a:rPr lang="en-US" sz="1125" spc="150" kern="0" dirty="0">
                <a:solidFill>
                  <a:srgbClr val="A3A3A3"/>
                </a:solidFill>
                <a:latin typeface="Arial" pitchFamily="34" charset="0"/>
                <a:ea typeface="Arial" pitchFamily="34" charset="-122"/>
                <a:cs typeface="Arial" pitchFamily="34" charset="-120"/>
              </a:rPr>
              <a:t>02</a:t>
            </a:r>
            <a:endParaRPr lang="en-US" sz="1125" dirty="0"/>
          </a:p>
        </p:txBody>
      </p:sp>
      <p:sp>
        <p:nvSpPr>
          <p:cNvPr id="15" name="slide-10-card-number-2"/>
          <p:cNvSpPr txBox="1"/>
          <p:nvPr/>
        </p:nvSpPr>
        <p:spPr>
          <a:xfrm>
            <a:off x="6172200" y="2743200"/>
            <a:ext cx="2333625" cy="228600"/>
          </a:xfrm>
          <a:prstGeom prst="rect">
            <a:avLst/>
          </a:prstGeom>
          <a:noFill/>
          <a:ln/>
        </p:spPr>
        <p:txBody>
          <a:bodyPr wrap="square" lIns="0" tIns="0" rIns="0" bIns="0" rtlCol="0" anchor="t"/>
          <a:lstStyle/>
          <a:p>
            <a:pPr algn="l" indent="0" marL="0">
              <a:lnSpc>
                <a:spcPts val="1350"/>
              </a:lnSpc>
              <a:buNone/>
            </a:pPr>
            <a:r>
              <a:rPr lang="en-US" sz="1125" spc="150" kern="0" dirty="0">
                <a:solidFill>
                  <a:srgbClr val="A3A3A3"/>
                </a:solidFill>
                <a:latin typeface="Arial" pitchFamily="34" charset="0"/>
                <a:ea typeface="Arial" pitchFamily="34" charset="-122"/>
                <a:cs typeface="Arial" pitchFamily="34" charset="-120"/>
              </a:rPr>
              <a:t>03</a:t>
            </a:r>
            <a:endParaRPr lang="en-US" sz="1125" dirty="0"/>
          </a:p>
        </p:txBody>
      </p:sp>
      <p:sp>
        <p:nvSpPr>
          <p:cNvPr id="16" name="slide-10-card-number-3"/>
          <p:cNvSpPr txBox="1"/>
          <p:nvPr/>
        </p:nvSpPr>
        <p:spPr>
          <a:xfrm>
            <a:off x="8858250" y="2743200"/>
            <a:ext cx="2495550" cy="228600"/>
          </a:xfrm>
          <a:prstGeom prst="rect">
            <a:avLst/>
          </a:prstGeom>
          <a:noFill/>
          <a:ln/>
        </p:spPr>
        <p:txBody>
          <a:bodyPr wrap="square" lIns="0" tIns="0" rIns="0" bIns="0" rtlCol="0" anchor="t"/>
          <a:lstStyle/>
          <a:p>
            <a:pPr algn="l" indent="0" marL="0">
              <a:lnSpc>
                <a:spcPts val="1350"/>
              </a:lnSpc>
              <a:buNone/>
            </a:pPr>
            <a:r>
              <a:rPr lang="en-US" sz="1125" spc="150" kern="0" dirty="0">
                <a:solidFill>
                  <a:srgbClr val="A3A3A3"/>
                </a:solidFill>
                <a:latin typeface="Arial" pitchFamily="34" charset="0"/>
                <a:ea typeface="Arial" pitchFamily="34" charset="-122"/>
                <a:cs typeface="Arial" pitchFamily="34" charset="-120"/>
              </a:rPr>
              <a:t>04</a:t>
            </a:r>
            <a:endParaRPr lang="en-US" sz="1125" dirty="0"/>
          </a:p>
        </p:txBody>
      </p:sp>
      <p:sp>
        <p:nvSpPr>
          <p:cNvPr id="17" name="slide-10-step-heading-0"/>
          <p:cNvSpPr txBox="1"/>
          <p:nvPr/>
        </p:nvSpPr>
        <p:spPr>
          <a:xfrm>
            <a:off x="800100" y="3352800"/>
            <a:ext cx="2333625" cy="381000"/>
          </a:xfrm>
          <a:prstGeom prst="rect">
            <a:avLst/>
          </a:prstGeom>
          <a:noFill/>
          <a:ln/>
        </p:spPr>
        <p:txBody>
          <a:bodyPr wrap="square" lIns="0" tIns="0" rIns="0" bIns="0" rtlCol="0" anchor="t"/>
          <a:lstStyle/>
          <a:p>
            <a:pPr algn="l" indent="0" marL="0">
              <a:lnSpc>
                <a:spcPts val="2415"/>
              </a:lnSpc>
              <a:buNone/>
            </a:pPr>
            <a:r>
              <a:rPr lang="en-US" sz="2100" b="1" dirty="0">
                <a:solidFill>
                  <a:srgbClr val="FFFFFF"/>
                </a:solidFill>
                <a:latin typeface="Arial" pitchFamily="34" charset="0"/>
                <a:ea typeface="Arial" pitchFamily="34" charset="-122"/>
                <a:cs typeface="Arial" pitchFamily="34" charset="-120"/>
              </a:rPr>
              <a:t>Generate</a:t>
            </a:r>
            <a:endParaRPr lang="en-US" sz="2100" dirty="0"/>
          </a:p>
        </p:txBody>
      </p:sp>
      <p:sp>
        <p:nvSpPr>
          <p:cNvPr id="18" name="slide-10-step-heading-1"/>
          <p:cNvSpPr txBox="1"/>
          <p:nvPr/>
        </p:nvSpPr>
        <p:spPr>
          <a:xfrm>
            <a:off x="3486150" y="3352800"/>
            <a:ext cx="2333625" cy="381000"/>
          </a:xfrm>
          <a:prstGeom prst="rect">
            <a:avLst/>
          </a:prstGeom>
          <a:noFill/>
          <a:ln/>
        </p:spPr>
        <p:txBody>
          <a:bodyPr wrap="square" lIns="0" tIns="0" rIns="0" bIns="0" rtlCol="0" anchor="t"/>
          <a:lstStyle/>
          <a:p>
            <a:pPr algn="l" indent="0" marL="0">
              <a:lnSpc>
                <a:spcPts val="2415"/>
              </a:lnSpc>
              <a:buNone/>
            </a:pPr>
            <a:r>
              <a:rPr lang="en-US" sz="2100" b="1" dirty="0">
                <a:solidFill>
                  <a:srgbClr val="FFFFFF"/>
                </a:solidFill>
                <a:latin typeface="Arial" pitchFamily="34" charset="0"/>
                <a:ea typeface="Arial" pitchFamily="34" charset="-122"/>
                <a:cs typeface="Arial" pitchFamily="34" charset="-120"/>
              </a:rPr>
              <a:t>Inspect</a:t>
            </a:r>
            <a:endParaRPr lang="en-US" sz="2100" dirty="0"/>
          </a:p>
        </p:txBody>
      </p:sp>
      <p:sp>
        <p:nvSpPr>
          <p:cNvPr id="19" name="slide-10-step-heading-2"/>
          <p:cNvSpPr txBox="1"/>
          <p:nvPr/>
        </p:nvSpPr>
        <p:spPr>
          <a:xfrm>
            <a:off x="6172200" y="3352800"/>
            <a:ext cx="2333625" cy="381000"/>
          </a:xfrm>
          <a:prstGeom prst="rect">
            <a:avLst/>
          </a:prstGeom>
          <a:noFill/>
          <a:ln/>
        </p:spPr>
        <p:txBody>
          <a:bodyPr wrap="square" lIns="0" tIns="0" rIns="0" bIns="0" rtlCol="0" anchor="t"/>
          <a:lstStyle/>
          <a:p>
            <a:pPr algn="l" indent="0" marL="0">
              <a:lnSpc>
                <a:spcPts val="2415"/>
              </a:lnSpc>
              <a:buNone/>
            </a:pPr>
            <a:r>
              <a:rPr lang="en-US" sz="2100" b="1" dirty="0">
                <a:solidFill>
                  <a:srgbClr val="FFFFFF"/>
                </a:solidFill>
                <a:latin typeface="Arial" pitchFamily="34" charset="0"/>
                <a:ea typeface="Arial" pitchFamily="34" charset="-122"/>
                <a:cs typeface="Arial" pitchFamily="34" charset="-120"/>
              </a:rPr>
              <a:t>Record</a:t>
            </a:r>
            <a:endParaRPr lang="en-US" sz="2100" dirty="0"/>
          </a:p>
        </p:txBody>
      </p:sp>
      <p:sp>
        <p:nvSpPr>
          <p:cNvPr id="20" name="slide-10-step-heading-3"/>
          <p:cNvSpPr txBox="1"/>
          <p:nvPr/>
        </p:nvSpPr>
        <p:spPr>
          <a:xfrm>
            <a:off x="8858250" y="3352800"/>
            <a:ext cx="2495550" cy="381000"/>
          </a:xfrm>
          <a:prstGeom prst="rect">
            <a:avLst/>
          </a:prstGeom>
          <a:noFill/>
          <a:ln/>
        </p:spPr>
        <p:txBody>
          <a:bodyPr wrap="square" lIns="0" tIns="0" rIns="0" bIns="0" rtlCol="0" anchor="t"/>
          <a:lstStyle/>
          <a:p>
            <a:pPr algn="l" indent="0" marL="0">
              <a:lnSpc>
                <a:spcPts val="2415"/>
              </a:lnSpc>
              <a:buNone/>
            </a:pPr>
            <a:r>
              <a:rPr lang="en-US" sz="2100" b="1" dirty="0">
                <a:solidFill>
                  <a:srgbClr val="FFFFFF"/>
                </a:solidFill>
                <a:latin typeface="Arial" pitchFamily="34" charset="0"/>
                <a:ea typeface="Arial" pitchFamily="34" charset="-122"/>
                <a:cs typeface="Arial" pitchFamily="34" charset="-120"/>
              </a:rPr>
              <a:t>Revise</a:t>
            </a:r>
            <a:endParaRPr lang="en-US" sz="2100" dirty="0"/>
          </a:p>
        </p:txBody>
      </p:sp>
      <p:sp>
        <p:nvSpPr>
          <p:cNvPr id="21" name="slide-10-card-text-0"/>
          <p:cNvSpPr txBox="1"/>
          <p:nvPr/>
        </p:nvSpPr>
        <p:spPr>
          <a:xfrm>
            <a:off x="800100" y="3876675"/>
            <a:ext cx="2333625" cy="1104900"/>
          </a:xfrm>
          <a:prstGeom prst="rect">
            <a:avLst/>
          </a:prstGeom>
          <a:noFill/>
          <a:ln/>
        </p:spPr>
        <p:txBody>
          <a:bodyPr wrap="square" lIns="0" tIns="0" rIns="0" bIns="0" rtlCol="0" anchor="t"/>
          <a:lstStyle/>
          <a:p>
            <a:pPr algn="l" indent="0" marL="0">
              <a:lnSpc>
                <a:spcPts val="2228"/>
              </a:lnSpc>
              <a:buNone/>
            </a:pPr>
            <a:r>
              <a:rPr lang="en-US" sz="1650" dirty="0">
                <a:solidFill>
                  <a:srgbClr val="A3A3A3"/>
                </a:solidFill>
                <a:latin typeface="Arial" pitchFamily="34" charset="0"/>
                <a:ea typeface="Arial" pitchFamily="34" charset="-122"/>
                <a:cs typeface="Arial" pitchFamily="34" charset="-120"/>
              </a:rPr>
              <a:t>Generate a small,</a:t>
            </a:r>
            <a:endParaRPr lang="en-US" sz="1650" dirty="0"/>
          </a:p>
          <a:p>
            <a:pPr algn="l" indent="0" marL="0">
              <a:lnSpc>
                <a:spcPts val="2228"/>
              </a:lnSpc>
              <a:buNone/>
            </a:pPr>
            <a:r>
              <a:rPr lang="en-US" sz="1650" dirty="0">
                <a:solidFill>
                  <a:srgbClr val="A3A3A3"/>
                </a:solidFill>
                <a:latin typeface="Arial" pitchFamily="34" charset="0"/>
                <a:ea typeface="Arial" pitchFamily="34" charset="-122"/>
                <a:cs typeface="Arial" pitchFamily="34" charset="-120"/>
              </a:rPr>
              <a:t>focused first pass.</a:t>
            </a:r>
            <a:endParaRPr lang="en-US" sz="1650" dirty="0"/>
          </a:p>
        </p:txBody>
      </p:sp>
      <p:sp>
        <p:nvSpPr>
          <p:cNvPr id="22" name="slide-10-card-text-1"/>
          <p:cNvSpPr txBox="1"/>
          <p:nvPr/>
        </p:nvSpPr>
        <p:spPr>
          <a:xfrm>
            <a:off x="3486150" y="3876675"/>
            <a:ext cx="2333625" cy="1104900"/>
          </a:xfrm>
          <a:prstGeom prst="rect">
            <a:avLst/>
          </a:prstGeom>
          <a:noFill/>
          <a:ln/>
        </p:spPr>
        <p:txBody>
          <a:bodyPr wrap="square" lIns="0" tIns="0" rIns="0" bIns="0" rtlCol="0" anchor="t"/>
          <a:lstStyle/>
          <a:p>
            <a:pPr algn="l" indent="0" marL="0">
              <a:lnSpc>
                <a:spcPts val="2228"/>
              </a:lnSpc>
              <a:buNone/>
            </a:pPr>
            <a:r>
              <a:rPr lang="en-US" sz="1650" dirty="0">
                <a:solidFill>
                  <a:srgbClr val="A3A3A3"/>
                </a:solidFill>
                <a:latin typeface="Arial" pitchFamily="34" charset="0"/>
                <a:ea typeface="Arial" pitchFamily="34" charset="-122"/>
                <a:cs typeface="Arial" pitchFamily="34" charset="-120"/>
              </a:rPr>
              <a:t>Inspect hierarchy,</a:t>
            </a:r>
            <a:endParaRPr lang="en-US" sz="1650" dirty="0"/>
          </a:p>
          <a:p>
            <a:pPr algn="l" indent="0" marL="0">
              <a:lnSpc>
                <a:spcPts val="2228"/>
              </a:lnSpc>
              <a:buNone/>
            </a:pPr>
            <a:r>
              <a:rPr lang="en-US" sz="1650" dirty="0">
                <a:solidFill>
                  <a:srgbClr val="A3A3A3"/>
                </a:solidFill>
                <a:latin typeface="Arial" pitchFamily="34" charset="0"/>
                <a:ea typeface="Arial" pitchFamily="34" charset="-122"/>
                <a:cs typeface="Arial" pitchFamily="34" charset="-120"/>
              </a:rPr>
              <a:t>spacing, content, and</a:t>
            </a:r>
            <a:endParaRPr lang="en-US" sz="1650" dirty="0"/>
          </a:p>
          <a:p>
            <a:pPr algn="l" indent="0" marL="0">
              <a:lnSpc>
                <a:spcPts val="2228"/>
              </a:lnSpc>
              <a:buNone/>
            </a:pPr>
            <a:r>
              <a:rPr lang="en-US" sz="1650" dirty="0">
                <a:solidFill>
                  <a:srgbClr val="A3A3A3"/>
                </a:solidFill>
                <a:latin typeface="Arial" pitchFamily="34" charset="0"/>
                <a:ea typeface="Arial" pitchFamily="34" charset="-122"/>
                <a:cs typeface="Arial" pitchFamily="34" charset="-120"/>
              </a:rPr>
              <a:t>basic interactions.</a:t>
            </a:r>
            <a:endParaRPr lang="en-US" sz="1650" dirty="0"/>
          </a:p>
        </p:txBody>
      </p:sp>
      <p:sp>
        <p:nvSpPr>
          <p:cNvPr id="23" name="slide-10-card-text-2"/>
          <p:cNvSpPr txBox="1"/>
          <p:nvPr/>
        </p:nvSpPr>
        <p:spPr>
          <a:xfrm>
            <a:off x="6172200" y="3876675"/>
            <a:ext cx="2333625" cy="1104900"/>
          </a:xfrm>
          <a:prstGeom prst="rect">
            <a:avLst/>
          </a:prstGeom>
          <a:noFill/>
          <a:ln/>
        </p:spPr>
        <p:txBody>
          <a:bodyPr wrap="square" lIns="0" tIns="0" rIns="0" bIns="0" rtlCol="0" anchor="t"/>
          <a:lstStyle/>
          <a:p>
            <a:pPr algn="l" indent="0" marL="0">
              <a:lnSpc>
                <a:spcPts val="2228"/>
              </a:lnSpc>
              <a:buNone/>
            </a:pPr>
            <a:r>
              <a:rPr lang="en-US" sz="1650" dirty="0">
                <a:solidFill>
                  <a:srgbClr val="A3A3A3"/>
                </a:solidFill>
                <a:latin typeface="Arial" pitchFamily="34" charset="0"/>
                <a:ea typeface="Arial" pitchFamily="34" charset="-122"/>
                <a:cs typeface="Arial" pitchFamily="34" charset="-120"/>
              </a:rPr>
              <a:t>Record specific defects</a:t>
            </a:r>
            <a:endParaRPr lang="en-US" sz="1650" dirty="0"/>
          </a:p>
          <a:p>
            <a:pPr algn="l" indent="0" marL="0">
              <a:lnSpc>
                <a:spcPts val="2228"/>
              </a:lnSpc>
              <a:buNone/>
            </a:pPr>
            <a:r>
              <a:rPr lang="en-US" sz="1650" dirty="0">
                <a:solidFill>
                  <a:srgbClr val="A3A3A3"/>
                </a:solidFill>
                <a:latin typeface="Arial" pitchFamily="34" charset="0"/>
                <a:ea typeface="Arial" pitchFamily="34" charset="-122"/>
                <a:cs typeface="Arial" pitchFamily="34" charset="-120"/>
              </a:rPr>
              <a:t>rather than a general</a:t>
            </a:r>
            <a:endParaRPr lang="en-US" sz="1650" dirty="0"/>
          </a:p>
          <a:p>
            <a:pPr algn="l" indent="0" marL="0">
              <a:lnSpc>
                <a:spcPts val="2228"/>
              </a:lnSpc>
              <a:buNone/>
            </a:pPr>
            <a:r>
              <a:rPr lang="en-US" sz="1650" dirty="0">
                <a:solidFill>
                  <a:srgbClr val="A3A3A3"/>
                </a:solidFill>
                <a:latin typeface="Arial" pitchFamily="34" charset="0"/>
                <a:ea typeface="Arial" pitchFamily="34" charset="-122"/>
                <a:cs typeface="Arial" pitchFamily="34" charset="-120"/>
              </a:rPr>
              <a:t>impression.</a:t>
            </a:r>
            <a:endParaRPr lang="en-US" sz="1650" dirty="0"/>
          </a:p>
        </p:txBody>
      </p:sp>
      <p:sp>
        <p:nvSpPr>
          <p:cNvPr id="24" name="slide-10-card-text-3"/>
          <p:cNvSpPr txBox="1"/>
          <p:nvPr/>
        </p:nvSpPr>
        <p:spPr>
          <a:xfrm>
            <a:off x="8858250" y="3876675"/>
            <a:ext cx="2495550" cy="1104900"/>
          </a:xfrm>
          <a:prstGeom prst="rect">
            <a:avLst/>
          </a:prstGeom>
          <a:noFill/>
          <a:ln/>
        </p:spPr>
        <p:txBody>
          <a:bodyPr wrap="square" lIns="0" tIns="0" rIns="0" bIns="0" rtlCol="0" anchor="t"/>
          <a:lstStyle/>
          <a:p>
            <a:pPr algn="l" indent="0" marL="0">
              <a:lnSpc>
                <a:spcPts val="2228"/>
              </a:lnSpc>
              <a:buNone/>
            </a:pPr>
            <a:r>
              <a:rPr lang="en-US" sz="1650" dirty="0">
                <a:solidFill>
                  <a:srgbClr val="A3A3A3"/>
                </a:solidFill>
                <a:latin typeface="Arial" pitchFamily="34" charset="0"/>
                <a:ea typeface="Arial" pitchFamily="34" charset="-122"/>
                <a:cs typeface="Arial" pitchFamily="34" charset="-120"/>
              </a:rPr>
              <a:t>Revise the highest-impact</a:t>
            </a:r>
            <a:endParaRPr lang="en-US" sz="1650" dirty="0"/>
          </a:p>
          <a:p>
            <a:pPr algn="l" indent="0" marL="0">
              <a:lnSpc>
                <a:spcPts val="2228"/>
              </a:lnSpc>
              <a:buNone/>
            </a:pPr>
            <a:r>
              <a:rPr lang="en-US" sz="1650" dirty="0">
                <a:solidFill>
                  <a:srgbClr val="A3A3A3"/>
                </a:solidFill>
                <a:latin typeface="Arial" pitchFamily="34" charset="0"/>
                <a:ea typeface="Arial" pitchFamily="34" charset="-122"/>
                <a:cs typeface="Arial" pitchFamily="34" charset="-120"/>
              </a:rPr>
              <a:t>issue, then inspect again.</a:t>
            </a:r>
            <a:endParaRPr lang="en-US" sz="1650" dirty="0"/>
          </a:p>
        </p:txBody>
      </p:sp>
      <p:pic>
        <p:nvPicPr>
          <p:cNvPr id="25" name="slide-10-return-path" descr="preencoded.pn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3524250" y="5124450"/>
            <a:ext cx="5381625" cy="438150"/>
          </a:xfrm>
          <a:prstGeom prst="rect">
            <a:avLst/>
          </a:prstGeom>
        </p:spPr>
      </p:pic>
      <p:sp>
        <p:nvSpPr>
          <p:cNvPr id="26" name="slide-10-loop-label"/>
          <p:cNvSpPr txBox="1"/>
          <p:nvPr/>
        </p:nvSpPr>
        <p:spPr>
          <a:xfrm>
            <a:off x="4981575" y="5657850"/>
            <a:ext cx="3143250" cy="266700"/>
          </a:xfrm>
          <a:prstGeom prst="rect">
            <a:avLst/>
          </a:prstGeom>
          <a:noFill/>
          <a:ln/>
        </p:spPr>
        <p:txBody>
          <a:bodyPr wrap="square" lIns="0" tIns="0" rIns="0" bIns="0" rtlCol="0" anchor="t"/>
          <a:lstStyle/>
          <a:p>
            <a:pPr algn="ctr" indent="0" marL="0">
              <a:lnSpc>
                <a:spcPts val="1170"/>
              </a:lnSpc>
              <a:buNone/>
            </a:pPr>
            <a:r>
              <a:rPr lang="en-US" sz="975" spc="135" kern="0" dirty="0">
                <a:solidFill>
                  <a:srgbClr val="A3A3A3"/>
                </a:solidFill>
                <a:latin typeface="Arial" pitchFamily="34" charset="0"/>
                <a:ea typeface="Arial" pitchFamily="34" charset="-122"/>
                <a:cs typeface="Arial" pitchFamily="34" charset="-120"/>
              </a:rPr>
              <a:t>REPEAT THE INSPECTION LOOP</a:t>
            </a:r>
            <a:endParaRPr lang="en-US" sz="975" dirty="0"/>
          </a:p>
        </p:txBody>
      </p:sp>
      <p:sp>
        <p:nvSpPr>
          <p:cNvPr id="27" name="slide-10-footer-rule"/>
          <p:cNvSpPr/>
          <p:nvPr/>
        </p:nvSpPr>
        <p:spPr>
          <a:xfrm>
            <a:off x="800100" y="6305550"/>
            <a:ext cx="10553700" cy="9525"/>
          </a:xfrm>
          <a:prstGeom prst="rect">
            <a:avLst/>
          </a:prstGeom>
          <a:solidFill>
            <a:srgbClr val="222222"/>
          </a:solidFill>
          <a:ln w="12700">
            <a:solidFill>
              <a:srgbClr val="222222">
                <a:alpha val="0"/>
              </a:srgbClr>
            </a:solidFill>
            <a:prstDash val="solid"/>
          </a:ln>
        </p:spPr>
      </p:sp>
      <p:sp>
        <p:nvSpPr>
          <p:cNvPr id="28" name="slide-10-footer"/>
          <p:cNvSpPr txBox="1"/>
          <p:nvPr/>
        </p:nvSpPr>
        <p:spPr>
          <a:xfrm>
            <a:off x="800100" y="6467475"/>
            <a:ext cx="8096250" cy="209550"/>
          </a:xfrm>
          <a:prstGeom prst="rect">
            <a:avLst/>
          </a:prstGeom>
          <a:noFill/>
          <a:ln/>
        </p:spPr>
        <p:txBody>
          <a:bodyPr wrap="square" lIns="0" tIns="0" rIns="0" bIns="0" rtlCol="0" anchor="t"/>
          <a:lstStyle/>
          <a:p>
            <a:pPr algn="l" indent="0" marL="0">
              <a:lnSpc>
                <a:spcPts val="1080"/>
              </a:lnSpc>
              <a:buNone/>
            </a:pPr>
            <a:r>
              <a:rPr lang="en-US" sz="900" spc="90" kern="0" dirty="0">
                <a:solidFill>
                  <a:srgbClr val="A3A3A3"/>
                </a:solidFill>
                <a:latin typeface="Arial" pitchFamily="34" charset="0"/>
                <a:ea typeface="Arial" pitchFamily="34" charset="-122"/>
                <a:cs typeface="Arial" pitchFamily="34" charset="-120"/>
              </a:rPr>
              <a:t>VIBE CODING     /     GENERATE → INSPECT → REFINE</a:t>
            </a:r>
            <a:endParaRPr lang="en-US" sz="900" dirty="0"/>
          </a:p>
        </p:txBody>
      </p:sp>
      <p:sp>
        <p:nvSpPr>
          <p:cNvPr id="29" name="slide-10-pagination"/>
          <p:cNvSpPr txBox="1"/>
          <p:nvPr/>
        </p:nvSpPr>
        <p:spPr>
          <a:xfrm>
            <a:off x="10287000" y="6467475"/>
            <a:ext cx="1066800" cy="209550"/>
          </a:xfrm>
          <a:prstGeom prst="rect">
            <a:avLst/>
          </a:prstGeom>
          <a:noFill/>
          <a:ln/>
        </p:spPr>
        <p:txBody>
          <a:bodyPr wrap="square" lIns="0" tIns="0" rIns="0" bIns="0" rtlCol="0" anchor="t"/>
          <a:lstStyle/>
          <a:p>
            <a:pPr algn="r" indent="0" marL="0">
              <a:lnSpc>
                <a:spcPts val="1080"/>
              </a:lnSpc>
              <a:buNone/>
            </a:pPr>
            <a:r>
              <a:rPr lang="en-US" sz="900" spc="113" kern="0" dirty="0">
                <a:solidFill>
                  <a:srgbClr val="A3A3A3"/>
                </a:solidFill>
                <a:latin typeface="Arial" pitchFamily="34" charset="0"/>
                <a:ea typeface="Arial" pitchFamily="34" charset="-122"/>
                <a:cs typeface="Arial" pitchFamily="34" charset="-120"/>
              </a:rPr>
              <a:t>10 / 20</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A0A0A"/>
        </a:solidFill>
      </p:bgPr>
    </p:bg>
    <p:spTree>
      <p:nvGrpSpPr>
        <p:cNvPr id="1" name=""/>
        <p:cNvGrpSpPr/>
        <p:nvPr/>
      </p:nvGrpSpPr>
      <p:grpSpPr>
        <a:xfrm>
          <a:off x="0" y="0"/>
          <a:ext cx="0" cy="0"/>
          <a:chOff x="0" y="0"/>
          <a:chExt cx="0" cy="0"/>
        </a:xfrm>
      </p:grpSpPr>
      <p:sp>
        <p:nvSpPr>
          <p:cNvPr id="3" name="slide-11-eyebrow"/>
          <p:cNvSpPr txBox="1"/>
          <p:nvPr/>
        </p:nvSpPr>
        <p:spPr>
          <a:xfrm>
            <a:off x="685800" y="342900"/>
            <a:ext cx="9048750" cy="228600"/>
          </a:xfrm>
          <a:prstGeom prst="rect">
            <a:avLst/>
          </a:prstGeom>
          <a:noFill/>
          <a:ln/>
        </p:spPr>
        <p:txBody>
          <a:bodyPr wrap="square" lIns="0" tIns="0" rIns="0" bIns="0" rtlCol="0" anchor="t"/>
          <a:lstStyle/>
          <a:p>
            <a:pPr algn="l" indent="0" marL="0">
              <a:lnSpc>
                <a:spcPts val="1260"/>
              </a:lnSpc>
              <a:buNone/>
            </a:pPr>
            <a:r>
              <a:rPr lang="en-US" sz="1050" spc="150" kern="0" dirty="0">
                <a:solidFill>
                  <a:srgbClr val="A3A3A3"/>
                </a:solidFill>
                <a:latin typeface="Arial" pitchFamily="34" charset="0"/>
                <a:ea typeface="Arial" pitchFamily="34" charset="-122"/>
                <a:cs typeface="Arial" pitchFamily="34" charset="-120"/>
              </a:rPr>
              <a:t>CLAUDE CODE  /  THE FEEDBACK LOOP</a:t>
            </a:r>
            <a:endParaRPr lang="en-US" sz="1050" dirty="0"/>
          </a:p>
        </p:txBody>
      </p:sp>
      <p:sp>
        <p:nvSpPr>
          <p:cNvPr id="4" name="slide-11-title"/>
          <p:cNvSpPr txBox="1"/>
          <p:nvPr/>
        </p:nvSpPr>
        <p:spPr>
          <a:xfrm>
            <a:off x="685800" y="895350"/>
            <a:ext cx="10820400" cy="619125"/>
          </a:xfrm>
          <a:prstGeom prst="rect">
            <a:avLst/>
          </a:prstGeom>
          <a:noFill/>
          <a:ln/>
        </p:spPr>
        <p:txBody>
          <a:bodyPr wrap="square" lIns="0" tIns="0" rIns="0" bIns="0" rtlCol="0" anchor="t"/>
          <a:lstStyle/>
          <a:p>
            <a:pPr algn="l" indent="0" marL="0">
              <a:lnSpc>
                <a:spcPts val="4125"/>
              </a:lnSpc>
              <a:buNone/>
            </a:pPr>
            <a:r>
              <a:rPr lang="en-US" sz="3750" spc="-105" kern="0" dirty="0">
                <a:solidFill>
                  <a:srgbClr val="FFFFFF"/>
                </a:solidFill>
                <a:latin typeface="Arial" pitchFamily="34" charset="0"/>
                <a:ea typeface="Arial" pitchFamily="34" charset="-122"/>
                <a:cs typeface="Arial" pitchFamily="34" charset="-120"/>
              </a:rPr>
              <a:t>Make feedback specific and bounded</a:t>
            </a:r>
            <a:endParaRPr lang="en-US" sz="3750" dirty="0"/>
          </a:p>
        </p:txBody>
      </p:sp>
      <p:sp>
        <p:nvSpPr>
          <p:cNvPr id="5" name="slide-11-lead"/>
          <p:cNvSpPr txBox="1"/>
          <p:nvPr/>
        </p:nvSpPr>
        <p:spPr>
          <a:xfrm>
            <a:off x="685800" y="1685925"/>
            <a:ext cx="10477500" cy="342900"/>
          </a:xfrm>
          <a:prstGeom prst="rect">
            <a:avLst/>
          </a:prstGeom>
          <a:noFill/>
          <a:ln/>
        </p:spPr>
        <p:txBody>
          <a:bodyPr wrap="square" lIns="0" tIns="0" rIns="0" bIns="0" rtlCol="0" anchor="t"/>
          <a:lstStyle/>
          <a:p>
            <a:pPr algn="l" indent="0" marL="0">
              <a:lnSpc>
                <a:spcPts val="2250"/>
              </a:lnSpc>
              <a:buNone/>
            </a:pPr>
            <a:r>
              <a:rPr lang="en-US" sz="1800" dirty="0">
                <a:solidFill>
                  <a:srgbClr val="A3A3A3"/>
                </a:solidFill>
                <a:latin typeface="Arial" pitchFamily="34" charset="0"/>
                <a:ea typeface="Arial" pitchFamily="34" charset="-122"/>
                <a:cs typeface="Arial" pitchFamily="34" charset="-120"/>
              </a:rPr>
              <a:t>Specify the location, defect, desired change, and what to preserve.</a:t>
            </a:r>
            <a:endParaRPr lang="en-US" sz="1800" dirty="0"/>
          </a:p>
        </p:txBody>
      </p:sp>
      <p:sp>
        <p:nvSpPr>
          <p:cNvPr id="6" name="slide-11-card-0"/>
          <p:cNvSpPr/>
          <p:nvPr/>
        </p:nvSpPr>
        <p:spPr>
          <a:xfrm>
            <a:off x="685800" y="2476500"/>
            <a:ext cx="3219450" cy="3295650"/>
          </a:xfrm>
          <a:prstGeom prst="roundRect">
            <a:avLst>
              <a:gd name="adj" fmla="val 592"/>
            </a:avLst>
          </a:prstGeom>
          <a:solidFill>
            <a:srgbClr val="0A0A0A"/>
          </a:solidFill>
          <a:ln w="9525">
            <a:solidFill>
              <a:srgbClr val="444444"/>
            </a:solidFill>
            <a:prstDash val="solid"/>
          </a:ln>
        </p:spPr>
      </p:sp>
      <p:sp>
        <p:nvSpPr>
          <p:cNvPr id="7" name="slide-11-card-number-0"/>
          <p:cNvSpPr txBox="1"/>
          <p:nvPr/>
        </p:nvSpPr>
        <p:spPr>
          <a:xfrm>
            <a:off x="952500" y="2724150"/>
            <a:ext cx="2686050" cy="209550"/>
          </a:xfrm>
          <a:prstGeom prst="rect">
            <a:avLst/>
          </a:prstGeom>
          <a:noFill/>
          <a:ln/>
        </p:spPr>
        <p:txBody>
          <a:bodyPr wrap="square" lIns="0" tIns="0" rIns="0" bIns="0" rtlCol="0" anchor="t"/>
          <a:lstStyle/>
          <a:p>
            <a:pPr algn="l" indent="0" marL="0">
              <a:lnSpc>
                <a:spcPts val="1260"/>
              </a:lnSpc>
              <a:buNone/>
            </a:pPr>
            <a:r>
              <a:rPr lang="en-US" sz="1050" spc="113" kern="0" dirty="0">
                <a:solidFill>
                  <a:srgbClr val="A3A3A3"/>
                </a:solidFill>
                <a:latin typeface="Arial" pitchFamily="34" charset="0"/>
                <a:ea typeface="Arial" pitchFamily="34" charset="-122"/>
                <a:cs typeface="Arial" pitchFamily="34" charset="-120"/>
              </a:rPr>
              <a:t>01  /  VAGUE</a:t>
            </a:r>
            <a:endParaRPr lang="en-US" sz="1050" dirty="0"/>
          </a:p>
        </p:txBody>
      </p:sp>
      <p:sp>
        <p:nvSpPr>
          <p:cNvPr id="8" name="slide-11-card-text-0"/>
          <p:cNvSpPr txBox="1"/>
          <p:nvPr/>
        </p:nvSpPr>
        <p:spPr>
          <a:xfrm>
            <a:off x="952500" y="3295650"/>
            <a:ext cx="2628900" cy="1428750"/>
          </a:xfrm>
          <a:prstGeom prst="rect">
            <a:avLst/>
          </a:prstGeom>
          <a:noFill/>
          <a:ln/>
        </p:spPr>
        <p:txBody>
          <a:bodyPr wrap="square" lIns="0" tIns="0" rIns="0" bIns="0" rtlCol="0" anchor="t"/>
          <a:lstStyle/>
          <a:p>
            <a:pPr algn="l" indent="0" marL="0">
              <a:lnSpc>
                <a:spcPts val="3000"/>
              </a:lnSpc>
              <a:buNone/>
            </a:pPr>
            <a:r>
              <a:rPr lang="en-US" sz="2400" spc="-37" kern="0" dirty="0">
                <a:solidFill>
                  <a:srgbClr val="A3A3A3"/>
                </a:solidFill>
                <a:latin typeface="Arial" pitchFamily="34" charset="0"/>
                <a:ea typeface="Arial" pitchFamily="34" charset="-122"/>
                <a:cs typeface="Arial" pitchFamily="34" charset="-120"/>
              </a:rPr>
              <a:t>“Make the site</a:t>
            </a:r>
            <a:endParaRPr lang="en-US" sz="2400" dirty="0"/>
          </a:p>
          <a:p>
            <a:pPr algn="l" indent="0" marL="0">
              <a:lnSpc>
                <a:spcPts val="3000"/>
              </a:lnSpc>
              <a:buNone/>
            </a:pPr>
            <a:r>
              <a:rPr lang="en-US" sz="2400" spc="-37" kern="0" dirty="0">
                <a:solidFill>
                  <a:srgbClr val="A3A3A3"/>
                </a:solidFill>
                <a:latin typeface="Arial" pitchFamily="34" charset="0"/>
                <a:ea typeface="Arial" pitchFamily="34" charset="-122"/>
                <a:cs typeface="Arial" pitchFamily="34" charset="-120"/>
              </a:rPr>
              <a:t>look more</a:t>
            </a:r>
            <a:endParaRPr lang="en-US" sz="2400" dirty="0"/>
          </a:p>
          <a:p>
            <a:pPr algn="l" indent="0" marL="0">
              <a:lnSpc>
                <a:spcPts val="3000"/>
              </a:lnSpc>
              <a:buNone/>
            </a:pPr>
            <a:r>
              <a:rPr lang="en-US" sz="2400" spc="-37" kern="0" dirty="0">
                <a:solidFill>
                  <a:srgbClr val="A3A3A3"/>
                </a:solidFill>
                <a:latin typeface="Arial" pitchFamily="34" charset="0"/>
                <a:ea typeface="Arial" pitchFamily="34" charset="-122"/>
                <a:cs typeface="Arial" pitchFamily="34" charset="-120"/>
              </a:rPr>
              <a:t>polished.”</a:t>
            </a:r>
            <a:endParaRPr lang="en-US" sz="2400" dirty="0"/>
          </a:p>
        </p:txBody>
      </p:sp>
      <p:sp>
        <p:nvSpPr>
          <p:cNvPr id="9" name="slide-11-vague-caption"/>
          <p:cNvSpPr txBox="1"/>
          <p:nvPr/>
        </p:nvSpPr>
        <p:spPr>
          <a:xfrm>
            <a:off x="952500" y="5219700"/>
            <a:ext cx="2667000" cy="266700"/>
          </a:xfrm>
          <a:prstGeom prst="rect">
            <a:avLst/>
          </a:prstGeom>
          <a:noFill/>
          <a:ln/>
        </p:spPr>
        <p:txBody>
          <a:bodyPr wrap="square" lIns="0" tIns="0" rIns="0" bIns="0" rtlCol="0" anchor="t"/>
          <a:lstStyle/>
          <a:p>
            <a:pPr algn="l" indent="0" marL="0">
              <a:lnSpc>
                <a:spcPts val="1594"/>
              </a:lnSpc>
              <a:buNone/>
            </a:pPr>
            <a:r>
              <a:rPr lang="en-US" sz="1275" dirty="0">
                <a:solidFill>
                  <a:srgbClr val="A3A3A3"/>
                </a:solidFill>
                <a:latin typeface="Arial" pitchFamily="34" charset="0"/>
                <a:ea typeface="Arial" pitchFamily="34" charset="-122"/>
                <a:cs typeface="Arial" pitchFamily="34" charset="-120"/>
              </a:rPr>
              <a:t>No clear target or boundary.</a:t>
            </a:r>
            <a:endParaRPr lang="en-US" sz="1275" dirty="0"/>
          </a:p>
        </p:txBody>
      </p:sp>
      <p:pic>
        <p:nvPicPr>
          <p:cNvPr id="10" name="slide-11-connector" descr="preencoded.pn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4076700" y="4029075"/>
            <a:ext cx="419100" cy="190500"/>
          </a:xfrm>
          <a:prstGeom prst="rect">
            <a:avLst/>
          </a:prstGeom>
        </p:spPr>
      </p:pic>
      <p:sp>
        <p:nvSpPr>
          <p:cNvPr id="11" name="slide-11-card-1"/>
          <p:cNvSpPr/>
          <p:nvPr/>
        </p:nvSpPr>
        <p:spPr>
          <a:xfrm>
            <a:off x="4686300" y="2476500"/>
            <a:ext cx="6819900" cy="3295650"/>
          </a:xfrm>
          <a:prstGeom prst="roundRect">
            <a:avLst>
              <a:gd name="adj" fmla="val 578"/>
            </a:avLst>
          </a:prstGeom>
          <a:solidFill>
            <a:srgbClr val="141414"/>
          </a:solidFill>
          <a:ln w="9525">
            <a:solidFill>
              <a:srgbClr val="A3A3A3"/>
            </a:solidFill>
            <a:prstDash val="solid"/>
          </a:ln>
        </p:spPr>
      </p:sp>
      <p:sp>
        <p:nvSpPr>
          <p:cNvPr id="12" name="slide-11-card-number-1"/>
          <p:cNvSpPr txBox="1"/>
          <p:nvPr/>
        </p:nvSpPr>
        <p:spPr>
          <a:xfrm>
            <a:off x="4953000" y="2724150"/>
            <a:ext cx="4095750" cy="209550"/>
          </a:xfrm>
          <a:prstGeom prst="rect">
            <a:avLst/>
          </a:prstGeom>
          <a:noFill/>
          <a:ln/>
        </p:spPr>
        <p:txBody>
          <a:bodyPr wrap="square" lIns="0" tIns="0" rIns="0" bIns="0" rtlCol="0" anchor="t"/>
          <a:lstStyle/>
          <a:p>
            <a:pPr algn="l" indent="0" marL="0">
              <a:lnSpc>
                <a:spcPts val="1260"/>
              </a:lnSpc>
              <a:buNone/>
            </a:pPr>
            <a:r>
              <a:rPr lang="en-US" sz="1050" spc="113" kern="0" dirty="0">
                <a:solidFill>
                  <a:srgbClr val="FFFFFF"/>
                </a:solidFill>
                <a:latin typeface="Arial" pitchFamily="34" charset="0"/>
                <a:ea typeface="Arial" pitchFamily="34" charset="-122"/>
                <a:cs typeface="Arial" pitchFamily="34" charset="-120"/>
              </a:rPr>
              <a:t>02  /  SCOPED</a:t>
            </a:r>
            <a:endParaRPr lang="en-US" sz="1050" dirty="0"/>
          </a:p>
        </p:txBody>
      </p:sp>
      <p:sp>
        <p:nvSpPr>
          <p:cNvPr id="13" name="slide-11-change-label"/>
          <p:cNvSpPr txBox="1"/>
          <p:nvPr/>
        </p:nvSpPr>
        <p:spPr>
          <a:xfrm>
            <a:off x="4953000" y="3190875"/>
            <a:ext cx="990600" cy="209550"/>
          </a:xfrm>
          <a:prstGeom prst="rect">
            <a:avLst/>
          </a:prstGeom>
          <a:noFill/>
          <a:ln/>
        </p:spPr>
        <p:txBody>
          <a:bodyPr wrap="square" lIns="0" tIns="0" rIns="0" bIns="0" rtlCol="0" anchor="t"/>
          <a:lstStyle/>
          <a:p>
            <a:pPr algn="l" indent="0" marL="0">
              <a:lnSpc>
                <a:spcPts val="1170"/>
              </a:lnSpc>
              <a:buNone/>
            </a:pPr>
            <a:r>
              <a:rPr lang="en-US" sz="975" b="1" spc="90" kern="0" dirty="0">
                <a:solidFill>
                  <a:srgbClr val="A3A3A3"/>
                </a:solidFill>
                <a:latin typeface="Arial" pitchFamily="34" charset="0"/>
                <a:ea typeface="Arial" pitchFamily="34" charset="-122"/>
                <a:cs typeface="Arial" pitchFamily="34" charset="-120"/>
              </a:rPr>
              <a:t>CHANGE</a:t>
            </a:r>
            <a:endParaRPr lang="en-US" sz="975" dirty="0"/>
          </a:p>
        </p:txBody>
      </p:sp>
      <p:sp>
        <p:nvSpPr>
          <p:cNvPr id="14" name="slide-11-card-text-1"/>
          <p:cNvSpPr txBox="1"/>
          <p:nvPr/>
        </p:nvSpPr>
        <p:spPr>
          <a:xfrm>
            <a:off x="6076950" y="3152775"/>
            <a:ext cx="5143500" cy="838200"/>
          </a:xfrm>
          <a:prstGeom prst="rect">
            <a:avLst/>
          </a:prstGeom>
          <a:noFill/>
          <a:ln/>
        </p:spPr>
        <p:txBody>
          <a:bodyPr wrap="square" lIns="0" tIns="0" rIns="0" bIns="0" rtlCol="0" anchor="t"/>
          <a:lstStyle/>
          <a:p>
            <a:pPr algn="l" indent="0" marL="0">
              <a:lnSpc>
                <a:spcPts val="2156"/>
              </a:lnSpc>
              <a:buNone/>
            </a:pPr>
            <a:r>
              <a:rPr lang="en-US" sz="1725" dirty="0">
                <a:solidFill>
                  <a:srgbClr val="FFFFFF"/>
                </a:solidFill>
                <a:latin typeface="Arial" pitchFamily="34" charset="0"/>
                <a:ea typeface="Arial" pitchFamily="34" charset="-122"/>
                <a:cs typeface="Arial" pitchFamily="34" charset="-120"/>
              </a:rPr>
              <a:t>“In the hero only, reduce the headline size so it no longer dominates the viewport.”</a:t>
            </a:r>
            <a:endParaRPr lang="en-US" sz="1725" dirty="0"/>
          </a:p>
        </p:txBody>
      </p:sp>
      <p:sp>
        <p:nvSpPr>
          <p:cNvPr id="15" name="slide-11-scoped-rule-1"/>
          <p:cNvSpPr/>
          <p:nvPr/>
        </p:nvSpPr>
        <p:spPr>
          <a:xfrm>
            <a:off x="4953000" y="4095750"/>
            <a:ext cx="6286500" cy="9525"/>
          </a:xfrm>
          <a:prstGeom prst="rect">
            <a:avLst/>
          </a:prstGeom>
          <a:solidFill>
            <a:srgbClr val="333333"/>
          </a:solidFill>
          <a:ln w="12700">
            <a:solidFill>
              <a:srgbClr val="333333">
                <a:alpha val="0"/>
              </a:srgbClr>
            </a:solidFill>
            <a:prstDash val="solid"/>
          </a:ln>
        </p:spPr>
      </p:sp>
      <p:sp>
        <p:nvSpPr>
          <p:cNvPr id="16" name="slide-11-check-label"/>
          <p:cNvSpPr txBox="1"/>
          <p:nvPr/>
        </p:nvSpPr>
        <p:spPr>
          <a:xfrm>
            <a:off x="4953000" y="4295775"/>
            <a:ext cx="990600" cy="209550"/>
          </a:xfrm>
          <a:prstGeom prst="rect">
            <a:avLst/>
          </a:prstGeom>
          <a:noFill/>
          <a:ln/>
        </p:spPr>
        <p:txBody>
          <a:bodyPr wrap="square" lIns="0" tIns="0" rIns="0" bIns="0" rtlCol="0" anchor="t"/>
          <a:lstStyle/>
          <a:p>
            <a:pPr algn="l" indent="0" marL="0">
              <a:lnSpc>
                <a:spcPts val="1170"/>
              </a:lnSpc>
              <a:buNone/>
            </a:pPr>
            <a:r>
              <a:rPr lang="en-US" sz="975" b="1" spc="90" kern="0" dirty="0">
                <a:solidFill>
                  <a:srgbClr val="A3A3A3"/>
                </a:solidFill>
                <a:latin typeface="Arial" pitchFamily="34" charset="0"/>
                <a:ea typeface="Arial" pitchFamily="34" charset="-122"/>
                <a:cs typeface="Arial" pitchFamily="34" charset="-120"/>
              </a:rPr>
              <a:t>CHECK</a:t>
            </a:r>
            <a:endParaRPr lang="en-US" sz="975" dirty="0"/>
          </a:p>
        </p:txBody>
      </p:sp>
      <p:sp>
        <p:nvSpPr>
          <p:cNvPr id="17" name="slide-11-check-text"/>
          <p:cNvSpPr txBox="1"/>
          <p:nvPr/>
        </p:nvSpPr>
        <p:spPr>
          <a:xfrm>
            <a:off x="6076950" y="4257675"/>
            <a:ext cx="5143500" cy="600075"/>
          </a:xfrm>
          <a:prstGeom prst="rect">
            <a:avLst/>
          </a:prstGeom>
          <a:noFill/>
          <a:ln/>
        </p:spPr>
        <p:txBody>
          <a:bodyPr wrap="square" lIns="0" tIns="0" rIns="0" bIns="0" rtlCol="0" anchor="t"/>
          <a:lstStyle/>
          <a:p>
            <a:pPr algn="l" indent="0" marL="0">
              <a:lnSpc>
                <a:spcPts val="2156"/>
              </a:lnSpc>
              <a:buNone/>
            </a:pPr>
            <a:r>
              <a:rPr lang="en-US" sz="1725" dirty="0">
                <a:solidFill>
                  <a:srgbClr val="FFFFFF"/>
                </a:solidFill>
                <a:latin typeface="Arial" pitchFamily="34" charset="0"/>
                <a:ea typeface="Arial" pitchFamily="34" charset="-122"/>
                <a:cs typeface="Arial" pitchFamily="34" charset="-120"/>
              </a:rPr>
              <a:t>“Keep the inquiry action visible and inspect the narrow-screen layout.”</a:t>
            </a:r>
            <a:endParaRPr lang="en-US" sz="1725" dirty="0"/>
          </a:p>
        </p:txBody>
      </p:sp>
      <p:sp>
        <p:nvSpPr>
          <p:cNvPr id="18" name="slide-11-scoped-rule-2"/>
          <p:cNvSpPr/>
          <p:nvPr/>
        </p:nvSpPr>
        <p:spPr>
          <a:xfrm>
            <a:off x="4953000" y="4972050"/>
            <a:ext cx="6286500" cy="9525"/>
          </a:xfrm>
          <a:prstGeom prst="rect">
            <a:avLst/>
          </a:prstGeom>
          <a:solidFill>
            <a:srgbClr val="333333"/>
          </a:solidFill>
          <a:ln w="12700">
            <a:solidFill>
              <a:srgbClr val="333333">
                <a:alpha val="0"/>
              </a:srgbClr>
            </a:solidFill>
            <a:prstDash val="solid"/>
          </a:ln>
        </p:spPr>
      </p:sp>
      <p:sp>
        <p:nvSpPr>
          <p:cNvPr id="19" name="slide-11-preserve-label"/>
          <p:cNvSpPr txBox="1"/>
          <p:nvPr/>
        </p:nvSpPr>
        <p:spPr>
          <a:xfrm>
            <a:off x="4953000" y="5181600"/>
            <a:ext cx="990600" cy="209550"/>
          </a:xfrm>
          <a:prstGeom prst="rect">
            <a:avLst/>
          </a:prstGeom>
          <a:noFill/>
          <a:ln/>
        </p:spPr>
        <p:txBody>
          <a:bodyPr wrap="square" lIns="0" tIns="0" rIns="0" bIns="0" rtlCol="0" anchor="t"/>
          <a:lstStyle/>
          <a:p>
            <a:pPr algn="l" indent="0" marL="0">
              <a:lnSpc>
                <a:spcPts val="1170"/>
              </a:lnSpc>
              <a:buNone/>
            </a:pPr>
            <a:r>
              <a:rPr lang="en-US" sz="975" b="1" spc="90" kern="0" dirty="0">
                <a:solidFill>
                  <a:srgbClr val="A3A3A3"/>
                </a:solidFill>
                <a:latin typeface="Arial" pitchFamily="34" charset="0"/>
                <a:ea typeface="Arial" pitchFamily="34" charset="-122"/>
                <a:cs typeface="Arial" pitchFamily="34" charset="-120"/>
              </a:rPr>
              <a:t>PRESERVE</a:t>
            </a:r>
            <a:endParaRPr lang="en-US" sz="975" dirty="0"/>
          </a:p>
        </p:txBody>
      </p:sp>
      <p:sp>
        <p:nvSpPr>
          <p:cNvPr id="20" name="slide-11-preserve-text"/>
          <p:cNvSpPr txBox="1"/>
          <p:nvPr/>
        </p:nvSpPr>
        <p:spPr>
          <a:xfrm>
            <a:off x="6076950" y="5133975"/>
            <a:ext cx="5143500" cy="581025"/>
          </a:xfrm>
          <a:prstGeom prst="rect">
            <a:avLst/>
          </a:prstGeom>
          <a:noFill/>
          <a:ln/>
        </p:spPr>
        <p:txBody>
          <a:bodyPr wrap="square" lIns="0" tIns="0" rIns="0" bIns="0" rtlCol="0" anchor="t"/>
          <a:lstStyle/>
          <a:p>
            <a:pPr algn="l" indent="0" marL="0">
              <a:lnSpc>
                <a:spcPts val="2156"/>
              </a:lnSpc>
              <a:buNone/>
            </a:pPr>
            <a:r>
              <a:rPr lang="en-US" sz="1725" dirty="0">
                <a:solidFill>
                  <a:srgbClr val="FFFFFF"/>
                </a:solidFill>
                <a:latin typeface="Arial" pitchFamily="34" charset="0"/>
                <a:ea typeface="Arial" pitchFamily="34" charset="-122"/>
                <a:cs typeface="Arial" pitchFamily="34" charset="-120"/>
              </a:rPr>
              <a:t>“Do not change the navigation, copy,</a:t>
            </a:r>
            <a:endParaRPr lang="en-US" sz="1725" dirty="0"/>
          </a:p>
          <a:p>
            <a:pPr algn="l" indent="0" marL="0">
              <a:lnSpc>
                <a:spcPts val="2156"/>
              </a:lnSpc>
              <a:buNone/>
            </a:pPr>
            <a:r>
              <a:rPr lang="en-US" sz="1725" dirty="0">
                <a:solidFill>
                  <a:srgbClr val="FFFFFF"/>
                </a:solidFill>
                <a:latin typeface="Arial" pitchFamily="34" charset="0"/>
                <a:ea typeface="Arial" pitchFamily="34" charset="-122"/>
                <a:cs typeface="Arial" pitchFamily="34" charset="-120"/>
              </a:rPr>
              <a:t>or other sections.”</a:t>
            </a:r>
            <a:endParaRPr lang="en-US" sz="1725" dirty="0"/>
          </a:p>
        </p:txBody>
      </p:sp>
      <p:sp>
        <p:nvSpPr>
          <p:cNvPr id="21" name="slide-11-footer-rule"/>
          <p:cNvSpPr/>
          <p:nvPr/>
        </p:nvSpPr>
        <p:spPr>
          <a:xfrm>
            <a:off x="685800" y="6153150"/>
            <a:ext cx="10820400" cy="9525"/>
          </a:xfrm>
          <a:prstGeom prst="rect">
            <a:avLst/>
          </a:prstGeom>
          <a:solidFill>
            <a:srgbClr val="333333"/>
          </a:solidFill>
          <a:ln w="12700">
            <a:solidFill>
              <a:srgbClr val="333333">
                <a:alpha val="0"/>
              </a:srgbClr>
            </a:solidFill>
            <a:prstDash val="solid"/>
          </a:ln>
        </p:spPr>
      </p:sp>
      <p:sp>
        <p:nvSpPr>
          <p:cNvPr id="22" name="slide-11-footer"/>
          <p:cNvSpPr txBox="1"/>
          <p:nvPr/>
        </p:nvSpPr>
        <p:spPr>
          <a:xfrm>
            <a:off x="685800" y="6343650"/>
            <a:ext cx="9382125" cy="247650"/>
          </a:xfrm>
          <a:prstGeom prst="rect">
            <a:avLst/>
          </a:prstGeom>
          <a:noFill/>
          <a:ln/>
        </p:spPr>
        <p:txBody>
          <a:bodyPr wrap="square" lIns="0" tIns="0" rIns="0" bIns="0" rtlCol="0" anchor="t"/>
          <a:lstStyle/>
          <a:p>
            <a:pPr algn="l" indent="0" marL="0">
              <a:lnSpc>
                <a:spcPts val="1500"/>
              </a:lnSpc>
              <a:buNone/>
            </a:pPr>
            <a:r>
              <a:rPr lang="en-US" sz="1200" dirty="0">
                <a:solidFill>
                  <a:srgbClr val="A3A3A3"/>
                </a:solidFill>
                <a:latin typeface="Arial" pitchFamily="34" charset="0"/>
                <a:ea typeface="Arial" pitchFamily="34" charset="-122"/>
                <a:cs typeface="Arial" pitchFamily="34" charset="-120"/>
              </a:rPr>
              <a:t>Illustrative prompts—not source quotations. Constraints still need review: inspect the code diff and layout.</a:t>
            </a:r>
            <a:endParaRPr lang="en-US" sz="1200" dirty="0"/>
          </a:p>
        </p:txBody>
      </p:sp>
      <p:sp>
        <p:nvSpPr>
          <p:cNvPr id="23" name="slide-11-pagination"/>
          <p:cNvSpPr txBox="1"/>
          <p:nvPr/>
        </p:nvSpPr>
        <p:spPr>
          <a:xfrm>
            <a:off x="10382250" y="6343650"/>
            <a:ext cx="1123950" cy="247650"/>
          </a:xfrm>
          <a:prstGeom prst="rect">
            <a:avLst/>
          </a:prstGeom>
          <a:noFill/>
          <a:ln/>
        </p:spPr>
        <p:txBody>
          <a:bodyPr wrap="square" lIns="0" tIns="0" rIns="0" bIns="0" rtlCol="0" anchor="t"/>
          <a:lstStyle/>
          <a:p>
            <a:pPr algn="r" indent="0" marL="0">
              <a:lnSpc>
                <a:spcPts val="1313"/>
              </a:lnSpc>
              <a:buNone/>
            </a:pPr>
            <a:r>
              <a:rPr lang="en-US" sz="1050" spc="75" kern="0" dirty="0">
                <a:solidFill>
                  <a:srgbClr val="A3A3A3"/>
                </a:solidFill>
                <a:latin typeface="Arial" pitchFamily="34" charset="0"/>
                <a:ea typeface="Arial" pitchFamily="34" charset="-122"/>
                <a:cs typeface="Arial" pitchFamily="34" charset="-120"/>
              </a:rPr>
              <a:t>11 / 20</a:t>
            </a:r>
            <a:endParaRPr lang="en-US" sz="10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A0A0A"/>
        </a:solidFill>
      </p:bgPr>
    </p:bg>
    <p:spTree>
      <p:nvGrpSpPr>
        <p:cNvPr id="1" name=""/>
        <p:cNvGrpSpPr/>
        <p:nvPr/>
      </p:nvGrpSpPr>
      <p:grpSpPr>
        <a:xfrm>
          <a:off x="0" y="0"/>
          <a:ext cx="0" cy="0"/>
          <a:chOff x="0" y="0"/>
          <a:chExt cx="0" cy="0"/>
        </a:xfrm>
      </p:grpSpPr>
      <p:sp>
        <p:nvSpPr>
          <p:cNvPr id="3" name="slide-12-eyebrow"/>
          <p:cNvSpPr txBox="1"/>
          <p:nvPr/>
        </p:nvSpPr>
        <p:spPr>
          <a:xfrm>
            <a:off x="609600" y="323850"/>
            <a:ext cx="9525000" cy="228600"/>
          </a:xfrm>
          <a:prstGeom prst="rect">
            <a:avLst/>
          </a:prstGeom>
          <a:noFill/>
          <a:ln/>
        </p:spPr>
        <p:txBody>
          <a:bodyPr wrap="square" lIns="0" tIns="0" rIns="0" bIns="0" rtlCol="0" anchor="t"/>
          <a:lstStyle/>
          <a:p>
            <a:pPr algn="l" indent="0" marL="0">
              <a:lnSpc>
                <a:spcPts val="1260"/>
              </a:lnSpc>
              <a:buNone/>
            </a:pPr>
            <a:r>
              <a:rPr lang="en-US" sz="1050" spc="150" kern="0" dirty="0">
                <a:solidFill>
                  <a:srgbClr val="A3A3A3"/>
                </a:solidFill>
                <a:latin typeface="Arial" pitchFamily="34" charset="0"/>
                <a:ea typeface="Arial" pitchFamily="34" charset="-122"/>
                <a:cs typeface="Arial" pitchFamily="34" charset="-120"/>
              </a:rPr>
              <a:t>CLAUDE CODE  /  VISUAL REFINEMENT</a:t>
            </a:r>
            <a:endParaRPr lang="en-US" sz="1050" dirty="0"/>
          </a:p>
        </p:txBody>
      </p:sp>
      <p:sp>
        <p:nvSpPr>
          <p:cNvPr id="4" name="slide-12-title"/>
          <p:cNvSpPr txBox="1"/>
          <p:nvPr/>
        </p:nvSpPr>
        <p:spPr>
          <a:xfrm>
            <a:off x="609600" y="809625"/>
            <a:ext cx="10477500" cy="1123950"/>
          </a:xfrm>
          <a:prstGeom prst="rect">
            <a:avLst/>
          </a:prstGeom>
          <a:noFill/>
          <a:ln/>
        </p:spPr>
        <p:txBody>
          <a:bodyPr wrap="square" lIns="0" tIns="0" rIns="0" bIns="0" rtlCol="0" anchor="t"/>
          <a:lstStyle/>
          <a:p>
            <a:pPr algn="l" indent="0" marL="0">
              <a:lnSpc>
                <a:spcPts val="3888"/>
              </a:lnSpc>
              <a:buNone/>
            </a:pPr>
            <a:r>
              <a:rPr lang="en-US" sz="3600" spc="-112" kern="0" dirty="0">
                <a:solidFill>
                  <a:srgbClr val="FFFFFF"/>
                </a:solidFill>
                <a:latin typeface="Arial" pitchFamily="34" charset="0"/>
                <a:ea typeface="Arial" pitchFamily="34" charset="-122"/>
                <a:cs typeface="Arial" pitchFamily="34" charset="-120"/>
              </a:rPr>
              <a:t>Refine typography with</a:t>
            </a:r>
            <a:endParaRPr lang="en-US" sz="3600" dirty="0"/>
          </a:p>
          <a:p>
            <a:pPr algn="l" indent="0" marL="0">
              <a:lnSpc>
                <a:spcPts val="3888"/>
              </a:lnSpc>
              <a:buNone/>
            </a:pPr>
            <a:r>
              <a:rPr lang="en-US" sz="3600" spc="-112" kern="0" dirty="0">
                <a:solidFill>
                  <a:srgbClr val="FFFFFF"/>
                </a:solidFill>
                <a:latin typeface="Arial" pitchFamily="34" charset="0"/>
                <a:ea typeface="Arial" pitchFamily="34" charset="-122"/>
                <a:cs typeface="Arial" pitchFamily="34" charset="-120"/>
              </a:rPr>
              <a:t> a focused follow-up prompt</a:t>
            </a:r>
            <a:endParaRPr lang="en-US" sz="3600" dirty="0"/>
          </a:p>
        </p:txBody>
      </p:sp>
      <p:sp>
        <p:nvSpPr>
          <p:cNvPr id="5" name="slide-12-lead"/>
          <p:cNvSpPr txBox="1"/>
          <p:nvPr/>
        </p:nvSpPr>
        <p:spPr>
          <a:xfrm>
            <a:off x="609600" y="2286000"/>
            <a:ext cx="4343400" cy="952500"/>
          </a:xfrm>
          <a:prstGeom prst="rect">
            <a:avLst/>
          </a:prstGeom>
          <a:noFill/>
          <a:ln/>
        </p:spPr>
        <p:txBody>
          <a:bodyPr wrap="square" lIns="0" tIns="0" rIns="0" bIns="0" rtlCol="0" anchor="t"/>
          <a:lstStyle/>
          <a:p>
            <a:pPr algn="l" indent="0" marL="0">
              <a:lnSpc>
                <a:spcPts val="2399"/>
              </a:lnSpc>
              <a:buNone/>
            </a:pPr>
            <a:r>
              <a:rPr lang="en-US" sz="1950" dirty="0">
                <a:solidFill>
                  <a:srgbClr val="FFFFFF"/>
                </a:solidFill>
                <a:latin typeface="Arial" pitchFamily="34" charset="0"/>
                <a:ea typeface="Arial" pitchFamily="34" charset="-122"/>
                <a:cs typeface="Arial" pitchFamily="34" charset="-120"/>
              </a:rPr>
              <a:t>Shared type and spacing rules.</a:t>
            </a:r>
            <a:endParaRPr lang="en-US" sz="1950" dirty="0"/>
          </a:p>
          <a:p>
            <a:pPr algn="l" indent="0" marL="0">
              <a:lnSpc>
                <a:spcPts val="2399"/>
              </a:lnSpc>
              <a:buNone/>
            </a:pPr>
            <a:r>
              <a:rPr lang="en-US" sz="1950" dirty="0">
                <a:solidFill>
                  <a:srgbClr val="FFFFFF"/>
                </a:solidFill>
                <a:latin typeface="Arial" pitchFamily="34" charset="0"/>
                <a:ea typeface="Arial" pitchFamily="34" charset="-122"/>
                <a:cs typeface="Arial" pitchFamily="34" charset="-120"/>
              </a:rPr>
              <a:t>Intentional exceptions for</a:t>
            </a:r>
            <a:endParaRPr lang="en-US" sz="1950" dirty="0"/>
          </a:p>
          <a:p>
            <a:pPr algn="l" indent="0" marL="0">
              <a:lnSpc>
                <a:spcPts val="2399"/>
              </a:lnSpc>
              <a:buNone/>
            </a:pPr>
            <a:r>
              <a:rPr lang="en-US" sz="1950" dirty="0">
                <a:solidFill>
                  <a:srgbClr val="FFFFFF"/>
                </a:solidFill>
                <a:latin typeface="Arial" pitchFamily="34" charset="0"/>
                <a:ea typeface="Arial" pitchFamily="34" charset="-122"/>
                <a:cs typeface="Arial" pitchFamily="34" charset="-120"/>
              </a:rPr>
              <a:t>brand elements.</a:t>
            </a:r>
            <a:endParaRPr lang="en-US" sz="1950" dirty="0"/>
          </a:p>
        </p:txBody>
      </p:sp>
      <p:sp>
        <p:nvSpPr>
          <p:cNvPr id="6" name="slide-12-body"/>
          <p:cNvSpPr txBox="1"/>
          <p:nvPr/>
        </p:nvSpPr>
        <p:spPr>
          <a:xfrm>
            <a:off x="609600" y="3524250"/>
            <a:ext cx="4419600" cy="1381125"/>
          </a:xfrm>
          <a:prstGeom prst="rect">
            <a:avLst/>
          </a:prstGeom>
          <a:noFill/>
          <a:ln/>
        </p:spPr>
        <p:txBody>
          <a:bodyPr wrap="square" lIns="0" tIns="0" rIns="0" bIns="0" rtlCol="0" anchor="t"/>
          <a:lstStyle/>
          <a:p>
            <a:pPr algn="l" indent="0" marL="0">
              <a:lnSpc>
                <a:spcPts val="1969"/>
              </a:lnSpc>
              <a:buNone/>
            </a:pPr>
            <a:r>
              <a:rPr lang="en-US" sz="1575" dirty="0">
                <a:solidFill>
                  <a:srgbClr val="A3A3A3"/>
                </a:solidFill>
                <a:latin typeface="Arial" pitchFamily="34" charset="0"/>
                <a:ea typeface="Arial" pitchFamily="34" charset="-122"/>
                <a:cs typeface="Arial" pitchFamily="34" charset="-120"/>
              </a:rPr>
              <a:t>Check heading sizes, line breaks,</a:t>
            </a:r>
            <a:endParaRPr lang="en-US" sz="1575" dirty="0"/>
          </a:p>
          <a:p>
            <a:pPr algn="l" indent="0" marL="0">
              <a:lnSpc>
                <a:spcPts val="1969"/>
              </a:lnSpc>
              <a:buNone/>
            </a:pPr>
            <a:r>
              <a:rPr lang="en-US" sz="1575" dirty="0">
                <a:solidFill>
                  <a:srgbClr val="A3A3A3"/>
                </a:solidFill>
                <a:latin typeface="Arial" pitchFamily="34" charset="0"/>
                <a:ea typeface="Arial" pitchFamily="34" charset="-122"/>
                <a:cs typeface="Arial" pitchFamily="34" charset="-120"/>
              </a:rPr>
              <a:t>paragraph widths, and section spacing.</a:t>
            </a:r>
            <a:endParaRPr lang="en-US" sz="1575" dirty="0"/>
          </a:p>
          <a:p>
            <a:pPr algn="l" indent="0" marL="0">
              <a:lnSpc>
                <a:spcPts val="1969"/>
              </a:lnSpc>
              <a:buNone/>
            </a:pPr>
            <a:endParaRPr lang="en-US" sz="1575" dirty="0"/>
          </a:p>
          <a:p>
            <a:pPr algn="l" indent="0" marL="0">
              <a:lnSpc>
                <a:spcPts val="1969"/>
              </a:lnSpc>
              <a:buNone/>
            </a:pPr>
            <a:r>
              <a:rPr lang="en-US" sz="1575" dirty="0">
                <a:solidFill>
                  <a:srgbClr val="A3A3A3"/>
                </a:solidFill>
                <a:latin typeface="Arial" pitchFamily="34" charset="0"/>
                <a:ea typeface="Arial" pitchFamily="34" charset="-122"/>
                <a:cs typeface="Arial" pitchFamily="34" charset="-120"/>
              </a:rPr>
              <a:t>Repeat text and button styles</a:t>
            </a:r>
            <a:endParaRPr lang="en-US" sz="1575" dirty="0"/>
          </a:p>
          <a:p>
            <a:pPr algn="l" indent="0" marL="0">
              <a:lnSpc>
                <a:spcPts val="1969"/>
              </a:lnSpc>
              <a:buNone/>
            </a:pPr>
            <a:r>
              <a:rPr lang="en-US" sz="1575" dirty="0">
                <a:solidFill>
                  <a:srgbClr val="A3A3A3"/>
                </a:solidFill>
                <a:latin typeface="Arial" pitchFamily="34" charset="0"/>
                <a:ea typeface="Arial" pitchFamily="34" charset="-122"/>
                <a:cs typeface="Arial" pitchFamily="34" charset="-120"/>
              </a:rPr>
              <a:t>across recurring components.</a:t>
            </a:r>
            <a:endParaRPr lang="en-US" sz="1575" dirty="0"/>
          </a:p>
        </p:txBody>
      </p:sp>
      <p:sp>
        <p:nvSpPr>
          <p:cNvPr id="7" name="slide-12-rule"/>
          <p:cNvSpPr/>
          <p:nvPr/>
        </p:nvSpPr>
        <p:spPr>
          <a:xfrm>
            <a:off x="5562600" y="2286000"/>
            <a:ext cx="9525" cy="2571750"/>
          </a:xfrm>
          <a:prstGeom prst="rect">
            <a:avLst/>
          </a:prstGeom>
          <a:solidFill>
            <a:srgbClr val="333333"/>
          </a:solidFill>
          <a:ln w="12700">
            <a:solidFill>
              <a:srgbClr val="333333">
                <a:alpha val="0"/>
              </a:srgbClr>
            </a:solidFill>
            <a:prstDash val="solid"/>
          </a:ln>
        </p:spPr>
      </p:sp>
      <p:sp>
        <p:nvSpPr>
          <p:cNvPr id="8" name="slide-12-specimen-label"/>
          <p:cNvSpPr txBox="1"/>
          <p:nvPr/>
        </p:nvSpPr>
        <p:spPr>
          <a:xfrm>
            <a:off x="6096000" y="2228850"/>
            <a:ext cx="5486400" cy="209550"/>
          </a:xfrm>
          <a:prstGeom prst="rect">
            <a:avLst/>
          </a:prstGeom>
          <a:noFill/>
          <a:ln/>
        </p:spPr>
        <p:txBody>
          <a:bodyPr wrap="square" lIns="0" tIns="0" rIns="0" bIns="0" rtlCol="0" anchor="t"/>
          <a:lstStyle/>
          <a:p>
            <a:pPr algn="l" indent="0" marL="0">
              <a:lnSpc>
                <a:spcPts val="1080"/>
              </a:lnSpc>
              <a:buNone/>
            </a:pPr>
            <a:r>
              <a:rPr lang="en-US" sz="900" spc="75" kern="0" dirty="0">
                <a:solidFill>
                  <a:srgbClr val="A3A3A3"/>
                </a:solidFill>
                <a:latin typeface="Arial" pitchFamily="34" charset="0"/>
                <a:ea typeface="Arial" pitchFamily="34" charset="-122"/>
                <a:cs typeface="Arial" pitchFamily="34" charset="-120"/>
              </a:rPr>
              <a:t>ILLUSTRATIVE TYPE SYSTEM — NOT A SITE CAPTURE</a:t>
            </a:r>
            <a:endParaRPr lang="en-US" sz="900" dirty="0"/>
          </a:p>
        </p:txBody>
      </p:sp>
      <p:sp>
        <p:nvSpPr>
          <p:cNvPr id="9" name="slide-12-specimen-frame"/>
          <p:cNvSpPr/>
          <p:nvPr/>
        </p:nvSpPr>
        <p:spPr>
          <a:xfrm>
            <a:off x="6096000" y="2571750"/>
            <a:ext cx="5486400" cy="2324100"/>
          </a:xfrm>
          <a:prstGeom prst="roundRect">
            <a:avLst>
              <a:gd name="adj" fmla="val 820"/>
            </a:avLst>
          </a:prstGeom>
          <a:solidFill>
            <a:srgbClr val="101010"/>
          </a:solidFill>
          <a:ln w="9525">
            <a:solidFill>
              <a:srgbClr val="444444"/>
            </a:solidFill>
            <a:prstDash val="solid"/>
          </a:ln>
        </p:spPr>
      </p:sp>
      <p:sp>
        <p:nvSpPr>
          <p:cNvPr id="10" name="slide-12-alignment-guide"/>
          <p:cNvSpPr/>
          <p:nvPr/>
        </p:nvSpPr>
        <p:spPr>
          <a:xfrm>
            <a:off x="6334125" y="2781300"/>
            <a:ext cx="9525" cy="1866900"/>
          </a:xfrm>
          <a:prstGeom prst="rect">
            <a:avLst/>
          </a:prstGeom>
          <a:solidFill>
            <a:srgbClr val="555555"/>
          </a:solidFill>
          <a:ln w="12700">
            <a:solidFill>
              <a:srgbClr val="555555">
                <a:alpha val="0"/>
              </a:srgbClr>
            </a:solidFill>
            <a:prstDash val="solid"/>
          </a:ln>
        </p:spPr>
      </p:sp>
      <p:sp>
        <p:nvSpPr>
          <p:cNvPr id="11" name="slide-12-wordmark"/>
          <p:cNvSpPr txBox="1"/>
          <p:nvPr/>
        </p:nvSpPr>
        <p:spPr>
          <a:xfrm>
            <a:off x="6496050" y="2752725"/>
            <a:ext cx="2143125" cy="371475"/>
          </a:xfrm>
          <a:prstGeom prst="rect">
            <a:avLst/>
          </a:prstGeom>
          <a:noFill/>
          <a:ln/>
        </p:spPr>
        <p:txBody>
          <a:bodyPr wrap="square" lIns="0" tIns="0" rIns="0" bIns="0" rtlCol="0" anchor="t"/>
          <a:lstStyle/>
          <a:p>
            <a:pPr algn="l" indent="0" marL="0">
              <a:lnSpc>
                <a:spcPts val="2640"/>
              </a:lnSpc>
              <a:buNone/>
            </a:pPr>
            <a:r>
              <a:rPr lang="en-US" sz="2400" spc="-75" kern="0" dirty="0">
                <a:solidFill>
                  <a:srgbClr val="FFFFFF"/>
                </a:solidFill>
                <a:latin typeface="Georgia" pitchFamily="34" charset="0"/>
                <a:ea typeface="Georgia" pitchFamily="34" charset="-122"/>
                <a:cs typeface="Georgia" pitchFamily="34" charset="-120"/>
              </a:rPr>
              <a:t>atelier</a:t>
            </a:r>
            <a:endParaRPr lang="en-US" sz="2400" dirty="0"/>
          </a:p>
        </p:txBody>
      </p:sp>
      <p:sp>
        <p:nvSpPr>
          <p:cNvPr id="12" name="slide-12-wordmark-annotation"/>
          <p:cNvSpPr txBox="1"/>
          <p:nvPr/>
        </p:nvSpPr>
        <p:spPr>
          <a:xfrm>
            <a:off x="8886825" y="2857500"/>
            <a:ext cx="2447925" cy="209550"/>
          </a:xfrm>
          <a:prstGeom prst="rect">
            <a:avLst/>
          </a:prstGeom>
          <a:noFill/>
          <a:ln/>
        </p:spPr>
        <p:txBody>
          <a:bodyPr wrap="square" lIns="0" tIns="0" rIns="0" bIns="0" rtlCol="0" anchor="t"/>
          <a:lstStyle/>
          <a:p>
            <a:pPr algn="r" indent="0" marL="0">
              <a:lnSpc>
                <a:spcPts val="1080"/>
              </a:lnSpc>
              <a:buNone/>
            </a:pPr>
            <a:r>
              <a:rPr lang="en-US" sz="900" spc="60" kern="0" dirty="0">
                <a:solidFill>
                  <a:srgbClr val="A3A3A3"/>
                </a:solidFill>
                <a:latin typeface="Arial" pitchFamily="34" charset="0"/>
                <a:ea typeface="Arial" pitchFamily="34" charset="-122"/>
                <a:cs typeface="Arial" pitchFamily="34" charset="-120"/>
              </a:rPr>
              <a:t>WORDMARK / EXCEPTION</a:t>
            </a:r>
            <a:endParaRPr lang="en-US" sz="900" dirty="0"/>
          </a:p>
        </p:txBody>
      </p:sp>
      <p:sp>
        <p:nvSpPr>
          <p:cNvPr id="13" name="slide-12-specimen-heading"/>
          <p:cNvSpPr txBox="1"/>
          <p:nvPr/>
        </p:nvSpPr>
        <p:spPr>
          <a:xfrm>
            <a:off x="6496050" y="3324225"/>
            <a:ext cx="4191000" cy="400050"/>
          </a:xfrm>
          <a:prstGeom prst="rect">
            <a:avLst/>
          </a:prstGeom>
          <a:noFill/>
          <a:ln/>
        </p:spPr>
        <p:txBody>
          <a:bodyPr wrap="square" lIns="0" tIns="0" rIns="0" bIns="0" rtlCol="0" anchor="t"/>
          <a:lstStyle/>
          <a:p>
            <a:pPr algn="l" indent="0" marL="0">
              <a:lnSpc>
                <a:spcPts val="2475"/>
              </a:lnSpc>
              <a:buNone/>
            </a:pPr>
            <a:r>
              <a:rPr lang="en-US" sz="2250" spc="-45" kern="0" dirty="0">
                <a:solidFill>
                  <a:srgbClr val="FFFFFF"/>
                </a:solidFill>
                <a:latin typeface="Arial" pitchFamily="34" charset="0"/>
                <a:ea typeface="Arial" pitchFamily="34" charset="-122"/>
                <a:cs typeface="Arial" pitchFamily="34" charset="-120"/>
              </a:rPr>
              <a:t>Designed to feel coherent.</a:t>
            </a:r>
            <a:endParaRPr lang="en-US" sz="2250" dirty="0"/>
          </a:p>
        </p:txBody>
      </p:sp>
      <p:sp>
        <p:nvSpPr>
          <p:cNvPr id="14" name="slide-12-specimen-body"/>
          <p:cNvSpPr txBox="1"/>
          <p:nvPr/>
        </p:nvSpPr>
        <p:spPr>
          <a:xfrm>
            <a:off x="6496050" y="3810000"/>
            <a:ext cx="4381500" cy="266700"/>
          </a:xfrm>
          <a:prstGeom prst="rect">
            <a:avLst/>
          </a:prstGeom>
          <a:noFill/>
          <a:ln/>
        </p:spPr>
        <p:txBody>
          <a:bodyPr wrap="square" lIns="0" tIns="0" rIns="0" bIns="0" rtlCol="0" anchor="t"/>
          <a:lstStyle/>
          <a:p>
            <a:pPr algn="l" indent="0" marL="0">
              <a:lnSpc>
                <a:spcPts val="1620"/>
              </a:lnSpc>
              <a:buNone/>
            </a:pPr>
            <a:r>
              <a:rPr lang="en-US" sz="1350" dirty="0">
                <a:solidFill>
                  <a:srgbClr val="A3A3A3"/>
                </a:solidFill>
                <a:latin typeface="Arial" pitchFamily="34" charset="0"/>
                <a:ea typeface="Arial" pitchFamily="34" charset="-122"/>
                <a:cs typeface="Arial" pitchFamily="34" charset="-120"/>
              </a:rPr>
              <a:t>One shared family. A deliberate reading width.</a:t>
            </a:r>
            <a:endParaRPr lang="en-US" sz="1350" dirty="0"/>
          </a:p>
        </p:txBody>
      </p:sp>
      <p:sp>
        <p:nvSpPr>
          <p:cNvPr id="15" name="slide-12-button-primary"/>
          <p:cNvSpPr/>
          <p:nvPr/>
        </p:nvSpPr>
        <p:spPr>
          <a:xfrm>
            <a:off x="6496050" y="4286250"/>
            <a:ext cx="1371600" cy="371475"/>
          </a:xfrm>
          <a:prstGeom prst="roundRect">
            <a:avLst>
              <a:gd name="adj" fmla="val 5128"/>
            </a:avLst>
          </a:prstGeom>
          <a:solidFill>
            <a:srgbClr val="F5F5F5"/>
          </a:solidFill>
          <a:ln w="12700">
            <a:solidFill>
              <a:srgbClr val="F5F5F5">
                <a:alpha val="0"/>
              </a:srgbClr>
            </a:solidFill>
            <a:prstDash val="solid"/>
          </a:ln>
        </p:spPr>
      </p:sp>
      <p:sp>
        <p:nvSpPr>
          <p:cNvPr id="16" name="slide-12-button-primary-text"/>
          <p:cNvSpPr txBox="1"/>
          <p:nvPr/>
        </p:nvSpPr>
        <p:spPr>
          <a:xfrm>
            <a:off x="6591300" y="4391025"/>
            <a:ext cx="1181100" cy="190500"/>
          </a:xfrm>
          <a:prstGeom prst="rect">
            <a:avLst/>
          </a:prstGeom>
          <a:noFill/>
          <a:ln/>
        </p:spPr>
        <p:txBody>
          <a:bodyPr wrap="square" lIns="0" tIns="0" rIns="0" bIns="0" rtlCol="0" anchor="t"/>
          <a:lstStyle/>
          <a:p>
            <a:pPr algn="ctr" indent="0" marL="0">
              <a:lnSpc>
                <a:spcPts val="1238"/>
              </a:lnSpc>
              <a:buNone/>
            </a:pPr>
            <a:r>
              <a:rPr lang="en-US" sz="1125" dirty="0">
                <a:solidFill>
                  <a:srgbClr val="0A0A0A"/>
                </a:solidFill>
                <a:latin typeface="Arial" pitchFamily="34" charset="0"/>
                <a:ea typeface="Arial" pitchFamily="34" charset="-122"/>
                <a:cs typeface="Arial" pitchFamily="34" charset="-120"/>
              </a:rPr>
              <a:t>Explore work</a:t>
            </a:r>
            <a:endParaRPr lang="en-US" sz="1125" dirty="0"/>
          </a:p>
        </p:txBody>
      </p:sp>
      <p:sp>
        <p:nvSpPr>
          <p:cNvPr id="17" name="slide-12-button-secondary"/>
          <p:cNvSpPr/>
          <p:nvPr/>
        </p:nvSpPr>
        <p:spPr>
          <a:xfrm>
            <a:off x="8020050" y="4286250"/>
            <a:ext cx="1371600" cy="371475"/>
          </a:xfrm>
          <a:prstGeom prst="roundRect">
            <a:avLst>
              <a:gd name="adj" fmla="val 5128"/>
            </a:avLst>
          </a:prstGeom>
          <a:solidFill>
            <a:srgbClr val="101010"/>
          </a:solidFill>
          <a:ln w="9525">
            <a:solidFill>
              <a:srgbClr val="A3A3A3"/>
            </a:solidFill>
            <a:prstDash val="solid"/>
          </a:ln>
        </p:spPr>
      </p:sp>
      <p:sp>
        <p:nvSpPr>
          <p:cNvPr id="18" name="slide-12-button-secondary-text"/>
          <p:cNvSpPr txBox="1"/>
          <p:nvPr/>
        </p:nvSpPr>
        <p:spPr>
          <a:xfrm>
            <a:off x="8115300" y="4391025"/>
            <a:ext cx="1181100" cy="190500"/>
          </a:xfrm>
          <a:prstGeom prst="rect">
            <a:avLst/>
          </a:prstGeom>
          <a:noFill/>
          <a:ln/>
        </p:spPr>
        <p:txBody>
          <a:bodyPr wrap="square" lIns="0" tIns="0" rIns="0" bIns="0" rtlCol="0" anchor="t"/>
          <a:lstStyle/>
          <a:p>
            <a:pPr algn="ctr" indent="0" marL="0">
              <a:lnSpc>
                <a:spcPts val="1238"/>
              </a:lnSpc>
              <a:buNone/>
            </a:pPr>
            <a:r>
              <a:rPr lang="en-US" sz="1125" dirty="0">
                <a:solidFill>
                  <a:srgbClr val="FFFFFF"/>
                </a:solidFill>
                <a:latin typeface="Arial" pitchFamily="34" charset="0"/>
                <a:ea typeface="Arial" pitchFamily="34" charset="-122"/>
                <a:cs typeface="Arial" pitchFamily="34" charset="-120"/>
              </a:rPr>
              <a:t>Our approach</a:t>
            </a:r>
            <a:endParaRPr lang="en-US" sz="1125" dirty="0"/>
          </a:p>
        </p:txBody>
      </p:sp>
      <p:sp>
        <p:nvSpPr>
          <p:cNvPr id="19" name="slide-12-prompt-rule"/>
          <p:cNvSpPr/>
          <p:nvPr/>
        </p:nvSpPr>
        <p:spPr>
          <a:xfrm>
            <a:off x="609600" y="5248275"/>
            <a:ext cx="10972800" cy="9525"/>
          </a:xfrm>
          <a:prstGeom prst="rect">
            <a:avLst/>
          </a:prstGeom>
          <a:solidFill>
            <a:srgbClr val="444444"/>
          </a:solidFill>
          <a:ln w="12700">
            <a:solidFill>
              <a:srgbClr val="444444">
                <a:alpha val="0"/>
              </a:srgbClr>
            </a:solidFill>
            <a:prstDash val="solid"/>
          </a:ln>
        </p:spPr>
      </p:sp>
      <p:sp>
        <p:nvSpPr>
          <p:cNvPr id="20" name="slide-12-prompt-label"/>
          <p:cNvSpPr txBox="1"/>
          <p:nvPr/>
        </p:nvSpPr>
        <p:spPr>
          <a:xfrm>
            <a:off x="609600" y="5476875"/>
            <a:ext cx="1905000" cy="457200"/>
          </a:xfrm>
          <a:prstGeom prst="rect">
            <a:avLst/>
          </a:prstGeom>
          <a:noFill/>
          <a:ln/>
        </p:spPr>
        <p:txBody>
          <a:bodyPr wrap="square" lIns="0" tIns="0" rIns="0" bIns="0" rtlCol="0" anchor="t"/>
          <a:lstStyle/>
          <a:p>
            <a:pPr algn="l" indent="0" marL="0">
              <a:lnSpc>
                <a:spcPts val="1463"/>
              </a:lnSpc>
              <a:buNone/>
            </a:pPr>
            <a:r>
              <a:rPr lang="en-US" sz="975" spc="98" kern="0" dirty="0">
                <a:solidFill>
                  <a:srgbClr val="A3A3A3"/>
                </a:solidFill>
                <a:latin typeface="Arial" pitchFamily="34" charset="0"/>
                <a:ea typeface="Arial" pitchFamily="34" charset="-122"/>
                <a:cs typeface="Arial" pitchFamily="34" charset="-120"/>
              </a:rPr>
              <a:t>PROMPT</a:t>
            </a:r>
            <a:endParaRPr lang="en-US" sz="975" dirty="0"/>
          </a:p>
          <a:p>
            <a:pPr algn="l" indent="0" marL="0">
              <a:lnSpc>
                <a:spcPts val="1463"/>
              </a:lnSpc>
              <a:buNone/>
            </a:pPr>
            <a:r>
              <a:rPr lang="en-US" sz="975" spc="98" kern="0" dirty="0">
                <a:solidFill>
                  <a:srgbClr val="A3A3A3"/>
                </a:solidFill>
                <a:latin typeface="Arial" pitchFamily="34" charset="0"/>
                <a:ea typeface="Arial" pitchFamily="34" charset="-122"/>
                <a:cs typeface="Arial" pitchFamily="34" charset="-120"/>
              </a:rPr>
              <a:t>CLAUDE CODE</a:t>
            </a:r>
            <a:endParaRPr lang="en-US" sz="975" dirty="0"/>
          </a:p>
        </p:txBody>
      </p:sp>
      <p:sp>
        <p:nvSpPr>
          <p:cNvPr id="21" name="slide-12-prompt"/>
          <p:cNvSpPr txBox="1"/>
          <p:nvPr/>
        </p:nvSpPr>
        <p:spPr>
          <a:xfrm>
            <a:off x="2647950" y="5457825"/>
            <a:ext cx="8934450" cy="685800"/>
          </a:xfrm>
          <a:prstGeom prst="rect">
            <a:avLst/>
          </a:prstGeom>
          <a:noFill/>
          <a:ln/>
        </p:spPr>
        <p:txBody>
          <a:bodyPr wrap="square" lIns="0" tIns="0" rIns="0" bIns="0" rtlCol="0" anchor="t"/>
          <a:lstStyle/>
          <a:p>
            <a:pPr algn="l" indent="0" marL="0">
              <a:lnSpc>
                <a:spcPts val="2438"/>
              </a:lnSpc>
              <a:buNone/>
            </a:pPr>
            <a:r>
              <a:rPr lang="en-US" sz="1875" dirty="0">
                <a:solidFill>
                  <a:srgbClr val="FFFFFF"/>
                </a:solidFill>
                <a:latin typeface="Arial" pitchFamily="34" charset="0"/>
                <a:ea typeface="Arial" pitchFamily="34" charset="-122"/>
                <a:cs typeface="Arial" pitchFamily="34" charset="-120"/>
              </a:rPr>
              <a:t>“Standardize body and heading styles, refine spacing,</a:t>
            </a:r>
            <a:endParaRPr lang="en-US" sz="1875" dirty="0"/>
          </a:p>
          <a:p>
            <a:pPr algn="l" indent="0" marL="0">
              <a:lnSpc>
                <a:spcPts val="2438"/>
              </a:lnSpc>
              <a:buNone/>
            </a:pPr>
            <a:r>
              <a:rPr lang="en-US" sz="1875" dirty="0">
                <a:solidFill>
                  <a:srgbClr val="FFFFFF"/>
                </a:solidFill>
                <a:latin typeface="Arial" pitchFamily="34" charset="0"/>
                <a:ea typeface="Arial" pitchFamily="34" charset="-122"/>
                <a:cs typeface="Arial" pitchFamily="34" charset="-120"/>
              </a:rPr>
              <a:t>and preserve the wordmark treatment.”</a:t>
            </a:r>
            <a:endParaRPr lang="en-US" sz="1875" dirty="0"/>
          </a:p>
        </p:txBody>
      </p:sp>
      <p:sp>
        <p:nvSpPr>
          <p:cNvPr id="22" name="slide-12-footer-rule"/>
          <p:cNvSpPr/>
          <p:nvPr/>
        </p:nvSpPr>
        <p:spPr>
          <a:xfrm>
            <a:off x="609600" y="6353175"/>
            <a:ext cx="10972800" cy="9525"/>
          </a:xfrm>
          <a:prstGeom prst="rect">
            <a:avLst/>
          </a:prstGeom>
          <a:solidFill>
            <a:srgbClr val="222222"/>
          </a:solidFill>
          <a:ln w="12700">
            <a:solidFill>
              <a:srgbClr val="222222">
                <a:alpha val="0"/>
              </a:srgbClr>
            </a:solidFill>
            <a:prstDash val="solid"/>
          </a:ln>
        </p:spPr>
      </p:sp>
      <p:sp>
        <p:nvSpPr>
          <p:cNvPr id="23" name="slide-12-footer"/>
          <p:cNvSpPr txBox="1"/>
          <p:nvPr/>
        </p:nvSpPr>
        <p:spPr>
          <a:xfrm>
            <a:off x="609600" y="6505575"/>
            <a:ext cx="9144000" cy="180975"/>
          </a:xfrm>
          <a:prstGeom prst="rect">
            <a:avLst/>
          </a:prstGeom>
          <a:noFill/>
          <a:ln/>
        </p:spPr>
        <p:txBody>
          <a:bodyPr wrap="square" lIns="0" tIns="0" rIns="0" bIns="0" rtlCol="0" anchor="t"/>
          <a:lstStyle/>
          <a:p>
            <a:pPr algn="l" indent="0" marL="0">
              <a:lnSpc>
                <a:spcPts val="990"/>
              </a:lnSpc>
              <a:buNone/>
            </a:pPr>
            <a:r>
              <a:rPr lang="en-US" sz="825" spc="90" kern="0" dirty="0">
                <a:solidFill>
                  <a:srgbClr val="A3A3A3"/>
                </a:solidFill>
                <a:latin typeface="Arial" pitchFamily="34" charset="0"/>
                <a:ea typeface="Arial" pitchFamily="34" charset="-122"/>
                <a:cs typeface="Arial" pitchFamily="34" charset="-120"/>
              </a:rPr>
              <a:t>VIBE CODING  /  ONE FOCUSED PASS AT A TIME</a:t>
            </a:r>
            <a:endParaRPr lang="en-US" sz="825" dirty="0"/>
          </a:p>
        </p:txBody>
      </p:sp>
      <p:sp>
        <p:nvSpPr>
          <p:cNvPr id="24" name="slide-12-page"/>
          <p:cNvSpPr txBox="1"/>
          <p:nvPr/>
        </p:nvSpPr>
        <p:spPr>
          <a:xfrm>
            <a:off x="10439400" y="6486525"/>
            <a:ext cx="1143000" cy="209550"/>
          </a:xfrm>
          <a:prstGeom prst="rect">
            <a:avLst/>
          </a:prstGeom>
          <a:noFill/>
          <a:ln/>
        </p:spPr>
        <p:txBody>
          <a:bodyPr wrap="square" lIns="0" tIns="0" rIns="0" bIns="0" rtlCol="0" anchor="t"/>
          <a:lstStyle/>
          <a:p>
            <a:pPr algn="r" indent="0" marL="0">
              <a:lnSpc>
                <a:spcPts val="1170"/>
              </a:lnSpc>
              <a:buNone/>
            </a:pPr>
            <a:r>
              <a:rPr lang="en-US" sz="975" spc="75" kern="0" dirty="0">
                <a:solidFill>
                  <a:srgbClr val="A3A3A3"/>
                </a:solidFill>
                <a:latin typeface="Arial" pitchFamily="34" charset="0"/>
                <a:ea typeface="Arial" pitchFamily="34" charset="-122"/>
                <a:cs typeface="Arial" pitchFamily="34" charset="-120"/>
              </a:rPr>
              <a:t>12 / 20</a:t>
            </a:r>
            <a:endParaRPr lang="en-US" sz="975"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0A0A0A"/>
        </a:solidFill>
      </p:bgPr>
    </p:bg>
    <p:spTree>
      <p:nvGrpSpPr>
        <p:cNvPr id="1" name=""/>
        <p:cNvGrpSpPr/>
        <p:nvPr/>
      </p:nvGrpSpPr>
      <p:grpSpPr>
        <a:xfrm>
          <a:off x="0" y="0"/>
          <a:ext cx="0" cy="0"/>
          <a:chOff x="0" y="0"/>
          <a:chExt cx="0" cy="0"/>
        </a:xfrm>
      </p:grpSpPr>
      <p:sp>
        <p:nvSpPr>
          <p:cNvPr id="3" name="slide-13-eyebrow"/>
          <p:cNvSpPr txBox="1"/>
          <p:nvPr/>
        </p:nvSpPr>
        <p:spPr>
          <a:xfrm>
            <a:off x="609600" y="304800"/>
            <a:ext cx="9810750" cy="209550"/>
          </a:xfrm>
          <a:prstGeom prst="rect">
            <a:avLst/>
          </a:prstGeom>
          <a:noFill/>
          <a:ln/>
        </p:spPr>
        <p:txBody>
          <a:bodyPr wrap="square" lIns="0" tIns="0" rIns="0" bIns="0" rtlCol="0" anchor="t"/>
          <a:lstStyle/>
          <a:p>
            <a:pPr algn="l" indent="0" marL="0">
              <a:lnSpc>
                <a:spcPts val="1170"/>
              </a:lnSpc>
              <a:buNone/>
            </a:pPr>
            <a:r>
              <a:rPr lang="en-US" sz="975" spc="113" kern="0" dirty="0">
                <a:solidFill>
                  <a:srgbClr val="A3A3A3"/>
                </a:solidFill>
                <a:latin typeface="Courier New" pitchFamily="34" charset="0"/>
                <a:ea typeface="Courier New" pitchFamily="34" charset="-122"/>
                <a:cs typeface="Courier New" pitchFamily="34" charset="-120"/>
              </a:rPr>
              <a:t>CLAUDE CODE / RESPONSIVE DESIGN</a:t>
            </a:r>
            <a:endParaRPr lang="en-US" sz="975" dirty="0"/>
          </a:p>
        </p:txBody>
      </p:sp>
      <p:sp>
        <p:nvSpPr>
          <p:cNvPr id="4" name="slide-13-index"/>
          <p:cNvSpPr txBox="1"/>
          <p:nvPr/>
        </p:nvSpPr>
        <p:spPr>
          <a:xfrm>
            <a:off x="10477500" y="304800"/>
            <a:ext cx="1104900" cy="209550"/>
          </a:xfrm>
          <a:prstGeom prst="rect">
            <a:avLst/>
          </a:prstGeom>
          <a:noFill/>
          <a:ln/>
        </p:spPr>
        <p:txBody>
          <a:bodyPr wrap="square" lIns="0" tIns="0" rIns="0" bIns="0" rtlCol="0" anchor="t"/>
          <a:lstStyle/>
          <a:p>
            <a:pPr algn="r" indent="0" marL="0">
              <a:lnSpc>
                <a:spcPts val="1170"/>
              </a:lnSpc>
              <a:buNone/>
            </a:pPr>
            <a:r>
              <a:rPr lang="en-US" sz="975" dirty="0">
                <a:solidFill>
                  <a:srgbClr val="A3A3A3"/>
                </a:solidFill>
                <a:latin typeface="Courier New" pitchFamily="34" charset="0"/>
                <a:ea typeface="Courier New" pitchFamily="34" charset="-122"/>
                <a:cs typeface="Courier New" pitchFamily="34" charset="-120"/>
              </a:rPr>
              <a:t>13 / 20</a:t>
            </a:r>
            <a:endParaRPr lang="en-US" sz="975" dirty="0"/>
          </a:p>
        </p:txBody>
      </p:sp>
      <p:sp>
        <p:nvSpPr>
          <p:cNvPr id="5" name="slide-13-title"/>
          <p:cNvSpPr txBox="1"/>
          <p:nvPr/>
        </p:nvSpPr>
        <p:spPr>
          <a:xfrm>
            <a:off x="609600" y="752475"/>
            <a:ext cx="10668000" cy="1028700"/>
          </a:xfrm>
          <a:prstGeom prst="rect">
            <a:avLst/>
          </a:prstGeom>
          <a:noFill/>
          <a:ln/>
        </p:spPr>
        <p:txBody>
          <a:bodyPr wrap="square" lIns="0" tIns="0" rIns="0" bIns="0" rtlCol="0" anchor="t"/>
          <a:lstStyle/>
          <a:p>
            <a:pPr algn="l" indent="0" marL="0">
              <a:lnSpc>
                <a:spcPts val="3696"/>
              </a:lnSpc>
              <a:buNone/>
            </a:pPr>
            <a:r>
              <a:rPr lang="en-US" sz="3300" b="1" spc="-75" kern="0" dirty="0">
                <a:solidFill>
                  <a:srgbClr val="FFFFFF"/>
                </a:solidFill>
                <a:latin typeface="Arial" pitchFamily="34" charset="0"/>
                <a:ea typeface="Arial" pitchFamily="34" charset="-122"/>
                <a:cs typeface="Arial" pitchFamily="34" charset="-120"/>
              </a:rPr>
              <a:t>Define how the layout adapts</a:t>
            </a:r>
            <a:endParaRPr lang="en-US" sz="3300" dirty="0"/>
          </a:p>
          <a:p>
            <a:pPr algn="l" indent="0" marL="0">
              <a:lnSpc>
                <a:spcPts val="3696"/>
              </a:lnSpc>
              <a:buNone/>
            </a:pPr>
            <a:r>
              <a:rPr lang="en-US" sz="3300" b="1" spc="-75" kern="0" dirty="0">
                <a:solidFill>
                  <a:srgbClr val="FFFFFF"/>
                </a:solidFill>
                <a:latin typeface="Arial" pitchFamily="34" charset="0"/>
                <a:ea typeface="Arial" pitchFamily="34" charset="-122"/>
                <a:cs typeface="Arial" pitchFamily="34" charset="-120"/>
              </a:rPr>
              <a:t>to narrow screens</a:t>
            </a:r>
            <a:endParaRPr lang="en-US" sz="3300" dirty="0"/>
          </a:p>
        </p:txBody>
      </p:sp>
      <p:sp>
        <p:nvSpPr>
          <p:cNvPr id="6" name="slide-13-lead"/>
          <p:cNvSpPr txBox="1"/>
          <p:nvPr/>
        </p:nvSpPr>
        <p:spPr>
          <a:xfrm>
            <a:off x="609600" y="1895475"/>
            <a:ext cx="10668000" cy="304800"/>
          </a:xfrm>
          <a:prstGeom prst="rect">
            <a:avLst/>
          </a:prstGeom>
          <a:noFill/>
          <a:ln/>
        </p:spPr>
        <p:txBody>
          <a:bodyPr wrap="square" lIns="0" tIns="0" rIns="0" bIns="0" rtlCol="0" anchor="t"/>
          <a:lstStyle/>
          <a:p>
            <a:pPr algn="l" indent="0" marL="0">
              <a:lnSpc>
                <a:spcPts val="2070"/>
              </a:lnSpc>
              <a:buNone/>
            </a:pPr>
            <a:r>
              <a:rPr lang="en-US" sz="1725" dirty="0">
                <a:solidFill>
                  <a:srgbClr val="A3A3A3"/>
                </a:solidFill>
                <a:latin typeface="Arial" pitchFamily="34" charset="0"/>
                <a:ea typeface="Arial" pitchFamily="34" charset="-122"/>
                <a:cs typeface="Arial" pitchFamily="34" charset="-120"/>
              </a:rPr>
              <a:t>Give Claude Code explicit mobile requirements, then check the result.</a:t>
            </a:r>
            <a:endParaRPr lang="en-US" sz="1725" dirty="0"/>
          </a:p>
        </p:txBody>
      </p:sp>
      <p:sp>
        <p:nvSpPr>
          <p:cNvPr id="7" name="slide-13-card-number-0"/>
          <p:cNvSpPr txBox="1"/>
          <p:nvPr/>
        </p:nvSpPr>
        <p:spPr>
          <a:xfrm>
            <a:off x="609600" y="2505075"/>
            <a:ext cx="4000500" cy="209550"/>
          </a:xfrm>
          <a:prstGeom prst="rect">
            <a:avLst/>
          </a:prstGeom>
          <a:noFill/>
          <a:ln/>
        </p:spPr>
        <p:txBody>
          <a:bodyPr wrap="square" lIns="0" tIns="0" rIns="0" bIns="0" rtlCol="0" anchor="t"/>
          <a:lstStyle/>
          <a:p>
            <a:pPr algn="l" indent="0" marL="0">
              <a:lnSpc>
                <a:spcPts val="1170"/>
              </a:lnSpc>
              <a:buNone/>
            </a:pPr>
            <a:r>
              <a:rPr lang="en-US" sz="975" spc="75" kern="0" dirty="0">
                <a:solidFill>
                  <a:srgbClr val="A3A3A3"/>
                </a:solidFill>
                <a:latin typeface="Courier New" pitchFamily="34" charset="0"/>
                <a:ea typeface="Courier New" pitchFamily="34" charset="-122"/>
                <a:cs typeface="Courier New" pitchFamily="34" charset="-120"/>
              </a:rPr>
              <a:t>DESKTOP / TWO COLUMNS</a:t>
            </a:r>
            <a:endParaRPr lang="en-US" sz="975" dirty="0"/>
          </a:p>
        </p:txBody>
      </p:sp>
      <p:sp>
        <p:nvSpPr>
          <p:cNvPr id="8" name="slide-13-card-0"/>
          <p:cNvSpPr/>
          <p:nvPr/>
        </p:nvSpPr>
        <p:spPr>
          <a:xfrm>
            <a:off x="609600" y="2819400"/>
            <a:ext cx="4000500" cy="2362200"/>
          </a:xfrm>
          <a:prstGeom prst="roundRect">
            <a:avLst>
              <a:gd name="adj" fmla="val 806"/>
            </a:avLst>
          </a:prstGeom>
          <a:solidFill>
            <a:srgbClr val="101010"/>
          </a:solidFill>
          <a:ln w="9525">
            <a:solidFill>
              <a:srgbClr val="A3A3A3"/>
            </a:solidFill>
            <a:prstDash val="solid"/>
          </a:ln>
        </p:spPr>
      </p:sp>
      <p:sp>
        <p:nvSpPr>
          <p:cNvPr id="9" name="slide-13-desktop-header-rule"/>
          <p:cNvSpPr/>
          <p:nvPr/>
        </p:nvSpPr>
        <p:spPr>
          <a:xfrm>
            <a:off x="609600" y="3219450"/>
            <a:ext cx="4000500" cy="9525"/>
          </a:xfrm>
          <a:prstGeom prst="rect">
            <a:avLst/>
          </a:prstGeom>
          <a:solidFill>
            <a:srgbClr val="444444"/>
          </a:solidFill>
          <a:ln w="12700">
            <a:solidFill>
              <a:srgbClr val="444444">
                <a:alpha val="0"/>
              </a:srgbClr>
            </a:solidFill>
            <a:prstDash val="solid"/>
          </a:ln>
        </p:spPr>
      </p:sp>
      <p:sp>
        <p:nvSpPr>
          <p:cNvPr id="10" name="slide-13-desktop-brand"/>
          <p:cNvSpPr txBox="1"/>
          <p:nvPr/>
        </p:nvSpPr>
        <p:spPr>
          <a:xfrm>
            <a:off x="781050" y="2943225"/>
            <a:ext cx="1095375" cy="190500"/>
          </a:xfrm>
          <a:prstGeom prst="rect">
            <a:avLst/>
          </a:prstGeom>
          <a:noFill/>
          <a:ln/>
        </p:spPr>
        <p:txBody>
          <a:bodyPr wrap="square" lIns="0" tIns="0" rIns="0" bIns="0" rtlCol="0" anchor="t"/>
          <a:lstStyle/>
          <a:p>
            <a:pPr algn="l" indent="0" marL="0">
              <a:lnSpc>
                <a:spcPts val="1260"/>
              </a:lnSpc>
              <a:buNone/>
            </a:pPr>
            <a:r>
              <a:rPr lang="en-US" sz="1050" b="1" dirty="0">
                <a:solidFill>
                  <a:srgbClr val="FFFFFF"/>
                </a:solidFill>
                <a:latin typeface="Arial" pitchFamily="34" charset="0"/>
                <a:ea typeface="Arial" pitchFamily="34" charset="-122"/>
                <a:cs typeface="Arial" pitchFamily="34" charset="-120"/>
              </a:rPr>
              <a:t>STUDIO</a:t>
            </a:r>
            <a:endParaRPr lang="en-US" sz="1050" dirty="0"/>
          </a:p>
        </p:txBody>
      </p:sp>
      <p:sp>
        <p:nvSpPr>
          <p:cNvPr id="11" name="slide-13-desktop-nav"/>
          <p:cNvSpPr txBox="1"/>
          <p:nvPr/>
        </p:nvSpPr>
        <p:spPr>
          <a:xfrm>
            <a:off x="2362200" y="2943225"/>
            <a:ext cx="2076450" cy="190500"/>
          </a:xfrm>
          <a:prstGeom prst="rect">
            <a:avLst/>
          </a:prstGeom>
          <a:noFill/>
          <a:ln/>
        </p:spPr>
        <p:txBody>
          <a:bodyPr wrap="square" lIns="0" tIns="0" rIns="0" bIns="0" rtlCol="0" anchor="t"/>
          <a:lstStyle/>
          <a:p>
            <a:pPr algn="r" indent="0" marL="0">
              <a:lnSpc>
                <a:spcPts val="1170"/>
              </a:lnSpc>
              <a:buNone/>
            </a:pPr>
            <a:r>
              <a:rPr lang="en-US" sz="975" dirty="0">
                <a:solidFill>
                  <a:srgbClr val="A3A3A3"/>
                </a:solidFill>
                <a:latin typeface="Arial" pitchFamily="34" charset="0"/>
                <a:ea typeface="Arial" pitchFamily="34" charset="-122"/>
                <a:cs typeface="Arial" pitchFamily="34" charset="-120"/>
              </a:rPr>
              <a:t>Work   About   Contact</a:t>
            </a:r>
            <a:endParaRPr lang="en-US" sz="975" dirty="0"/>
          </a:p>
        </p:txBody>
      </p:sp>
      <p:sp>
        <p:nvSpPr>
          <p:cNvPr id="12" name="slide-13-desktop-section"/>
          <p:cNvSpPr txBox="1"/>
          <p:nvPr/>
        </p:nvSpPr>
        <p:spPr>
          <a:xfrm>
            <a:off x="781050" y="3371850"/>
            <a:ext cx="3048000" cy="228600"/>
          </a:xfrm>
          <a:prstGeom prst="rect">
            <a:avLst/>
          </a:prstGeom>
          <a:noFill/>
          <a:ln/>
        </p:spPr>
        <p:txBody>
          <a:bodyPr wrap="square" lIns="0" tIns="0" rIns="0" bIns="0" rtlCol="0" anchor="t"/>
          <a:lstStyle/>
          <a:p>
            <a:pPr algn="l" indent="0" marL="0">
              <a:lnSpc>
                <a:spcPts val="1620"/>
              </a:lnSpc>
              <a:buNone/>
            </a:pPr>
            <a:r>
              <a:rPr lang="en-US" sz="1350" dirty="0">
                <a:solidFill>
                  <a:srgbClr val="FFFFFF"/>
                </a:solidFill>
                <a:latin typeface="Arial" pitchFamily="34" charset="0"/>
                <a:ea typeface="Arial" pitchFamily="34" charset="-122"/>
                <a:cs typeface="Arial" pitchFamily="34" charset="-120"/>
              </a:rPr>
              <a:t>Selected work</a:t>
            </a:r>
            <a:endParaRPr lang="en-US" sz="1350" dirty="0"/>
          </a:p>
        </p:txBody>
      </p:sp>
      <p:sp>
        <p:nvSpPr>
          <p:cNvPr id="13" name="slide-13-desktop-a"/>
          <p:cNvSpPr/>
          <p:nvPr/>
        </p:nvSpPr>
        <p:spPr>
          <a:xfrm>
            <a:off x="781050" y="3705225"/>
            <a:ext cx="1733550" cy="1238250"/>
          </a:xfrm>
          <a:prstGeom prst="rect">
            <a:avLst/>
          </a:prstGeom>
          <a:solidFill>
            <a:srgbClr val="F5F5F5"/>
          </a:solidFill>
          <a:ln w="12700">
            <a:solidFill>
              <a:srgbClr val="F5F5F5">
                <a:alpha val="0"/>
              </a:srgbClr>
            </a:solidFill>
            <a:prstDash val="solid"/>
          </a:ln>
        </p:spPr>
      </p:sp>
      <p:sp>
        <p:nvSpPr>
          <p:cNvPr id="14" name="slide-13-desktop-b"/>
          <p:cNvSpPr/>
          <p:nvPr/>
        </p:nvSpPr>
        <p:spPr>
          <a:xfrm>
            <a:off x="2667000" y="3705225"/>
            <a:ext cx="1771650" cy="1238250"/>
          </a:xfrm>
          <a:prstGeom prst="rect">
            <a:avLst/>
          </a:prstGeom>
          <a:solidFill>
            <a:srgbClr val="222222"/>
          </a:solidFill>
          <a:ln w="9525">
            <a:solidFill>
              <a:srgbClr val="777777"/>
            </a:solidFill>
            <a:prstDash val="solid"/>
          </a:ln>
        </p:spPr>
      </p:sp>
      <p:sp>
        <p:nvSpPr>
          <p:cNvPr id="15" name="slide-13-desktop-a-label"/>
          <p:cNvSpPr txBox="1"/>
          <p:nvPr/>
        </p:nvSpPr>
        <p:spPr>
          <a:xfrm>
            <a:off x="952500" y="4095750"/>
            <a:ext cx="1390650" cy="457200"/>
          </a:xfrm>
          <a:prstGeom prst="rect">
            <a:avLst/>
          </a:prstGeom>
          <a:noFill/>
          <a:ln/>
        </p:spPr>
        <p:txBody>
          <a:bodyPr wrap="square" lIns="0" tIns="0" rIns="0" bIns="0" rtlCol="0" anchor="t"/>
          <a:lstStyle/>
          <a:p>
            <a:pPr algn="ctr" indent="0" marL="0">
              <a:lnSpc>
                <a:spcPts val="3240"/>
              </a:lnSpc>
              <a:buNone/>
            </a:pPr>
            <a:r>
              <a:rPr lang="en-US" sz="2700" dirty="0">
                <a:solidFill>
                  <a:srgbClr val="0A0A0A"/>
                </a:solidFill>
                <a:latin typeface="Arial" pitchFamily="34" charset="0"/>
                <a:ea typeface="Arial" pitchFamily="34" charset="-122"/>
                <a:cs typeface="Arial" pitchFamily="34" charset="-120"/>
              </a:rPr>
              <a:t>A</a:t>
            </a:r>
            <a:endParaRPr lang="en-US" sz="2700" dirty="0"/>
          </a:p>
        </p:txBody>
      </p:sp>
      <p:sp>
        <p:nvSpPr>
          <p:cNvPr id="16" name="slide-13-desktop-b-label"/>
          <p:cNvSpPr txBox="1"/>
          <p:nvPr/>
        </p:nvSpPr>
        <p:spPr>
          <a:xfrm>
            <a:off x="2838450" y="4095750"/>
            <a:ext cx="1428750" cy="457200"/>
          </a:xfrm>
          <a:prstGeom prst="rect">
            <a:avLst/>
          </a:prstGeom>
          <a:noFill/>
          <a:ln/>
        </p:spPr>
        <p:txBody>
          <a:bodyPr wrap="square" lIns="0" tIns="0" rIns="0" bIns="0" rtlCol="0" anchor="t"/>
          <a:lstStyle/>
          <a:p>
            <a:pPr algn="ctr" indent="0" marL="0">
              <a:lnSpc>
                <a:spcPts val="3240"/>
              </a:lnSpc>
              <a:buNone/>
            </a:pPr>
            <a:r>
              <a:rPr lang="en-US" sz="2700" dirty="0">
                <a:solidFill>
                  <a:srgbClr val="FFFFFF"/>
                </a:solidFill>
                <a:latin typeface="Arial" pitchFamily="34" charset="0"/>
                <a:ea typeface="Arial" pitchFamily="34" charset="-122"/>
                <a:cs typeface="Arial" pitchFamily="34" charset="-120"/>
              </a:rPr>
              <a:t>B</a:t>
            </a:r>
            <a:endParaRPr lang="en-US" sz="2700" dirty="0"/>
          </a:p>
        </p:txBody>
      </p:sp>
      <p:pic>
        <p:nvPicPr>
          <p:cNvPr id="17" name="slide-13-reflow-arrow" descr="preencoded.pn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4781550" y="3905250"/>
            <a:ext cx="495300" cy="190500"/>
          </a:xfrm>
          <a:prstGeom prst="rect">
            <a:avLst/>
          </a:prstGeom>
        </p:spPr>
      </p:pic>
      <p:sp>
        <p:nvSpPr>
          <p:cNvPr id="18" name="slide-13-card-number-1"/>
          <p:cNvSpPr txBox="1"/>
          <p:nvPr/>
        </p:nvSpPr>
        <p:spPr>
          <a:xfrm>
            <a:off x="5467350" y="2505075"/>
            <a:ext cx="1943100" cy="209550"/>
          </a:xfrm>
          <a:prstGeom prst="rect">
            <a:avLst/>
          </a:prstGeom>
          <a:noFill/>
          <a:ln/>
        </p:spPr>
        <p:txBody>
          <a:bodyPr wrap="square" lIns="0" tIns="0" rIns="0" bIns="0" rtlCol="0" anchor="t"/>
          <a:lstStyle/>
          <a:p>
            <a:pPr algn="l" indent="0" marL="0">
              <a:lnSpc>
                <a:spcPts val="1170"/>
              </a:lnSpc>
              <a:buNone/>
            </a:pPr>
            <a:r>
              <a:rPr lang="en-US" sz="975" spc="45" kern="0" dirty="0">
                <a:solidFill>
                  <a:srgbClr val="A3A3A3"/>
                </a:solidFill>
                <a:latin typeface="Courier New" pitchFamily="34" charset="0"/>
                <a:ea typeface="Courier New" pitchFamily="34" charset="-122"/>
                <a:cs typeface="Courier New" pitchFamily="34" charset="-120"/>
              </a:rPr>
              <a:t>NARROW / STACKED</a:t>
            </a:r>
            <a:endParaRPr lang="en-US" sz="975" dirty="0"/>
          </a:p>
        </p:txBody>
      </p:sp>
      <p:sp>
        <p:nvSpPr>
          <p:cNvPr id="19" name="slide-13-card-1"/>
          <p:cNvSpPr/>
          <p:nvPr/>
        </p:nvSpPr>
        <p:spPr>
          <a:xfrm>
            <a:off x="5467350" y="2819400"/>
            <a:ext cx="1943100" cy="2667000"/>
          </a:xfrm>
          <a:prstGeom prst="roundRect">
            <a:avLst>
              <a:gd name="adj" fmla="val 980"/>
            </a:avLst>
          </a:prstGeom>
          <a:solidFill>
            <a:srgbClr val="101010"/>
          </a:solidFill>
          <a:ln w="9525">
            <a:solidFill>
              <a:srgbClr val="A3A3A3"/>
            </a:solidFill>
            <a:prstDash val="solid"/>
          </a:ln>
        </p:spPr>
      </p:sp>
      <p:sp>
        <p:nvSpPr>
          <p:cNvPr id="20" name="slide-13-mobile-header-rule"/>
          <p:cNvSpPr/>
          <p:nvPr/>
        </p:nvSpPr>
        <p:spPr>
          <a:xfrm>
            <a:off x="5467350" y="3219450"/>
            <a:ext cx="1943100" cy="9525"/>
          </a:xfrm>
          <a:prstGeom prst="rect">
            <a:avLst/>
          </a:prstGeom>
          <a:solidFill>
            <a:srgbClr val="444444"/>
          </a:solidFill>
          <a:ln w="12700">
            <a:solidFill>
              <a:srgbClr val="444444">
                <a:alpha val="0"/>
              </a:srgbClr>
            </a:solidFill>
            <a:prstDash val="solid"/>
          </a:ln>
        </p:spPr>
      </p:sp>
      <p:sp>
        <p:nvSpPr>
          <p:cNvPr id="21" name="slide-13-mobile-brand"/>
          <p:cNvSpPr txBox="1"/>
          <p:nvPr/>
        </p:nvSpPr>
        <p:spPr>
          <a:xfrm>
            <a:off x="5619750" y="2943225"/>
            <a:ext cx="800100" cy="190500"/>
          </a:xfrm>
          <a:prstGeom prst="rect">
            <a:avLst/>
          </a:prstGeom>
          <a:noFill/>
          <a:ln/>
        </p:spPr>
        <p:txBody>
          <a:bodyPr wrap="square" lIns="0" tIns="0" rIns="0" bIns="0" rtlCol="0" anchor="t"/>
          <a:lstStyle/>
          <a:p>
            <a:pPr algn="l" indent="0" marL="0">
              <a:lnSpc>
                <a:spcPts val="1260"/>
              </a:lnSpc>
              <a:buNone/>
            </a:pPr>
            <a:r>
              <a:rPr lang="en-US" sz="1050" b="1" dirty="0">
                <a:solidFill>
                  <a:srgbClr val="FFFFFF"/>
                </a:solidFill>
                <a:latin typeface="Arial" pitchFamily="34" charset="0"/>
                <a:ea typeface="Arial" pitchFamily="34" charset="-122"/>
                <a:cs typeface="Arial" pitchFamily="34" charset="-120"/>
              </a:rPr>
              <a:t>STUDIO</a:t>
            </a:r>
            <a:endParaRPr lang="en-US" sz="1050" dirty="0"/>
          </a:p>
        </p:txBody>
      </p:sp>
      <p:sp>
        <p:nvSpPr>
          <p:cNvPr id="22" name="slide-13-mobile-menu"/>
          <p:cNvSpPr txBox="1"/>
          <p:nvPr/>
        </p:nvSpPr>
        <p:spPr>
          <a:xfrm>
            <a:off x="6667500" y="2943225"/>
            <a:ext cx="590550" cy="190500"/>
          </a:xfrm>
          <a:prstGeom prst="rect">
            <a:avLst/>
          </a:prstGeom>
          <a:noFill/>
          <a:ln/>
        </p:spPr>
        <p:txBody>
          <a:bodyPr wrap="square" lIns="0" tIns="0" rIns="0" bIns="0" rtlCol="0" anchor="t"/>
          <a:lstStyle/>
          <a:p>
            <a:pPr algn="r" indent="0" marL="0">
              <a:lnSpc>
                <a:spcPts val="1170"/>
              </a:lnSpc>
              <a:buNone/>
            </a:pPr>
            <a:r>
              <a:rPr lang="en-US" sz="975" dirty="0">
                <a:solidFill>
                  <a:srgbClr val="A3A3A3"/>
                </a:solidFill>
                <a:latin typeface="Arial" pitchFamily="34" charset="0"/>
                <a:ea typeface="Arial" pitchFamily="34" charset="-122"/>
                <a:cs typeface="Arial" pitchFamily="34" charset="-120"/>
              </a:rPr>
              <a:t>Menu</a:t>
            </a:r>
            <a:endParaRPr lang="en-US" sz="975" dirty="0"/>
          </a:p>
        </p:txBody>
      </p:sp>
      <p:sp>
        <p:nvSpPr>
          <p:cNvPr id="23" name="slide-13-mobile-section"/>
          <p:cNvSpPr txBox="1"/>
          <p:nvPr/>
        </p:nvSpPr>
        <p:spPr>
          <a:xfrm>
            <a:off x="5619750" y="3343275"/>
            <a:ext cx="1638300" cy="228600"/>
          </a:xfrm>
          <a:prstGeom prst="rect">
            <a:avLst/>
          </a:prstGeom>
          <a:noFill/>
          <a:ln/>
        </p:spPr>
        <p:txBody>
          <a:bodyPr wrap="square" lIns="0" tIns="0" rIns="0" bIns="0" rtlCol="0" anchor="t"/>
          <a:lstStyle/>
          <a:p>
            <a:pPr algn="l" indent="0" marL="0">
              <a:lnSpc>
                <a:spcPts val="1620"/>
              </a:lnSpc>
              <a:buNone/>
            </a:pPr>
            <a:r>
              <a:rPr lang="en-US" sz="1350" dirty="0">
                <a:solidFill>
                  <a:srgbClr val="FFFFFF"/>
                </a:solidFill>
                <a:latin typeface="Arial" pitchFamily="34" charset="0"/>
                <a:ea typeface="Arial" pitchFamily="34" charset="-122"/>
                <a:cs typeface="Arial" pitchFamily="34" charset="-120"/>
              </a:rPr>
              <a:t>Selected work</a:t>
            </a:r>
            <a:endParaRPr lang="en-US" sz="1350" dirty="0"/>
          </a:p>
        </p:txBody>
      </p:sp>
      <p:sp>
        <p:nvSpPr>
          <p:cNvPr id="24" name="slide-13-mobile-a"/>
          <p:cNvSpPr/>
          <p:nvPr/>
        </p:nvSpPr>
        <p:spPr>
          <a:xfrm>
            <a:off x="5619750" y="3686175"/>
            <a:ext cx="1638300" cy="723900"/>
          </a:xfrm>
          <a:prstGeom prst="rect">
            <a:avLst/>
          </a:prstGeom>
          <a:solidFill>
            <a:srgbClr val="F5F5F5"/>
          </a:solidFill>
          <a:ln w="12700">
            <a:solidFill>
              <a:srgbClr val="F5F5F5">
                <a:alpha val="0"/>
              </a:srgbClr>
            </a:solidFill>
            <a:prstDash val="solid"/>
          </a:ln>
        </p:spPr>
      </p:sp>
      <p:sp>
        <p:nvSpPr>
          <p:cNvPr id="25" name="slide-13-mobile-b"/>
          <p:cNvSpPr/>
          <p:nvPr/>
        </p:nvSpPr>
        <p:spPr>
          <a:xfrm>
            <a:off x="5619750" y="4562475"/>
            <a:ext cx="1638300" cy="723900"/>
          </a:xfrm>
          <a:prstGeom prst="rect">
            <a:avLst/>
          </a:prstGeom>
          <a:solidFill>
            <a:srgbClr val="222222"/>
          </a:solidFill>
          <a:ln w="9525">
            <a:solidFill>
              <a:srgbClr val="777777"/>
            </a:solidFill>
            <a:prstDash val="solid"/>
          </a:ln>
        </p:spPr>
      </p:sp>
      <p:sp>
        <p:nvSpPr>
          <p:cNvPr id="26" name="slide-13-mobile-a-label"/>
          <p:cNvSpPr txBox="1"/>
          <p:nvPr/>
        </p:nvSpPr>
        <p:spPr>
          <a:xfrm>
            <a:off x="5772150" y="3829050"/>
            <a:ext cx="1333500" cy="428625"/>
          </a:xfrm>
          <a:prstGeom prst="rect">
            <a:avLst/>
          </a:prstGeom>
          <a:noFill/>
          <a:ln/>
        </p:spPr>
        <p:txBody>
          <a:bodyPr wrap="square" lIns="0" tIns="0" rIns="0" bIns="0" rtlCol="0" anchor="t"/>
          <a:lstStyle/>
          <a:p>
            <a:pPr algn="ctr" indent="0" marL="0">
              <a:lnSpc>
                <a:spcPts val="2880"/>
              </a:lnSpc>
              <a:buNone/>
            </a:pPr>
            <a:r>
              <a:rPr lang="en-US" sz="2400" dirty="0">
                <a:solidFill>
                  <a:srgbClr val="0A0A0A"/>
                </a:solidFill>
                <a:latin typeface="Arial" pitchFamily="34" charset="0"/>
                <a:ea typeface="Arial" pitchFamily="34" charset="-122"/>
                <a:cs typeface="Arial" pitchFamily="34" charset="-120"/>
              </a:rPr>
              <a:t>A</a:t>
            </a:r>
            <a:endParaRPr lang="en-US" sz="2400" dirty="0"/>
          </a:p>
        </p:txBody>
      </p:sp>
      <p:sp>
        <p:nvSpPr>
          <p:cNvPr id="27" name="slide-13-mobile-b-label"/>
          <p:cNvSpPr txBox="1"/>
          <p:nvPr/>
        </p:nvSpPr>
        <p:spPr>
          <a:xfrm>
            <a:off x="5772150" y="4705350"/>
            <a:ext cx="1333500" cy="428625"/>
          </a:xfrm>
          <a:prstGeom prst="rect">
            <a:avLst/>
          </a:prstGeom>
          <a:noFill/>
          <a:ln/>
        </p:spPr>
        <p:txBody>
          <a:bodyPr wrap="square" lIns="0" tIns="0" rIns="0" bIns="0" rtlCol="0" anchor="t"/>
          <a:lstStyle/>
          <a:p>
            <a:pPr algn="ctr" indent="0" marL="0">
              <a:lnSpc>
                <a:spcPts val="2880"/>
              </a:lnSpc>
              <a:buNone/>
            </a:pPr>
            <a:r>
              <a:rPr lang="en-US" sz="2400" dirty="0">
                <a:solidFill>
                  <a:srgbClr val="FFFFFF"/>
                </a:solidFill>
                <a:latin typeface="Arial" pitchFamily="34" charset="0"/>
                <a:ea typeface="Arial" pitchFamily="34" charset="-122"/>
                <a:cs typeface="Arial" pitchFamily="34" charset="-120"/>
              </a:rPr>
              <a:t>B</a:t>
            </a:r>
            <a:endParaRPr lang="en-US" sz="2400" dirty="0"/>
          </a:p>
        </p:txBody>
      </p:sp>
      <p:sp>
        <p:nvSpPr>
          <p:cNvPr id="28" name="slide-13-order-caption"/>
          <p:cNvSpPr txBox="1"/>
          <p:nvPr/>
        </p:nvSpPr>
        <p:spPr>
          <a:xfrm>
            <a:off x="609600" y="5295900"/>
            <a:ext cx="4000500" cy="209550"/>
          </a:xfrm>
          <a:prstGeom prst="rect">
            <a:avLst/>
          </a:prstGeom>
          <a:noFill/>
          <a:ln/>
        </p:spPr>
        <p:txBody>
          <a:bodyPr wrap="square" lIns="0" tIns="0" rIns="0" bIns="0" rtlCol="0" anchor="t"/>
          <a:lstStyle/>
          <a:p>
            <a:pPr algn="l" indent="0" marL="0">
              <a:lnSpc>
                <a:spcPts val="1170"/>
              </a:lnSpc>
              <a:buNone/>
            </a:pPr>
            <a:r>
              <a:rPr lang="en-US" sz="975" dirty="0">
                <a:solidFill>
                  <a:srgbClr val="A3A3A3"/>
                </a:solidFill>
                <a:latin typeface="Courier New" pitchFamily="34" charset="0"/>
                <a:ea typeface="Courier New" pitchFamily="34" charset="-122"/>
                <a:cs typeface="Courier New" pitchFamily="34" charset="-120"/>
              </a:rPr>
              <a:t>Illustrative reflow · preserve A → B order</a:t>
            </a:r>
            <a:endParaRPr lang="en-US" sz="975" dirty="0"/>
          </a:p>
        </p:txBody>
      </p:sp>
      <p:sp>
        <p:nvSpPr>
          <p:cNvPr id="29" name="slide-13-checklist-heading"/>
          <p:cNvSpPr txBox="1"/>
          <p:nvPr/>
        </p:nvSpPr>
        <p:spPr>
          <a:xfrm>
            <a:off x="7924800" y="2505075"/>
            <a:ext cx="3657600" cy="228600"/>
          </a:xfrm>
          <a:prstGeom prst="rect">
            <a:avLst/>
          </a:prstGeom>
          <a:noFill/>
          <a:ln/>
        </p:spPr>
        <p:txBody>
          <a:bodyPr wrap="square" lIns="0" tIns="0" rIns="0" bIns="0" rtlCol="0" anchor="t"/>
          <a:lstStyle/>
          <a:p>
            <a:pPr algn="l" indent="0" marL="0">
              <a:lnSpc>
                <a:spcPts val="1170"/>
              </a:lnSpc>
              <a:buNone/>
            </a:pPr>
            <a:r>
              <a:rPr lang="en-US" sz="975" spc="75" kern="0" dirty="0">
                <a:solidFill>
                  <a:srgbClr val="A3A3A3"/>
                </a:solidFill>
                <a:latin typeface="Courier New" pitchFamily="34" charset="0"/>
                <a:ea typeface="Courier New" pitchFamily="34" charset="-122"/>
                <a:cs typeface="Courier New" pitchFamily="34" charset="-120"/>
              </a:rPr>
              <a:t>SPECIFY, THEN INSPECT</a:t>
            </a:r>
            <a:endParaRPr lang="en-US" sz="975" dirty="0"/>
          </a:p>
        </p:txBody>
      </p:sp>
      <p:sp>
        <p:nvSpPr>
          <p:cNvPr id="30" name="slide-13-card-text-0"/>
          <p:cNvSpPr txBox="1"/>
          <p:nvPr/>
        </p:nvSpPr>
        <p:spPr>
          <a:xfrm>
            <a:off x="7924800" y="2895600"/>
            <a:ext cx="3562350" cy="742950"/>
          </a:xfrm>
          <a:prstGeom prst="rect">
            <a:avLst/>
          </a:prstGeom>
          <a:noFill/>
          <a:ln/>
        </p:spPr>
        <p:txBody>
          <a:bodyPr wrap="square" lIns="0" tIns="0" rIns="0" bIns="0" rtlCol="0" anchor="t"/>
          <a:lstStyle/>
          <a:p>
            <a:pPr algn="l" indent="0" marL="0">
              <a:lnSpc>
                <a:spcPts val="1890"/>
              </a:lnSpc>
              <a:buNone/>
            </a:pPr>
            <a:r>
              <a:rPr lang="en-US" sz="1575" dirty="0">
                <a:solidFill>
                  <a:srgbClr val="FFFFFF"/>
                </a:solidFill>
                <a:latin typeface="Arial" pitchFamily="34" charset="0"/>
                <a:ea typeface="Arial" pitchFamily="34" charset="-122"/>
                <a:cs typeface="Arial" pitchFamily="34" charset="-120"/>
              </a:rPr>
              <a:t>Specify section stacking,</a:t>
            </a:r>
            <a:endParaRPr lang="en-US" sz="1575" dirty="0"/>
          </a:p>
          <a:p>
            <a:pPr algn="l" indent="0" marL="0">
              <a:lnSpc>
                <a:spcPts val="1890"/>
              </a:lnSpc>
              <a:buNone/>
            </a:pPr>
            <a:r>
              <a:rPr lang="en-US" sz="1575" dirty="0">
                <a:solidFill>
                  <a:srgbClr val="FFFFFF"/>
                </a:solidFill>
                <a:latin typeface="Arial" pitchFamily="34" charset="0"/>
                <a:ea typeface="Arial" pitchFamily="34" charset="-122"/>
                <a:cs typeface="Arial" pitchFamily="34" charset="-120"/>
              </a:rPr>
              <a:t>navigation behavior, and</a:t>
            </a:r>
            <a:endParaRPr lang="en-US" sz="1575" dirty="0"/>
          </a:p>
          <a:p>
            <a:pPr algn="l" indent="0" marL="0">
              <a:lnSpc>
                <a:spcPts val="1890"/>
              </a:lnSpc>
              <a:buNone/>
            </a:pPr>
            <a:r>
              <a:rPr lang="en-US" sz="1575" dirty="0">
                <a:solidFill>
                  <a:srgbClr val="FFFFFF"/>
                </a:solidFill>
                <a:latin typeface="Arial" pitchFamily="34" charset="0"/>
                <a:ea typeface="Arial" pitchFamily="34" charset="-122"/>
                <a:cs typeface="Arial" pitchFamily="34" charset="-120"/>
              </a:rPr>
              <a:t>image cropping.</a:t>
            </a:r>
            <a:endParaRPr lang="en-US" sz="1575" dirty="0"/>
          </a:p>
        </p:txBody>
      </p:sp>
      <p:sp>
        <p:nvSpPr>
          <p:cNvPr id="31" name="slide-13-card-text-1"/>
          <p:cNvSpPr txBox="1"/>
          <p:nvPr/>
        </p:nvSpPr>
        <p:spPr>
          <a:xfrm>
            <a:off x="7924800" y="3829050"/>
            <a:ext cx="3562350" cy="514350"/>
          </a:xfrm>
          <a:prstGeom prst="rect">
            <a:avLst/>
          </a:prstGeom>
          <a:noFill/>
          <a:ln/>
        </p:spPr>
        <p:txBody>
          <a:bodyPr wrap="square" lIns="0" tIns="0" rIns="0" bIns="0" rtlCol="0" anchor="t"/>
          <a:lstStyle/>
          <a:p>
            <a:pPr algn="l" indent="0" marL="0">
              <a:lnSpc>
                <a:spcPts val="1890"/>
              </a:lnSpc>
              <a:buNone/>
            </a:pPr>
            <a:r>
              <a:rPr lang="en-US" sz="1575" dirty="0">
                <a:solidFill>
                  <a:srgbClr val="FFFFFF"/>
                </a:solidFill>
                <a:latin typeface="Arial" pitchFamily="34" charset="0"/>
                <a:ea typeface="Arial" pitchFamily="34" charset="-122"/>
                <a:cs typeface="Arial" pitchFamily="34" charset="-120"/>
              </a:rPr>
              <a:t>Keep body text readable and</a:t>
            </a:r>
            <a:endParaRPr lang="en-US" sz="1575" dirty="0"/>
          </a:p>
          <a:p>
            <a:pPr algn="l" indent="0" marL="0">
              <a:lnSpc>
                <a:spcPts val="1890"/>
              </a:lnSpc>
              <a:buNone/>
            </a:pPr>
            <a:r>
              <a:rPr lang="en-US" sz="1575" dirty="0">
                <a:solidFill>
                  <a:srgbClr val="FFFFFF"/>
                </a:solidFill>
                <a:latin typeface="Arial" pitchFamily="34" charset="0"/>
                <a:ea typeface="Arial" pitchFamily="34" charset="-122"/>
                <a:cs typeface="Arial" pitchFamily="34" charset="-120"/>
              </a:rPr>
              <a:t>controls comfortably usable.</a:t>
            </a:r>
            <a:endParaRPr lang="en-US" sz="1575" dirty="0"/>
          </a:p>
        </p:txBody>
      </p:sp>
      <p:sp>
        <p:nvSpPr>
          <p:cNvPr id="32" name="slide-13-checklist-overflow"/>
          <p:cNvSpPr txBox="1"/>
          <p:nvPr/>
        </p:nvSpPr>
        <p:spPr>
          <a:xfrm>
            <a:off x="7924800" y="4552950"/>
            <a:ext cx="3562350" cy="762000"/>
          </a:xfrm>
          <a:prstGeom prst="rect">
            <a:avLst/>
          </a:prstGeom>
          <a:noFill/>
          <a:ln/>
        </p:spPr>
        <p:txBody>
          <a:bodyPr wrap="square" lIns="0" tIns="0" rIns="0" bIns="0" rtlCol="0" anchor="t"/>
          <a:lstStyle/>
          <a:p>
            <a:pPr algn="l" indent="0" marL="0">
              <a:lnSpc>
                <a:spcPts val="1890"/>
              </a:lnSpc>
              <a:buNone/>
            </a:pPr>
            <a:r>
              <a:rPr lang="en-US" sz="1575" dirty="0">
                <a:solidFill>
                  <a:srgbClr val="FFFFFF"/>
                </a:solidFill>
                <a:latin typeface="Arial" pitchFamily="34" charset="0"/>
                <a:ea typeface="Arial" pitchFamily="34" charset="-122"/>
                <a:cs typeface="Arial" pitchFamily="34" charset="-120"/>
              </a:rPr>
              <a:t>Check text wrapping, overflow,</a:t>
            </a:r>
            <a:endParaRPr lang="en-US" sz="1575" dirty="0"/>
          </a:p>
          <a:p>
            <a:pPr algn="l" indent="0" marL="0">
              <a:lnSpc>
                <a:spcPts val="1890"/>
              </a:lnSpc>
              <a:buNone/>
            </a:pPr>
            <a:r>
              <a:rPr lang="en-US" sz="1575" dirty="0">
                <a:solidFill>
                  <a:srgbClr val="FFFFFF"/>
                </a:solidFill>
                <a:latin typeface="Arial" pitchFamily="34" charset="0"/>
                <a:ea typeface="Arial" pitchFamily="34" charset="-122"/>
                <a:cs typeface="Arial" pitchFamily="34" charset="-120"/>
              </a:rPr>
              <a:t>long labels, and fixed elements.</a:t>
            </a:r>
            <a:endParaRPr lang="en-US" sz="1575" dirty="0"/>
          </a:p>
        </p:txBody>
      </p:sp>
      <p:sp>
        <p:nvSpPr>
          <p:cNvPr id="33" name="slide-13-prompt-rule"/>
          <p:cNvSpPr/>
          <p:nvPr/>
        </p:nvSpPr>
        <p:spPr>
          <a:xfrm>
            <a:off x="609600" y="5753100"/>
            <a:ext cx="28575" cy="533400"/>
          </a:xfrm>
          <a:prstGeom prst="rect">
            <a:avLst/>
          </a:prstGeom>
          <a:solidFill>
            <a:srgbClr val="F5F5F5"/>
          </a:solidFill>
          <a:ln w="12700">
            <a:solidFill>
              <a:srgbClr val="F5F5F5">
                <a:alpha val="0"/>
              </a:srgbClr>
            </a:solidFill>
            <a:prstDash val="solid"/>
          </a:ln>
        </p:spPr>
      </p:sp>
      <p:sp>
        <p:nvSpPr>
          <p:cNvPr id="34" name="slide-13-prompt-label"/>
          <p:cNvSpPr txBox="1"/>
          <p:nvPr/>
        </p:nvSpPr>
        <p:spPr>
          <a:xfrm>
            <a:off x="790575" y="5762625"/>
            <a:ext cx="1133475" cy="219075"/>
          </a:xfrm>
          <a:prstGeom prst="rect">
            <a:avLst/>
          </a:prstGeom>
          <a:noFill/>
          <a:ln/>
        </p:spPr>
        <p:txBody>
          <a:bodyPr wrap="square" lIns="0" tIns="0" rIns="0" bIns="0" rtlCol="0" anchor="t"/>
          <a:lstStyle/>
          <a:p>
            <a:pPr algn="l" indent="0" marL="0">
              <a:lnSpc>
                <a:spcPts val="1170"/>
              </a:lnSpc>
              <a:buNone/>
            </a:pPr>
            <a:r>
              <a:rPr lang="en-US" sz="975" spc="75" kern="0" dirty="0">
                <a:solidFill>
                  <a:srgbClr val="A3A3A3"/>
                </a:solidFill>
                <a:latin typeface="Courier New" pitchFamily="34" charset="0"/>
                <a:ea typeface="Courier New" pitchFamily="34" charset="-122"/>
                <a:cs typeface="Courier New" pitchFamily="34" charset="-120"/>
              </a:rPr>
              <a:t>TRY THIS</a:t>
            </a:r>
            <a:endParaRPr lang="en-US" sz="975" dirty="0"/>
          </a:p>
        </p:txBody>
      </p:sp>
      <p:sp>
        <p:nvSpPr>
          <p:cNvPr id="35" name="slide-13-prompt"/>
          <p:cNvSpPr txBox="1"/>
          <p:nvPr/>
        </p:nvSpPr>
        <p:spPr>
          <a:xfrm>
            <a:off x="2057400" y="5724525"/>
            <a:ext cx="9429750" cy="571500"/>
          </a:xfrm>
          <a:prstGeom prst="rect">
            <a:avLst/>
          </a:prstGeom>
          <a:noFill/>
          <a:ln/>
        </p:spPr>
        <p:txBody>
          <a:bodyPr wrap="square" lIns="0" tIns="0" rIns="0" bIns="0" rtlCol="0" anchor="t"/>
          <a:lstStyle/>
          <a:p>
            <a:pPr algn="l" indent="0" marL="0">
              <a:lnSpc>
                <a:spcPts val="1950"/>
              </a:lnSpc>
              <a:buNone/>
            </a:pPr>
            <a:r>
              <a:rPr lang="en-US" sz="1500" dirty="0">
                <a:solidFill>
                  <a:srgbClr val="FFFFFF"/>
                </a:solidFill>
                <a:latin typeface="Courier New" pitchFamily="34" charset="0"/>
                <a:ea typeface="Courier New" pitchFamily="34" charset="-122"/>
                <a:cs typeface="Courier New" pitchFamily="34" charset="-120"/>
              </a:rPr>
              <a:t>“On narrow screens, change the two-column work section to one column.</a:t>
            </a:r>
            <a:endParaRPr lang="en-US" sz="1500" dirty="0"/>
          </a:p>
          <a:p>
            <a:pPr algn="l" indent="0" marL="0">
              <a:lnSpc>
                <a:spcPts val="1950"/>
              </a:lnSpc>
              <a:buNone/>
            </a:pPr>
            <a:r>
              <a:rPr lang="en-US" sz="1500" dirty="0">
                <a:solidFill>
                  <a:srgbClr val="FFFFFF"/>
                </a:solidFill>
                <a:latin typeface="Courier New" pitchFamily="34" charset="0"/>
                <a:ea typeface="Courier New" pitchFamily="34" charset="-122"/>
                <a:cs typeface="Courier New" pitchFamily="34" charset="-120"/>
              </a:rPr>
              <a:t>Preserve content order.”</a:t>
            </a:r>
            <a:endParaRPr lang="en-US" sz="1500" dirty="0"/>
          </a:p>
        </p:txBody>
      </p:sp>
      <p:sp>
        <p:nvSpPr>
          <p:cNvPr id="36" name="slide-13-footer-rule"/>
          <p:cNvSpPr/>
          <p:nvPr/>
        </p:nvSpPr>
        <p:spPr>
          <a:xfrm>
            <a:off x="609600" y="6457950"/>
            <a:ext cx="10972800" cy="9525"/>
          </a:xfrm>
          <a:prstGeom prst="rect">
            <a:avLst/>
          </a:prstGeom>
          <a:solidFill>
            <a:srgbClr val="333333"/>
          </a:solidFill>
          <a:ln w="12700">
            <a:solidFill>
              <a:srgbClr val="333333">
                <a:alpha val="0"/>
              </a:srgbClr>
            </a:solidFill>
            <a:prstDash val="solid"/>
          </a:ln>
        </p:spPr>
      </p:sp>
      <p:sp>
        <p:nvSpPr>
          <p:cNvPr id="37" name="slide-13-footer"/>
          <p:cNvSpPr txBox="1"/>
          <p:nvPr/>
        </p:nvSpPr>
        <p:spPr>
          <a:xfrm>
            <a:off x="609600" y="6553200"/>
            <a:ext cx="10972800" cy="180975"/>
          </a:xfrm>
          <a:prstGeom prst="rect">
            <a:avLst/>
          </a:prstGeom>
          <a:noFill/>
          <a:ln/>
        </p:spPr>
        <p:txBody>
          <a:bodyPr wrap="square" lIns="0" tIns="0" rIns="0" bIns="0" rtlCol="0" anchor="t"/>
          <a:lstStyle/>
          <a:p>
            <a:pPr algn="l" indent="0" marL="0">
              <a:lnSpc>
                <a:spcPts val="1080"/>
              </a:lnSpc>
              <a:buNone/>
            </a:pPr>
            <a:r>
              <a:rPr lang="en-US" sz="900" dirty="0">
                <a:solidFill>
                  <a:srgbClr val="A3A3A3"/>
                </a:solidFill>
                <a:latin typeface="Arial" pitchFamily="34" charset="0"/>
                <a:ea typeface="Arial" pitchFamily="34" charset="-122"/>
                <a:cs typeface="Arial" pitchFamily="34" charset="-120"/>
              </a:rPr>
              <a:t>Tutorial topic: mobile optimization</a:t>
            </a:r>
            <a:endParaRPr lang="en-US" sz="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0A0A0A"/>
        </a:solidFill>
      </p:bgPr>
    </p:bg>
    <p:spTree>
      <p:nvGrpSpPr>
        <p:cNvPr id="1" name=""/>
        <p:cNvGrpSpPr/>
        <p:nvPr/>
      </p:nvGrpSpPr>
      <p:grpSpPr>
        <a:xfrm>
          <a:off x="0" y="0"/>
          <a:ext cx="0" cy="0"/>
          <a:chOff x="0" y="0"/>
          <a:chExt cx="0" cy="0"/>
        </a:xfrm>
      </p:grpSpPr>
      <p:sp>
        <p:nvSpPr>
          <p:cNvPr id="3" name="slide-14-eyebrow"/>
          <p:cNvSpPr txBox="1"/>
          <p:nvPr/>
        </p:nvSpPr>
        <p:spPr>
          <a:xfrm>
            <a:off x="609600" y="323850"/>
            <a:ext cx="10287000" cy="209550"/>
          </a:xfrm>
          <a:prstGeom prst="rect">
            <a:avLst/>
          </a:prstGeom>
          <a:noFill/>
          <a:ln/>
        </p:spPr>
        <p:txBody>
          <a:bodyPr wrap="square" lIns="0" tIns="0" rIns="0" bIns="0" rtlCol="0" anchor="t"/>
          <a:lstStyle/>
          <a:p>
            <a:pPr algn="l" indent="0" marL="0">
              <a:lnSpc>
                <a:spcPts val="1170"/>
              </a:lnSpc>
              <a:buNone/>
            </a:pPr>
            <a:r>
              <a:rPr lang="en-US" sz="975" spc="135" kern="0" dirty="0">
                <a:solidFill>
                  <a:srgbClr val="A3A3A3"/>
                </a:solidFill>
                <a:latin typeface="Courier New" pitchFamily="34" charset="0"/>
                <a:ea typeface="Courier New" pitchFamily="34" charset="-122"/>
                <a:cs typeface="Courier New" pitchFamily="34" charset="-120"/>
              </a:rPr>
              <a:t>CLAUDE CODE  /  INTERACTION DESIGN</a:t>
            </a:r>
            <a:endParaRPr lang="en-US" sz="975" dirty="0"/>
          </a:p>
        </p:txBody>
      </p:sp>
      <p:sp>
        <p:nvSpPr>
          <p:cNvPr id="4" name="slide-14-index"/>
          <p:cNvSpPr txBox="1"/>
          <p:nvPr/>
        </p:nvSpPr>
        <p:spPr>
          <a:xfrm>
            <a:off x="10915650" y="323850"/>
            <a:ext cx="666750" cy="209550"/>
          </a:xfrm>
          <a:prstGeom prst="rect">
            <a:avLst/>
          </a:prstGeom>
          <a:noFill/>
          <a:ln/>
        </p:spPr>
        <p:txBody>
          <a:bodyPr wrap="square" lIns="0" tIns="0" rIns="0" bIns="0" rtlCol="0" anchor="t"/>
          <a:lstStyle/>
          <a:p>
            <a:pPr algn="r" indent="0" marL="0">
              <a:lnSpc>
                <a:spcPts val="1170"/>
              </a:lnSpc>
              <a:buNone/>
            </a:pPr>
            <a:r>
              <a:rPr lang="en-US" sz="975" dirty="0">
                <a:solidFill>
                  <a:srgbClr val="A3A3A3"/>
                </a:solidFill>
                <a:latin typeface="Courier New" pitchFamily="34" charset="0"/>
                <a:ea typeface="Courier New" pitchFamily="34" charset="-122"/>
                <a:cs typeface="Courier New" pitchFamily="34" charset="-120"/>
              </a:rPr>
              <a:t>14 / 20</a:t>
            </a:r>
            <a:endParaRPr lang="en-US" sz="975" dirty="0"/>
          </a:p>
        </p:txBody>
      </p:sp>
      <p:sp>
        <p:nvSpPr>
          <p:cNvPr id="5" name="slide-14-title"/>
          <p:cNvSpPr txBox="1"/>
          <p:nvPr/>
        </p:nvSpPr>
        <p:spPr>
          <a:xfrm>
            <a:off x="609600" y="838200"/>
            <a:ext cx="10972800" cy="628650"/>
          </a:xfrm>
          <a:prstGeom prst="rect">
            <a:avLst/>
          </a:prstGeom>
          <a:noFill/>
          <a:ln/>
        </p:spPr>
        <p:txBody>
          <a:bodyPr wrap="square" lIns="0" tIns="0" rIns="0" bIns="0" rtlCol="0" anchor="t"/>
          <a:lstStyle/>
          <a:p>
            <a:pPr algn="l" indent="0" marL="0">
              <a:lnSpc>
                <a:spcPts val="3960"/>
              </a:lnSpc>
              <a:buNone/>
            </a:pPr>
            <a:r>
              <a:rPr lang="en-US" sz="3600" b="1" spc="-98" kern="0" dirty="0">
                <a:solidFill>
                  <a:srgbClr val="FFFFFF"/>
                </a:solidFill>
                <a:latin typeface="Arial" pitchFamily="34" charset="0"/>
                <a:ea typeface="Arial" pitchFamily="34" charset="-122"/>
                <a:cs typeface="Arial" pitchFamily="34" charset="-120"/>
              </a:rPr>
              <a:t>Specify behavior, not just appearance</a:t>
            </a:r>
            <a:endParaRPr lang="en-US" sz="3600" dirty="0"/>
          </a:p>
        </p:txBody>
      </p:sp>
      <p:sp>
        <p:nvSpPr>
          <p:cNvPr id="6" name="slide-14-lead"/>
          <p:cNvSpPr txBox="1"/>
          <p:nvPr/>
        </p:nvSpPr>
        <p:spPr>
          <a:xfrm>
            <a:off x="609600" y="1619250"/>
            <a:ext cx="10477500" cy="342900"/>
          </a:xfrm>
          <a:prstGeom prst="rect">
            <a:avLst/>
          </a:prstGeom>
          <a:noFill/>
          <a:ln/>
        </p:spPr>
        <p:txBody>
          <a:bodyPr wrap="square" lIns="0" tIns="0" rIns="0" bIns="0" rtlCol="0" anchor="t"/>
          <a:lstStyle/>
          <a:p>
            <a:pPr algn="l" indent="0" marL="0">
              <a:lnSpc>
                <a:spcPts val="2250"/>
              </a:lnSpc>
              <a:buNone/>
            </a:pPr>
            <a:r>
              <a:rPr lang="en-US" sz="1800" dirty="0">
                <a:solidFill>
                  <a:srgbClr val="A3A3A3"/>
                </a:solidFill>
                <a:latin typeface="Arial" pitchFamily="34" charset="0"/>
                <a:ea typeface="Arial" pitchFamily="34" charset="-122"/>
                <a:cs typeface="Arial" pitchFamily="34" charset="-120"/>
              </a:rPr>
              <a:t>Give Claude Code clear triggers, states, outcomes, and failure cases.</a:t>
            </a:r>
            <a:endParaRPr lang="en-US" sz="1800" dirty="0"/>
          </a:p>
        </p:txBody>
      </p:sp>
      <p:sp>
        <p:nvSpPr>
          <p:cNvPr id="7" name="slide-14-flow-label"/>
          <p:cNvSpPr txBox="1"/>
          <p:nvPr/>
        </p:nvSpPr>
        <p:spPr>
          <a:xfrm>
            <a:off x="609600" y="2381250"/>
            <a:ext cx="6572250" cy="209550"/>
          </a:xfrm>
          <a:prstGeom prst="rect">
            <a:avLst/>
          </a:prstGeom>
          <a:noFill/>
          <a:ln/>
        </p:spPr>
        <p:txBody>
          <a:bodyPr wrap="square" lIns="0" tIns="0" rIns="0" bIns="0" rtlCol="0" anchor="t"/>
          <a:lstStyle/>
          <a:p>
            <a:pPr algn="l" indent="0" marL="0">
              <a:lnSpc>
                <a:spcPts val="1170"/>
              </a:lnSpc>
              <a:buNone/>
            </a:pPr>
            <a:r>
              <a:rPr lang="en-US" sz="975" spc="75" kern="0" dirty="0">
                <a:solidFill>
                  <a:srgbClr val="A3A3A3"/>
                </a:solidFill>
                <a:latin typeface="Courier New" pitchFamily="34" charset="0"/>
                <a:ea typeface="Courier New" pitchFamily="34" charset="-122"/>
                <a:cs typeface="Courier New" pitchFamily="34" charset="-120"/>
              </a:rPr>
              <a:t>INQUIRY FORM  /  RECOMMENDED STATE FLOW</a:t>
            </a:r>
            <a:endParaRPr lang="en-US" sz="975" dirty="0"/>
          </a:p>
        </p:txBody>
      </p:sp>
      <p:sp>
        <p:nvSpPr>
          <p:cNvPr id="8" name="slide-14-idle-box"/>
          <p:cNvSpPr/>
          <p:nvPr/>
        </p:nvSpPr>
        <p:spPr>
          <a:xfrm>
            <a:off x="609600" y="3305175"/>
            <a:ext cx="1619250" cy="800100"/>
          </a:xfrm>
          <a:prstGeom prst="roundRect">
            <a:avLst>
              <a:gd name="adj" fmla="val 2381"/>
            </a:avLst>
          </a:prstGeom>
          <a:solidFill>
            <a:srgbClr val="0A0A0A"/>
          </a:solidFill>
          <a:ln w="9525">
            <a:solidFill>
              <a:srgbClr val="666666"/>
            </a:solidFill>
            <a:prstDash val="solid"/>
          </a:ln>
        </p:spPr>
      </p:sp>
      <p:sp>
        <p:nvSpPr>
          <p:cNvPr id="9" name="slide-14-idle"/>
          <p:cNvSpPr txBox="1"/>
          <p:nvPr/>
        </p:nvSpPr>
        <p:spPr>
          <a:xfrm>
            <a:off x="781050" y="3543300"/>
            <a:ext cx="1276350" cy="304800"/>
          </a:xfrm>
          <a:prstGeom prst="rect">
            <a:avLst/>
          </a:prstGeom>
          <a:noFill/>
          <a:ln/>
        </p:spPr>
        <p:txBody>
          <a:bodyPr wrap="square" lIns="0" tIns="0" rIns="0" bIns="0" rtlCol="0" anchor="t"/>
          <a:lstStyle/>
          <a:p>
            <a:pPr algn="ctr" indent="0" marL="0">
              <a:lnSpc>
                <a:spcPts val="2160"/>
              </a:lnSpc>
              <a:buNone/>
            </a:pPr>
            <a:r>
              <a:rPr lang="en-US" sz="1800" dirty="0">
                <a:solidFill>
                  <a:srgbClr val="FFFFFF"/>
                </a:solidFill>
                <a:latin typeface="Arial" pitchFamily="34" charset="0"/>
                <a:ea typeface="Arial" pitchFamily="34" charset="-122"/>
                <a:cs typeface="Arial" pitchFamily="34" charset="-120"/>
              </a:rPr>
              <a:t>Idle</a:t>
            </a:r>
            <a:endParaRPr lang="en-US" sz="1800" dirty="0"/>
          </a:p>
        </p:txBody>
      </p:sp>
      <p:sp>
        <p:nvSpPr>
          <p:cNvPr id="10" name="slide-14-submit-label"/>
          <p:cNvSpPr txBox="1"/>
          <p:nvPr/>
        </p:nvSpPr>
        <p:spPr>
          <a:xfrm>
            <a:off x="2228850" y="3343275"/>
            <a:ext cx="1047750" cy="228600"/>
          </a:xfrm>
          <a:prstGeom prst="rect">
            <a:avLst/>
          </a:prstGeom>
          <a:noFill/>
          <a:ln/>
        </p:spPr>
        <p:txBody>
          <a:bodyPr wrap="square" lIns="0" tIns="0" rIns="0" bIns="0" rtlCol="0" anchor="t"/>
          <a:lstStyle/>
          <a:p>
            <a:pPr algn="ctr" indent="0" marL="0">
              <a:lnSpc>
                <a:spcPts val="1350"/>
              </a:lnSpc>
              <a:buNone/>
            </a:pPr>
            <a:r>
              <a:rPr lang="en-US" sz="1125" dirty="0">
                <a:solidFill>
                  <a:srgbClr val="A3A3A3"/>
                </a:solidFill>
                <a:latin typeface="Courier New" pitchFamily="34" charset="0"/>
                <a:ea typeface="Courier New" pitchFamily="34" charset="-122"/>
                <a:cs typeface="Courier New" pitchFamily="34" charset="-120"/>
              </a:rPr>
              <a:t>submit</a:t>
            </a:r>
            <a:endParaRPr lang="en-US" sz="1125" dirty="0"/>
          </a:p>
        </p:txBody>
      </p:sp>
      <p:pic>
        <p:nvPicPr>
          <p:cNvPr id="11" name="slide-14-submit-arrow" descr="preencoded.pn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2228850" y="3638550"/>
            <a:ext cx="1028700" cy="133350"/>
          </a:xfrm>
          <a:prstGeom prst="rect">
            <a:avLst/>
          </a:prstGeom>
        </p:spPr>
      </p:pic>
      <p:sp>
        <p:nvSpPr>
          <p:cNvPr id="12" name="slide-14-submitting-box"/>
          <p:cNvSpPr/>
          <p:nvPr/>
        </p:nvSpPr>
        <p:spPr>
          <a:xfrm>
            <a:off x="3276600" y="3305175"/>
            <a:ext cx="1809750" cy="800100"/>
          </a:xfrm>
          <a:prstGeom prst="roundRect">
            <a:avLst>
              <a:gd name="adj" fmla="val 2381"/>
            </a:avLst>
          </a:prstGeom>
          <a:solidFill>
            <a:srgbClr val="222222"/>
          </a:solidFill>
          <a:ln w="9525">
            <a:solidFill>
              <a:srgbClr val="A3A3A3"/>
            </a:solidFill>
            <a:prstDash val="solid"/>
          </a:ln>
        </p:spPr>
      </p:sp>
      <p:sp>
        <p:nvSpPr>
          <p:cNvPr id="13" name="slide-14-submitting"/>
          <p:cNvSpPr txBox="1"/>
          <p:nvPr/>
        </p:nvSpPr>
        <p:spPr>
          <a:xfrm>
            <a:off x="3390900" y="3543300"/>
            <a:ext cx="1581150" cy="304800"/>
          </a:xfrm>
          <a:prstGeom prst="rect">
            <a:avLst/>
          </a:prstGeom>
          <a:noFill/>
          <a:ln/>
        </p:spPr>
        <p:txBody>
          <a:bodyPr wrap="square" lIns="0" tIns="0" rIns="0" bIns="0" rtlCol="0" anchor="t"/>
          <a:lstStyle/>
          <a:p>
            <a:pPr algn="ctr" indent="0" marL="0">
              <a:lnSpc>
                <a:spcPts val="2160"/>
              </a:lnSpc>
              <a:buNone/>
            </a:pPr>
            <a:r>
              <a:rPr lang="en-US" sz="1800" dirty="0">
                <a:solidFill>
                  <a:srgbClr val="FFFFFF"/>
                </a:solidFill>
                <a:latin typeface="Arial" pitchFamily="34" charset="0"/>
                <a:ea typeface="Arial" pitchFamily="34" charset="-122"/>
                <a:cs typeface="Arial" pitchFamily="34" charset="-120"/>
              </a:rPr>
              <a:t>Submitting</a:t>
            </a:r>
            <a:endParaRPr lang="en-US" sz="1800" dirty="0"/>
          </a:p>
        </p:txBody>
      </p:sp>
      <p:pic>
        <p:nvPicPr>
          <p:cNvPr id="14" name="slide-14-branch" descr="preencoded.png">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5086350" y="3095625"/>
            <a:ext cx="1009650" cy="1219200"/>
          </a:xfrm>
          <a:prstGeom prst="rect">
            <a:avLst/>
          </a:prstGeom>
        </p:spPr>
      </p:pic>
      <p:sp>
        <p:nvSpPr>
          <p:cNvPr id="15" name="slide-14-success-box"/>
          <p:cNvSpPr/>
          <p:nvPr/>
        </p:nvSpPr>
        <p:spPr>
          <a:xfrm>
            <a:off x="6096000" y="2771775"/>
            <a:ext cx="1638300" cy="647700"/>
          </a:xfrm>
          <a:prstGeom prst="roundRect">
            <a:avLst>
              <a:gd name="adj" fmla="val 2941"/>
            </a:avLst>
          </a:prstGeom>
          <a:solidFill>
            <a:srgbClr val="F5F5F5"/>
          </a:solidFill>
          <a:ln w="12700">
            <a:solidFill>
              <a:srgbClr val="F5F5F5">
                <a:alpha val="0"/>
              </a:srgbClr>
            </a:solidFill>
            <a:prstDash val="solid"/>
          </a:ln>
        </p:spPr>
      </p:sp>
      <p:sp>
        <p:nvSpPr>
          <p:cNvPr id="16" name="slide-14-success"/>
          <p:cNvSpPr txBox="1"/>
          <p:nvPr/>
        </p:nvSpPr>
        <p:spPr>
          <a:xfrm>
            <a:off x="6210300" y="2962275"/>
            <a:ext cx="1409700" cy="285750"/>
          </a:xfrm>
          <a:prstGeom prst="rect">
            <a:avLst/>
          </a:prstGeom>
          <a:noFill/>
          <a:ln/>
        </p:spPr>
        <p:txBody>
          <a:bodyPr wrap="square" lIns="0" tIns="0" rIns="0" bIns="0" rtlCol="0" anchor="t"/>
          <a:lstStyle/>
          <a:p>
            <a:pPr algn="ctr" indent="0" marL="0">
              <a:lnSpc>
                <a:spcPts val="2160"/>
              </a:lnSpc>
              <a:buNone/>
            </a:pPr>
            <a:r>
              <a:rPr lang="en-US" sz="1800" b="1" dirty="0">
                <a:solidFill>
                  <a:srgbClr val="0A0A0A"/>
                </a:solidFill>
                <a:latin typeface="Arial" pitchFamily="34" charset="0"/>
                <a:ea typeface="Arial" pitchFamily="34" charset="-122"/>
                <a:cs typeface="Arial" pitchFamily="34" charset="-120"/>
              </a:rPr>
              <a:t>Success</a:t>
            </a:r>
            <a:endParaRPr lang="en-US" sz="1800" dirty="0"/>
          </a:p>
        </p:txBody>
      </p:sp>
      <p:sp>
        <p:nvSpPr>
          <p:cNvPr id="17" name="slide-14-error-box"/>
          <p:cNvSpPr/>
          <p:nvPr/>
        </p:nvSpPr>
        <p:spPr>
          <a:xfrm>
            <a:off x="6096000" y="3990975"/>
            <a:ext cx="1638300" cy="647700"/>
          </a:xfrm>
          <a:prstGeom prst="roundRect">
            <a:avLst>
              <a:gd name="adj" fmla="val 2941"/>
            </a:avLst>
          </a:prstGeom>
          <a:solidFill>
            <a:srgbClr val="0A0A0A"/>
          </a:solidFill>
          <a:ln w="9525">
            <a:solidFill>
              <a:srgbClr val="F5F5F5"/>
            </a:solidFill>
            <a:prstDash val="solid"/>
          </a:ln>
        </p:spPr>
      </p:sp>
      <p:sp>
        <p:nvSpPr>
          <p:cNvPr id="18" name="slide-14-error"/>
          <p:cNvSpPr txBox="1"/>
          <p:nvPr/>
        </p:nvSpPr>
        <p:spPr>
          <a:xfrm>
            <a:off x="6210300" y="4181475"/>
            <a:ext cx="1409700" cy="285750"/>
          </a:xfrm>
          <a:prstGeom prst="rect">
            <a:avLst/>
          </a:prstGeom>
          <a:noFill/>
          <a:ln/>
        </p:spPr>
        <p:txBody>
          <a:bodyPr wrap="square" lIns="0" tIns="0" rIns="0" bIns="0" rtlCol="0" anchor="t"/>
          <a:lstStyle/>
          <a:p>
            <a:pPr algn="ctr" indent="0" marL="0">
              <a:lnSpc>
                <a:spcPts val="2160"/>
              </a:lnSpc>
              <a:buNone/>
            </a:pPr>
            <a:r>
              <a:rPr lang="en-US" sz="1800" dirty="0">
                <a:solidFill>
                  <a:srgbClr val="FFFFFF"/>
                </a:solidFill>
                <a:latin typeface="Arial" pitchFamily="34" charset="0"/>
                <a:ea typeface="Arial" pitchFamily="34" charset="-122"/>
                <a:cs typeface="Arial" pitchFamily="34" charset="-120"/>
              </a:rPr>
              <a:t>Error</a:t>
            </a:r>
            <a:endParaRPr lang="en-US" sz="1800" dirty="0"/>
          </a:p>
        </p:txBody>
      </p:sp>
      <p:sp>
        <p:nvSpPr>
          <p:cNvPr id="19" name="slide-14-retain"/>
          <p:cNvSpPr txBox="1"/>
          <p:nvPr/>
        </p:nvSpPr>
        <p:spPr>
          <a:xfrm>
            <a:off x="5905500" y="4733925"/>
            <a:ext cx="2000250" cy="209550"/>
          </a:xfrm>
          <a:prstGeom prst="rect">
            <a:avLst/>
          </a:prstGeom>
          <a:noFill/>
          <a:ln/>
        </p:spPr>
        <p:txBody>
          <a:bodyPr wrap="square" lIns="0" tIns="0" rIns="0" bIns="0" rtlCol="0" anchor="t"/>
          <a:lstStyle/>
          <a:p>
            <a:pPr algn="ctr" indent="0" marL="0">
              <a:lnSpc>
                <a:spcPts val="1350"/>
              </a:lnSpc>
              <a:buNone/>
            </a:pPr>
            <a:r>
              <a:rPr lang="en-US" sz="1125" dirty="0">
                <a:solidFill>
                  <a:srgbClr val="A3A3A3"/>
                </a:solidFill>
                <a:latin typeface="Arial" pitchFamily="34" charset="0"/>
                <a:ea typeface="Arial" pitchFamily="34" charset="-122"/>
                <a:cs typeface="Arial" pitchFamily="34" charset="-120"/>
              </a:rPr>
              <a:t>Keep entered values</a:t>
            </a:r>
            <a:endParaRPr lang="en-US" sz="1125" dirty="0"/>
          </a:p>
        </p:txBody>
      </p:sp>
      <p:sp>
        <p:nvSpPr>
          <p:cNvPr id="20" name="slide-14-rule"/>
          <p:cNvSpPr/>
          <p:nvPr/>
        </p:nvSpPr>
        <p:spPr>
          <a:xfrm>
            <a:off x="8172450" y="2381250"/>
            <a:ext cx="9525" cy="2514600"/>
          </a:xfrm>
          <a:prstGeom prst="rect">
            <a:avLst/>
          </a:prstGeom>
          <a:solidFill>
            <a:srgbClr val="333333"/>
          </a:solidFill>
          <a:ln w="12700">
            <a:solidFill>
              <a:srgbClr val="333333">
                <a:alpha val="0"/>
              </a:srgbClr>
            </a:solidFill>
            <a:prstDash val="solid"/>
          </a:ln>
        </p:spPr>
      </p:sp>
      <p:sp>
        <p:nvSpPr>
          <p:cNvPr id="21" name="slide-14-navigation-heading"/>
          <p:cNvSpPr txBox="1"/>
          <p:nvPr/>
        </p:nvSpPr>
        <p:spPr>
          <a:xfrm>
            <a:off x="8477250" y="2505075"/>
            <a:ext cx="3105150" cy="285750"/>
          </a:xfrm>
          <a:prstGeom prst="rect">
            <a:avLst/>
          </a:prstGeom>
          <a:noFill/>
          <a:ln/>
        </p:spPr>
        <p:txBody>
          <a:bodyPr wrap="square" lIns="0" tIns="0" rIns="0" bIns="0" rtlCol="0" anchor="t"/>
          <a:lstStyle/>
          <a:p>
            <a:pPr algn="l" indent="0" marL="0">
              <a:lnSpc>
                <a:spcPts val="2070"/>
              </a:lnSpc>
              <a:buNone/>
            </a:pPr>
            <a:r>
              <a:rPr lang="en-US" sz="1725" b="1" dirty="0">
                <a:solidFill>
                  <a:srgbClr val="FFFFFF"/>
                </a:solidFill>
                <a:latin typeface="Arial" pitchFamily="34" charset="0"/>
                <a:ea typeface="Arial" pitchFamily="34" charset="-122"/>
                <a:cs typeface="Arial" pitchFamily="34" charset="-120"/>
              </a:rPr>
              <a:t>Navigation</a:t>
            </a:r>
            <a:endParaRPr lang="en-US" sz="1725" dirty="0"/>
          </a:p>
        </p:txBody>
      </p:sp>
      <p:sp>
        <p:nvSpPr>
          <p:cNvPr id="22" name="slide-14-navigation-body"/>
          <p:cNvSpPr txBox="1"/>
          <p:nvPr/>
        </p:nvSpPr>
        <p:spPr>
          <a:xfrm>
            <a:off x="8477250" y="2905125"/>
            <a:ext cx="3105150" cy="628650"/>
          </a:xfrm>
          <a:prstGeom prst="rect">
            <a:avLst/>
          </a:prstGeom>
          <a:noFill/>
          <a:ln/>
        </p:spPr>
        <p:txBody>
          <a:bodyPr wrap="square" lIns="0" tIns="0" rIns="0" bIns="0" rtlCol="0" anchor="t"/>
          <a:lstStyle/>
          <a:p>
            <a:pPr algn="l" indent="0" marL="0">
              <a:lnSpc>
                <a:spcPts val="2126"/>
              </a:lnSpc>
              <a:buNone/>
            </a:pPr>
            <a:r>
              <a:rPr lang="en-US" sz="1575" dirty="0">
                <a:solidFill>
                  <a:srgbClr val="A3A3A3"/>
                </a:solidFill>
                <a:latin typeface="Arial" pitchFamily="34" charset="0"/>
                <a:ea typeface="Arial" pitchFamily="34" charset="-122"/>
                <a:cs typeface="Arial" pitchFamily="34" charset="-120"/>
              </a:rPr>
              <a:t>Specify scroll behavior</a:t>
            </a:r>
            <a:endParaRPr lang="en-US" sz="1575" dirty="0"/>
          </a:p>
          <a:p>
            <a:pPr algn="l" indent="0" marL="0">
              <a:lnSpc>
                <a:spcPts val="2126"/>
              </a:lnSpc>
              <a:buNone/>
            </a:pPr>
            <a:r>
              <a:rPr lang="en-US" sz="1575" dirty="0">
                <a:solidFill>
                  <a:srgbClr val="A3A3A3"/>
                </a:solidFill>
                <a:latin typeface="Arial" pitchFamily="34" charset="0"/>
                <a:ea typeface="Arial" pitchFamily="34" charset="-122"/>
                <a:cs typeface="Arial" pitchFamily="34" charset="-120"/>
              </a:rPr>
              <a:t>and keyboard operation.</a:t>
            </a:r>
            <a:endParaRPr lang="en-US" sz="1575" dirty="0"/>
          </a:p>
        </p:txBody>
      </p:sp>
      <p:sp>
        <p:nvSpPr>
          <p:cNvPr id="23" name="slide-14-actions-heading"/>
          <p:cNvSpPr txBox="1"/>
          <p:nvPr/>
        </p:nvSpPr>
        <p:spPr>
          <a:xfrm>
            <a:off x="8477250" y="3819525"/>
            <a:ext cx="3105150" cy="285750"/>
          </a:xfrm>
          <a:prstGeom prst="rect">
            <a:avLst/>
          </a:prstGeom>
          <a:noFill/>
          <a:ln/>
        </p:spPr>
        <p:txBody>
          <a:bodyPr wrap="square" lIns="0" tIns="0" rIns="0" bIns="0" rtlCol="0" anchor="t"/>
          <a:lstStyle/>
          <a:p>
            <a:pPr algn="l" indent="0" marL="0">
              <a:lnSpc>
                <a:spcPts val="2070"/>
              </a:lnSpc>
              <a:buNone/>
            </a:pPr>
            <a:r>
              <a:rPr lang="en-US" sz="1725" b="1" dirty="0">
                <a:solidFill>
                  <a:srgbClr val="FFFFFF"/>
                </a:solidFill>
                <a:latin typeface="Arial" pitchFamily="34" charset="0"/>
                <a:ea typeface="Arial" pitchFamily="34" charset="-122"/>
                <a:cs typeface="Arial" pitchFamily="34" charset="-120"/>
              </a:rPr>
              <a:t>Fixed actions</a:t>
            </a:r>
            <a:endParaRPr lang="en-US" sz="1725" dirty="0"/>
          </a:p>
        </p:txBody>
      </p:sp>
      <p:sp>
        <p:nvSpPr>
          <p:cNvPr id="24" name="slide-14-actions-body"/>
          <p:cNvSpPr txBox="1"/>
          <p:nvPr/>
        </p:nvSpPr>
        <p:spPr>
          <a:xfrm>
            <a:off x="8477250" y="4219575"/>
            <a:ext cx="3105150" cy="628650"/>
          </a:xfrm>
          <a:prstGeom prst="rect">
            <a:avLst/>
          </a:prstGeom>
          <a:noFill/>
          <a:ln/>
        </p:spPr>
        <p:txBody>
          <a:bodyPr wrap="square" lIns="0" tIns="0" rIns="0" bIns="0" rtlCol="0" anchor="t"/>
          <a:lstStyle/>
          <a:p>
            <a:pPr algn="l" indent="0" marL="0">
              <a:lnSpc>
                <a:spcPts val="2126"/>
              </a:lnSpc>
              <a:buNone/>
            </a:pPr>
            <a:r>
              <a:rPr lang="en-US" sz="1575" dirty="0">
                <a:solidFill>
                  <a:srgbClr val="A3A3A3"/>
                </a:solidFill>
                <a:latin typeface="Arial" pitchFamily="34" charset="0"/>
                <a:ea typeface="Arial" pitchFamily="34" charset="-122"/>
                <a:cs typeface="Arial" pitchFamily="34" charset="-120"/>
              </a:rPr>
              <a:t>Keep them easy to find</a:t>
            </a:r>
            <a:endParaRPr lang="en-US" sz="1575" dirty="0"/>
          </a:p>
          <a:p>
            <a:pPr algn="l" indent="0" marL="0">
              <a:lnSpc>
                <a:spcPts val="2126"/>
              </a:lnSpc>
              <a:buNone/>
            </a:pPr>
            <a:r>
              <a:rPr lang="en-US" sz="1575" dirty="0">
                <a:solidFill>
                  <a:srgbClr val="A3A3A3"/>
                </a:solidFill>
                <a:latin typeface="Arial" pitchFamily="34" charset="0"/>
                <a:ea typeface="Arial" pitchFamily="34" charset="-122"/>
                <a:cs typeface="Arial" pitchFamily="34" charset="-120"/>
              </a:rPr>
              <a:t>without covering content.</a:t>
            </a:r>
            <a:endParaRPr lang="en-US" sz="1575" dirty="0"/>
          </a:p>
        </p:txBody>
      </p:sp>
      <p:sp>
        <p:nvSpPr>
          <p:cNvPr id="25" name="slide-14-prompt-panel"/>
          <p:cNvSpPr/>
          <p:nvPr/>
        </p:nvSpPr>
        <p:spPr>
          <a:xfrm>
            <a:off x="609600" y="5295900"/>
            <a:ext cx="10972800" cy="819150"/>
          </a:xfrm>
          <a:prstGeom prst="roundRect">
            <a:avLst>
              <a:gd name="adj" fmla="val 2326"/>
            </a:avLst>
          </a:prstGeom>
          <a:solidFill>
            <a:srgbClr val="181818"/>
          </a:solidFill>
          <a:ln w="9525">
            <a:solidFill>
              <a:srgbClr val="333333"/>
            </a:solidFill>
            <a:prstDash val="solid"/>
          </a:ln>
        </p:spPr>
      </p:sp>
      <p:sp>
        <p:nvSpPr>
          <p:cNvPr id="26" name="slide-14-prompt-label"/>
          <p:cNvSpPr txBox="1"/>
          <p:nvPr/>
        </p:nvSpPr>
        <p:spPr>
          <a:xfrm>
            <a:off x="800100" y="5505450"/>
            <a:ext cx="1409700" cy="228600"/>
          </a:xfrm>
          <a:prstGeom prst="rect">
            <a:avLst/>
          </a:prstGeom>
          <a:noFill/>
          <a:ln/>
        </p:spPr>
        <p:txBody>
          <a:bodyPr wrap="square" lIns="0" tIns="0" rIns="0" bIns="0" rtlCol="0" anchor="t"/>
          <a:lstStyle/>
          <a:p>
            <a:pPr algn="l" indent="0" marL="0">
              <a:lnSpc>
                <a:spcPts val="1350"/>
              </a:lnSpc>
              <a:buNone/>
            </a:pPr>
            <a:r>
              <a:rPr lang="en-US" sz="1125" spc="75" kern="0" dirty="0">
                <a:solidFill>
                  <a:srgbClr val="A3A3A3"/>
                </a:solidFill>
                <a:latin typeface="Courier New" pitchFamily="34" charset="0"/>
                <a:ea typeface="Courier New" pitchFamily="34" charset="-122"/>
                <a:cs typeface="Courier New" pitchFamily="34" charset="-120"/>
              </a:rPr>
              <a:t>PROMPT →</a:t>
            </a:r>
            <a:endParaRPr lang="en-US" sz="1125" dirty="0"/>
          </a:p>
        </p:txBody>
      </p:sp>
      <p:sp>
        <p:nvSpPr>
          <p:cNvPr id="27" name="slide-14-body"/>
          <p:cNvSpPr txBox="1"/>
          <p:nvPr/>
        </p:nvSpPr>
        <p:spPr>
          <a:xfrm>
            <a:off x="2381250" y="5457825"/>
            <a:ext cx="8953500" cy="561975"/>
          </a:xfrm>
          <a:prstGeom prst="rect">
            <a:avLst/>
          </a:prstGeom>
          <a:noFill/>
          <a:ln/>
        </p:spPr>
        <p:txBody>
          <a:bodyPr wrap="square" lIns="0" tIns="0" rIns="0" bIns="0" rtlCol="0" anchor="t"/>
          <a:lstStyle/>
          <a:p>
            <a:pPr algn="l" indent="0" marL="0">
              <a:lnSpc>
                <a:spcPts val="2048"/>
              </a:lnSpc>
              <a:buNone/>
            </a:pPr>
            <a:r>
              <a:rPr lang="en-US" sz="1575" dirty="0">
                <a:solidFill>
                  <a:srgbClr val="FFFFFF"/>
                </a:solidFill>
                <a:latin typeface="Courier New" pitchFamily="34" charset="0"/>
                <a:ea typeface="Courier New" pitchFamily="34" charset="-122"/>
                <a:cs typeface="Courier New" pitchFamily="34" charset="-120"/>
              </a:rPr>
              <a:t>“Add submission feedback and an error state;</a:t>
            </a:r>
            <a:endParaRPr lang="en-US" sz="1575" dirty="0"/>
          </a:p>
          <a:p>
            <a:pPr algn="l" indent="0" marL="0">
              <a:lnSpc>
                <a:spcPts val="2048"/>
              </a:lnSpc>
              <a:buNone/>
            </a:pPr>
            <a:r>
              <a:rPr lang="en-US" sz="1575" dirty="0">
                <a:solidFill>
                  <a:srgbClr val="FFFFFF"/>
                </a:solidFill>
                <a:latin typeface="Courier New" pitchFamily="34" charset="0"/>
                <a:ea typeface="Courier New" pitchFamily="34" charset="-122"/>
                <a:cs typeface="Courier New" pitchFamily="34" charset="-120"/>
              </a:rPr>
              <a:t>preserve entered values after failure.”</a:t>
            </a:r>
            <a:endParaRPr lang="en-US" sz="1575" dirty="0"/>
          </a:p>
        </p:txBody>
      </p:sp>
      <p:sp>
        <p:nvSpPr>
          <p:cNvPr id="28" name="slide-14-footer-rule"/>
          <p:cNvSpPr/>
          <p:nvPr/>
        </p:nvSpPr>
        <p:spPr>
          <a:xfrm>
            <a:off x="609600" y="6334125"/>
            <a:ext cx="10972800" cy="9525"/>
          </a:xfrm>
          <a:prstGeom prst="rect">
            <a:avLst/>
          </a:prstGeom>
          <a:solidFill>
            <a:srgbClr val="222222"/>
          </a:solidFill>
          <a:ln w="12700">
            <a:solidFill>
              <a:srgbClr val="222222">
                <a:alpha val="0"/>
              </a:srgbClr>
            </a:solidFill>
            <a:prstDash val="solid"/>
          </a:ln>
        </p:spPr>
      </p:sp>
      <p:sp>
        <p:nvSpPr>
          <p:cNvPr id="29" name="slide-14-footer"/>
          <p:cNvSpPr txBox="1"/>
          <p:nvPr/>
        </p:nvSpPr>
        <p:spPr>
          <a:xfrm>
            <a:off x="609600" y="6477000"/>
            <a:ext cx="10972800" cy="200025"/>
          </a:xfrm>
          <a:prstGeom prst="rect">
            <a:avLst/>
          </a:prstGeom>
          <a:noFill/>
          <a:ln/>
        </p:spPr>
        <p:txBody>
          <a:bodyPr wrap="square" lIns="0" tIns="0" rIns="0" bIns="0" rtlCol="0" anchor="t"/>
          <a:lstStyle/>
          <a:p>
            <a:pPr algn="l" indent="0" marL="0">
              <a:lnSpc>
                <a:spcPts val="1170"/>
              </a:lnSpc>
              <a:buNone/>
            </a:pPr>
            <a:r>
              <a:rPr lang="en-US" sz="975" dirty="0">
                <a:solidFill>
                  <a:srgbClr val="A3A3A3"/>
                </a:solidFill>
                <a:latin typeface="Arial" pitchFamily="34" charset="0"/>
                <a:ea typeface="Arial" pitchFamily="34" charset="-122"/>
                <a:cs typeface="Arial" pitchFamily="34" charset="-120"/>
              </a:rPr>
              <a:t>Tutorial examples: requesting sticky product images; keeping the purchase action easy to find.</a:t>
            </a:r>
            <a:endParaRPr lang="en-US" sz="975"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0A0A0A"/>
        </a:solidFill>
      </p:bgPr>
    </p:bg>
    <p:spTree>
      <p:nvGrpSpPr>
        <p:cNvPr id="1" name=""/>
        <p:cNvGrpSpPr/>
        <p:nvPr/>
      </p:nvGrpSpPr>
      <p:grpSpPr>
        <a:xfrm>
          <a:off x="0" y="0"/>
          <a:ext cx="0" cy="0"/>
          <a:chOff x="0" y="0"/>
          <a:chExt cx="0" cy="0"/>
        </a:xfrm>
      </p:grpSpPr>
      <p:sp>
        <p:nvSpPr>
          <p:cNvPr id="3" name="slide-15-eyebrow"/>
          <p:cNvSpPr txBox="1"/>
          <p:nvPr/>
        </p:nvSpPr>
        <p:spPr>
          <a:xfrm>
            <a:off x="762000" y="381000"/>
            <a:ext cx="9048750" cy="228600"/>
          </a:xfrm>
          <a:prstGeom prst="rect">
            <a:avLst/>
          </a:prstGeom>
          <a:noFill/>
          <a:ln/>
        </p:spPr>
        <p:txBody>
          <a:bodyPr wrap="square" lIns="0" tIns="0" rIns="0" bIns="0" rtlCol="0" anchor="t"/>
          <a:lstStyle/>
          <a:p>
            <a:pPr algn="l" indent="0" marL="0">
              <a:lnSpc>
                <a:spcPts val="1170"/>
              </a:lnSpc>
              <a:buNone/>
            </a:pPr>
            <a:r>
              <a:rPr lang="en-US" sz="975" spc="150" kern="0" dirty="0">
                <a:solidFill>
                  <a:srgbClr val="A3A3A3"/>
                </a:solidFill>
                <a:latin typeface="Arial" pitchFamily="34" charset="0"/>
                <a:ea typeface="Arial" pitchFamily="34" charset="-122"/>
                <a:cs typeface="Arial" pitchFamily="34" charset="-120"/>
              </a:rPr>
              <a:t>CLAUDE CODE  /  WEBSITE CRAFT  /  MOTION</a:t>
            </a:r>
            <a:endParaRPr lang="en-US" sz="975" dirty="0"/>
          </a:p>
        </p:txBody>
      </p:sp>
      <p:sp>
        <p:nvSpPr>
          <p:cNvPr id="4" name="slide-15-title"/>
          <p:cNvSpPr txBox="1"/>
          <p:nvPr/>
        </p:nvSpPr>
        <p:spPr>
          <a:xfrm>
            <a:off x="742950" y="1066800"/>
            <a:ext cx="5905500" cy="1428750"/>
          </a:xfrm>
          <a:prstGeom prst="rect">
            <a:avLst/>
          </a:prstGeom>
          <a:noFill/>
          <a:ln/>
        </p:spPr>
        <p:txBody>
          <a:bodyPr wrap="square" lIns="0" tIns="0" rIns="0" bIns="0" rtlCol="0" anchor="t"/>
          <a:lstStyle/>
          <a:p>
            <a:pPr algn="l" indent="0" marL="0">
              <a:lnSpc>
                <a:spcPts val="4860"/>
              </a:lnSpc>
              <a:buNone/>
            </a:pPr>
            <a:r>
              <a:rPr lang="en-US" sz="4500" spc="-112" kern="0" dirty="0">
                <a:solidFill>
                  <a:srgbClr val="FFFFFF"/>
                </a:solidFill>
                <a:latin typeface="Arial" pitchFamily="34" charset="0"/>
                <a:ea typeface="Arial" pitchFamily="34" charset="-122"/>
                <a:cs typeface="Arial" pitchFamily="34" charset="-120"/>
              </a:rPr>
              <a:t>Use motion to</a:t>
            </a:r>
            <a:endParaRPr lang="en-US" sz="4500" dirty="0"/>
          </a:p>
          <a:p>
            <a:pPr algn="l" indent="0" marL="0">
              <a:lnSpc>
                <a:spcPts val="4860"/>
              </a:lnSpc>
              <a:buNone/>
            </a:pPr>
            <a:r>
              <a:rPr lang="en-US" sz="4500" spc="-112" kern="0" dirty="0">
                <a:solidFill>
                  <a:srgbClr val="FFFFFF"/>
                </a:solidFill>
                <a:latin typeface="Arial" pitchFamily="34" charset="0"/>
                <a:ea typeface="Arial" pitchFamily="34" charset="-122"/>
                <a:cs typeface="Arial" pitchFamily="34" charset="-120"/>
              </a:rPr>
              <a:t>guide attention</a:t>
            </a:r>
            <a:endParaRPr lang="en-US" sz="4500" dirty="0"/>
          </a:p>
        </p:txBody>
      </p:sp>
      <p:sp>
        <p:nvSpPr>
          <p:cNvPr id="5" name="slide-15-body"/>
          <p:cNvSpPr txBox="1"/>
          <p:nvPr/>
        </p:nvSpPr>
        <p:spPr>
          <a:xfrm>
            <a:off x="762000" y="2857500"/>
            <a:ext cx="5524500" cy="1028700"/>
          </a:xfrm>
          <a:prstGeom prst="rect">
            <a:avLst/>
          </a:prstGeom>
          <a:noFill/>
          <a:ln/>
        </p:spPr>
        <p:txBody>
          <a:bodyPr wrap="square" lIns="0" tIns="0" rIns="0" bIns="0" rtlCol="0" anchor="t"/>
          <a:lstStyle/>
          <a:p>
            <a:pPr algn="l" indent="0" marL="0">
              <a:lnSpc>
                <a:spcPts val="2813"/>
              </a:lnSpc>
              <a:buNone/>
            </a:pPr>
            <a:r>
              <a:rPr lang="en-US" sz="2250" dirty="0">
                <a:solidFill>
                  <a:srgbClr val="A3A3A3"/>
                </a:solidFill>
                <a:latin typeface="Arial" pitchFamily="34" charset="0"/>
                <a:ea typeface="Arial" pitchFamily="34" charset="-122"/>
                <a:cs typeface="Arial" pitchFamily="34" charset="-120"/>
              </a:rPr>
              <a:t>Specify how the website should move—not just how it should look.</a:t>
            </a:r>
            <a:endParaRPr lang="en-US" sz="2250" dirty="0"/>
          </a:p>
        </p:txBody>
      </p:sp>
      <p:sp>
        <p:nvSpPr>
          <p:cNvPr id="6" name="slide-15-accent"/>
          <p:cNvSpPr/>
          <p:nvPr/>
        </p:nvSpPr>
        <p:spPr>
          <a:xfrm>
            <a:off x="6858000" y="1104900"/>
            <a:ext cx="9525" cy="3352800"/>
          </a:xfrm>
          <a:prstGeom prst="rect">
            <a:avLst/>
          </a:prstGeom>
          <a:solidFill>
            <a:srgbClr val="333333"/>
          </a:solidFill>
          <a:ln w="12700">
            <a:solidFill>
              <a:srgbClr val="333333">
                <a:alpha val="0"/>
              </a:srgbClr>
            </a:solidFill>
            <a:prstDash val="solid"/>
          </a:ln>
        </p:spPr>
      </p:sp>
      <p:sp>
        <p:nvSpPr>
          <p:cNvPr id="7" name="slide-15-guidance-label"/>
          <p:cNvSpPr txBox="1"/>
          <p:nvPr/>
        </p:nvSpPr>
        <p:spPr>
          <a:xfrm>
            <a:off x="7315200" y="1076325"/>
            <a:ext cx="4000500" cy="228600"/>
          </a:xfrm>
          <a:prstGeom prst="rect">
            <a:avLst/>
          </a:prstGeom>
          <a:noFill/>
          <a:ln/>
        </p:spPr>
        <p:txBody>
          <a:bodyPr wrap="square" lIns="0" tIns="0" rIns="0" bIns="0" rtlCol="0" anchor="t"/>
          <a:lstStyle/>
          <a:p>
            <a:pPr algn="l" indent="0" marL="0">
              <a:lnSpc>
                <a:spcPts val="1170"/>
              </a:lnSpc>
              <a:buNone/>
            </a:pPr>
            <a:r>
              <a:rPr lang="en-US" sz="975" spc="150" kern="0" dirty="0">
                <a:solidFill>
                  <a:srgbClr val="A3A3A3"/>
                </a:solidFill>
                <a:latin typeface="Arial" pitchFamily="34" charset="0"/>
                <a:ea typeface="Arial" pitchFamily="34" charset="-122"/>
                <a:cs typeface="Arial" pitchFamily="34" charset="-120"/>
              </a:rPr>
              <a:t>DESIGN GUIDELINES</a:t>
            </a:r>
            <a:endParaRPr lang="en-US" sz="975" dirty="0"/>
          </a:p>
        </p:txBody>
      </p:sp>
      <p:sp>
        <p:nvSpPr>
          <p:cNvPr id="8" name="slide-15-guidance-arrival"/>
          <p:cNvSpPr txBox="1"/>
          <p:nvPr/>
        </p:nvSpPr>
        <p:spPr>
          <a:xfrm>
            <a:off x="7315200" y="1524000"/>
            <a:ext cx="4019550" cy="838200"/>
          </a:xfrm>
          <a:prstGeom prst="rect">
            <a:avLst/>
          </a:prstGeom>
          <a:noFill/>
          <a:ln/>
        </p:spPr>
        <p:txBody>
          <a:bodyPr wrap="square" lIns="0" tIns="0" rIns="0" bIns="0" rtlCol="0" anchor="t"/>
          <a:lstStyle/>
          <a:p>
            <a:pPr algn="l" indent="0" marL="0">
              <a:lnSpc>
                <a:spcPts val="2156"/>
              </a:lnSpc>
              <a:buNone/>
            </a:pPr>
            <a:r>
              <a:rPr lang="en-US" sz="1725" dirty="0">
                <a:solidFill>
                  <a:srgbClr val="FFFFFF"/>
                </a:solidFill>
                <a:latin typeface="Arial" pitchFamily="34" charset="0"/>
                <a:ea typeface="Arial" pitchFamily="34" charset="-122"/>
                <a:cs typeface="Arial" pitchFamily="34" charset="-120"/>
              </a:rPr>
              <a:t>Use brief fades and small shifts to clarify arrival or a change of state.</a:t>
            </a:r>
            <a:endParaRPr lang="en-US" sz="1725" dirty="0"/>
          </a:p>
        </p:txBody>
      </p:sp>
      <p:sp>
        <p:nvSpPr>
          <p:cNvPr id="9" name="slide-15-guidance-restraint"/>
          <p:cNvSpPr txBox="1"/>
          <p:nvPr/>
        </p:nvSpPr>
        <p:spPr>
          <a:xfrm>
            <a:off x="7315200" y="2562225"/>
            <a:ext cx="4019550" cy="838200"/>
          </a:xfrm>
          <a:prstGeom prst="rect">
            <a:avLst/>
          </a:prstGeom>
          <a:noFill/>
          <a:ln/>
        </p:spPr>
        <p:txBody>
          <a:bodyPr wrap="square" lIns="0" tIns="0" rIns="0" bIns="0" rtlCol="0" anchor="t"/>
          <a:lstStyle/>
          <a:p>
            <a:pPr algn="l" indent="0" marL="0">
              <a:lnSpc>
                <a:spcPts val="2156"/>
              </a:lnSpc>
              <a:buNone/>
            </a:pPr>
            <a:r>
              <a:rPr lang="en-US" sz="1725" dirty="0">
                <a:solidFill>
                  <a:srgbClr val="FFFFFF"/>
                </a:solidFill>
                <a:latin typeface="Arial" pitchFamily="34" charset="0"/>
                <a:ea typeface="Arial" pitchFamily="34" charset="-122"/>
                <a:cs typeface="Arial" pitchFamily="34" charset="-120"/>
              </a:rPr>
              <a:t>Avoid continuous motion behind text and dramatic scroll effects by default.</a:t>
            </a:r>
            <a:endParaRPr lang="en-US" sz="1725" dirty="0"/>
          </a:p>
        </p:txBody>
      </p:sp>
      <p:sp>
        <p:nvSpPr>
          <p:cNvPr id="10" name="slide-15-guidance-accessibility"/>
          <p:cNvSpPr txBox="1"/>
          <p:nvPr/>
        </p:nvSpPr>
        <p:spPr>
          <a:xfrm>
            <a:off x="7315200" y="3609975"/>
            <a:ext cx="4019550" cy="838200"/>
          </a:xfrm>
          <a:prstGeom prst="rect">
            <a:avLst/>
          </a:prstGeom>
          <a:noFill/>
          <a:ln/>
        </p:spPr>
        <p:txBody>
          <a:bodyPr wrap="square" lIns="0" tIns="0" rIns="0" bIns="0" rtlCol="0" anchor="t"/>
          <a:lstStyle/>
          <a:p>
            <a:pPr algn="l" indent="0" marL="0">
              <a:lnSpc>
                <a:spcPts val="2156"/>
              </a:lnSpc>
              <a:buNone/>
            </a:pPr>
            <a:r>
              <a:rPr lang="en-US" sz="1725" dirty="0">
                <a:solidFill>
                  <a:srgbClr val="FFFFFF"/>
                </a:solidFill>
                <a:latin typeface="Arial" pitchFamily="34" charset="0"/>
                <a:ea typeface="Arial" pitchFamily="34" charset="-122"/>
                <a:cs typeface="Arial" pitchFamily="34" charset="-120"/>
              </a:rPr>
              <a:t>Support reduced-motion preferences without disrupting navigation.</a:t>
            </a:r>
            <a:endParaRPr lang="en-US" sz="1725" dirty="0"/>
          </a:p>
        </p:txBody>
      </p:sp>
      <p:sp>
        <p:nvSpPr>
          <p:cNvPr id="11" name="slide-15-prompt-background"/>
          <p:cNvSpPr/>
          <p:nvPr/>
        </p:nvSpPr>
        <p:spPr>
          <a:xfrm>
            <a:off x="762000" y="4914900"/>
            <a:ext cx="10668000" cy="1266825"/>
          </a:xfrm>
          <a:prstGeom prst="roundRect">
            <a:avLst>
              <a:gd name="adj" fmla="val 1504"/>
            </a:avLst>
          </a:prstGeom>
          <a:solidFill>
            <a:srgbClr val="161616"/>
          </a:solidFill>
          <a:ln w="9525">
            <a:solidFill>
              <a:srgbClr val="333333"/>
            </a:solidFill>
            <a:prstDash val="solid"/>
          </a:ln>
        </p:spPr>
      </p:sp>
      <p:sp>
        <p:nvSpPr>
          <p:cNvPr id="12" name="slide-15-prompt-label"/>
          <p:cNvSpPr txBox="1"/>
          <p:nvPr/>
        </p:nvSpPr>
        <p:spPr>
          <a:xfrm>
            <a:off x="990600" y="5067300"/>
            <a:ext cx="10172700" cy="200025"/>
          </a:xfrm>
          <a:prstGeom prst="rect">
            <a:avLst/>
          </a:prstGeom>
          <a:noFill/>
          <a:ln/>
        </p:spPr>
        <p:txBody>
          <a:bodyPr wrap="square" lIns="0" tIns="0" rIns="0" bIns="0" rtlCol="0" anchor="t"/>
          <a:lstStyle/>
          <a:p>
            <a:pPr algn="l" indent="0" marL="0">
              <a:lnSpc>
                <a:spcPts val="1080"/>
              </a:lnSpc>
              <a:buNone/>
            </a:pPr>
            <a:r>
              <a:rPr lang="en-US" sz="900" spc="105" kern="0" dirty="0">
                <a:solidFill>
                  <a:srgbClr val="A3A3A3"/>
                </a:solidFill>
                <a:latin typeface="Courier New" pitchFamily="34" charset="0"/>
                <a:ea typeface="Courier New" pitchFamily="34" charset="-122"/>
                <a:cs typeface="Courier New" pitchFamily="34" charset="-120"/>
              </a:rPr>
              <a:t>CLAUDE CODE PROMPT</a:t>
            </a:r>
            <a:endParaRPr lang="en-US" sz="900" dirty="0"/>
          </a:p>
        </p:txBody>
      </p:sp>
      <p:sp>
        <p:nvSpPr>
          <p:cNvPr id="13" name="slide-15-prompt"/>
          <p:cNvSpPr txBox="1"/>
          <p:nvPr/>
        </p:nvSpPr>
        <p:spPr>
          <a:xfrm>
            <a:off x="990600" y="5391150"/>
            <a:ext cx="10172700" cy="628650"/>
          </a:xfrm>
          <a:prstGeom prst="rect">
            <a:avLst/>
          </a:prstGeom>
          <a:noFill/>
          <a:ln/>
        </p:spPr>
        <p:txBody>
          <a:bodyPr wrap="square" lIns="0" tIns="0" rIns="0" bIns="0" rtlCol="0" anchor="t"/>
          <a:lstStyle/>
          <a:p>
            <a:pPr algn="l" indent="0" marL="0">
              <a:lnSpc>
                <a:spcPts val="2205"/>
              </a:lnSpc>
              <a:buNone/>
            </a:pPr>
            <a:r>
              <a:rPr lang="en-US" sz="1575" dirty="0">
                <a:solidFill>
                  <a:srgbClr val="F5F5F5"/>
                </a:solidFill>
                <a:latin typeface="Arial" pitchFamily="34" charset="0"/>
                <a:ea typeface="Arial" pitchFamily="34" charset="-122"/>
                <a:cs typeface="Arial" pitchFamily="34" charset="-120"/>
              </a:rPr>
              <a:t>“Add subtle section-entry fades. Disable animation when reduced motion is requested;</a:t>
            </a:r>
            <a:endParaRPr lang="en-US" sz="1575" dirty="0"/>
          </a:p>
          <a:p>
            <a:pPr algn="l" indent="0" marL="0">
              <a:lnSpc>
                <a:spcPts val="2205"/>
              </a:lnSpc>
              <a:buNone/>
            </a:pPr>
            <a:r>
              <a:rPr lang="en-US" sz="1575" dirty="0">
                <a:solidFill>
                  <a:srgbClr val="F5F5F5"/>
                </a:solidFill>
                <a:latin typeface="Arial" pitchFamily="34" charset="0"/>
                <a:ea typeface="Arial" pitchFamily="34" charset="-122"/>
                <a:cs typeface="Arial" pitchFamily="34" charset="-120"/>
              </a:rPr>
              <a:t>keep content visible and navigation intact.”</a:t>
            </a:r>
            <a:endParaRPr lang="en-US" sz="1575" dirty="0"/>
          </a:p>
        </p:txBody>
      </p:sp>
      <p:sp>
        <p:nvSpPr>
          <p:cNvPr id="14" name="slide-15-footer-rule"/>
          <p:cNvSpPr/>
          <p:nvPr/>
        </p:nvSpPr>
        <p:spPr>
          <a:xfrm>
            <a:off x="762000" y="6381750"/>
            <a:ext cx="10668000" cy="9525"/>
          </a:xfrm>
          <a:prstGeom prst="rect">
            <a:avLst/>
          </a:prstGeom>
          <a:solidFill>
            <a:srgbClr val="222222"/>
          </a:solidFill>
          <a:ln w="12700">
            <a:solidFill>
              <a:srgbClr val="222222">
                <a:alpha val="0"/>
              </a:srgbClr>
            </a:solidFill>
            <a:prstDash val="solid"/>
          </a:ln>
        </p:spPr>
      </p:sp>
      <p:sp>
        <p:nvSpPr>
          <p:cNvPr id="15" name="slide-15-footer"/>
          <p:cNvSpPr txBox="1"/>
          <p:nvPr/>
        </p:nvSpPr>
        <p:spPr>
          <a:xfrm>
            <a:off x="762000" y="6515100"/>
            <a:ext cx="10668000" cy="171450"/>
          </a:xfrm>
          <a:prstGeom prst="rect">
            <a:avLst/>
          </a:prstGeom>
          <a:noFill/>
          <a:ln/>
        </p:spPr>
        <p:txBody>
          <a:bodyPr wrap="square" lIns="0" tIns="0" rIns="0" bIns="0" rtlCol="0" anchor="t"/>
          <a:lstStyle/>
          <a:p>
            <a:pPr algn="l" indent="0" marL="0">
              <a:lnSpc>
                <a:spcPts val="1080"/>
              </a:lnSpc>
              <a:buNone/>
            </a:pPr>
            <a:r>
              <a:rPr lang="en-US" sz="900" dirty="0">
                <a:solidFill>
                  <a:srgbClr val="A3A3A3"/>
                </a:solidFill>
                <a:latin typeface="Courier New" pitchFamily="34" charset="0"/>
                <a:ea typeface="Courier New" pitchFamily="34" charset="-122"/>
                <a:cs typeface="Courier New" pitchFamily="34" charset="-120"/>
              </a:rPr>
              <a:t>BUILDING WITH CLAUDE CODE                                                                                          15 / 20</a:t>
            </a:r>
            <a:endParaRPr lang="en-US" sz="9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0A0A0A"/>
        </a:solidFill>
      </p:bgPr>
    </p:bg>
    <p:spTree>
      <p:nvGrpSpPr>
        <p:cNvPr id="1" name=""/>
        <p:cNvGrpSpPr/>
        <p:nvPr/>
      </p:nvGrpSpPr>
      <p:grpSpPr>
        <a:xfrm>
          <a:off x="0" y="0"/>
          <a:ext cx="0" cy="0"/>
          <a:chOff x="0" y="0"/>
          <a:chExt cx="0" cy="0"/>
        </a:xfrm>
      </p:grpSpPr>
      <p:sp>
        <p:nvSpPr>
          <p:cNvPr id="3" name="slide-16-eyebrow"/>
          <p:cNvSpPr txBox="1"/>
          <p:nvPr/>
        </p:nvSpPr>
        <p:spPr>
          <a:xfrm>
            <a:off x="762000" y="361950"/>
            <a:ext cx="9525000" cy="228600"/>
          </a:xfrm>
          <a:prstGeom prst="rect">
            <a:avLst/>
          </a:prstGeom>
          <a:noFill/>
          <a:ln/>
        </p:spPr>
        <p:txBody>
          <a:bodyPr wrap="square" lIns="0" tIns="0" rIns="0" bIns="0" rtlCol="0" anchor="t"/>
          <a:lstStyle/>
          <a:p>
            <a:pPr algn="l" indent="0" marL="0">
              <a:lnSpc>
                <a:spcPts val="1260"/>
              </a:lnSpc>
              <a:buNone/>
            </a:pPr>
            <a:r>
              <a:rPr lang="en-US" sz="1050" spc="150" kern="0" dirty="0">
                <a:solidFill>
                  <a:srgbClr val="A3A3A3"/>
                </a:solidFill>
                <a:latin typeface="Arial" pitchFamily="34" charset="0"/>
                <a:ea typeface="Arial" pitchFamily="34" charset="-122"/>
                <a:cs typeface="Arial" pitchFamily="34" charset="-120"/>
              </a:rPr>
              <a:t>CLAUDE CODE / MOTION</a:t>
            </a:r>
            <a:endParaRPr lang="en-US" sz="1050" dirty="0"/>
          </a:p>
        </p:txBody>
      </p:sp>
      <p:sp>
        <p:nvSpPr>
          <p:cNvPr id="4" name="slide-16-title"/>
          <p:cNvSpPr txBox="1"/>
          <p:nvPr/>
        </p:nvSpPr>
        <p:spPr>
          <a:xfrm>
            <a:off x="762000" y="876300"/>
            <a:ext cx="10287000" cy="1104900"/>
          </a:xfrm>
          <a:prstGeom prst="rect">
            <a:avLst/>
          </a:prstGeom>
          <a:noFill/>
          <a:ln/>
        </p:spPr>
        <p:txBody>
          <a:bodyPr wrap="square" lIns="0" tIns="0" rIns="0" bIns="0" rtlCol="0" anchor="t"/>
          <a:lstStyle/>
          <a:p>
            <a:pPr algn="l" indent="0" marL="0">
              <a:lnSpc>
                <a:spcPts val="3888"/>
              </a:lnSpc>
              <a:buNone/>
            </a:pPr>
            <a:r>
              <a:rPr lang="en-US" sz="3600" spc="-75" kern="0" dirty="0">
                <a:solidFill>
                  <a:srgbClr val="FFFFFF"/>
                </a:solidFill>
                <a:latin typeface="Arial" pitchFamily="34" charset="0"/>
                <a:ea typeface="Arial" pitchFamily="34" charset="-122"/>
                <a:cs typeface="Arial" pitchFamily="34" charset="-120"/>
              </a:rPr>
              <a:t>Choose motion tools</a:t>
            </a:r>
            <a:endParaRPr lang="en-US" sz="3600" dirty="0"/>
          </a:p>
          <a:p>
            <a:pPr algn="l" indent="0" marL="0">
              <a:lnSpc>
                <a:spcPts val="3888"/>
              </a:lnSpc>
              <a:buNone/>
            </a:pPr>
            <a:r>
              <a:rPr lang="en-US" sz="3600" spc="-75" kern="0" dirty="0">
                <a:solidFill>
                  <a:srgbClr val="FFFFFF"/>
                </a:solidFill>
                <a:latin typeface="Arial" pitchFamily="34" charset="0"/>
                <a:ea typeface="Arial" pitchFamily="34" charset="-122"/>
                <a:cs typeface="Arial" pitchFamily="34" charset="-120"/>
              </a:rPr>
              <a:t>for a specific need</a:t>
            </a:r>
            <a:endParaRPr lang="en-US" sz="3600" dirty="0"/>
          </a:p>
        </p:txBody>
      </p:sp>
      <p:sp>
        <p:nvSpPr>
          <p:cNvPr id="5" name="slide-16-lead"/>
          <p:cNvSpPr txBox="1"/>
          <p:nvPr/>
        </p:nvSpPr>
        <p:spPr>
          <a:xfrm>
            <a:off x="762000" y="2266950"/>
            <a:ext cx="10287000" cy="723900"/>
          </a:xfrm>
          <a:prstGeom prst="rect">
            <a:avLst/>
          </a:prstGeom>
          <a:noFill/>
          <a:ln/>
        </p:spPr>
        <p:txBody>
          <a:bodyPr wrap="square" lIns="0" tIns="0" rIns="0" bIns="0" rtlCol="0" anchor="t"/>
          <a:lstStyle/>
          <a:p>
            <a:pPr algn="l" indent="0" marL="0">
              <a:lnSpc>
                <a:spcPts val="2625"/>
              </a:lnSpc>
              <a:buNone/>
            </a:pPr>
            <a:r>
              <a:rPr lang="en-US" sz="2100" dirty="0">
                <a:solidFill>
                  <a:srgbClr val="FFFFFF"/>
                </a:solidFill>
                <a:latin typeface="Arial" pitchFamily="34" charset="0"/>
                <a:ea typeface="Arial" pitchFamily="34" charset="-122"/>
                <a:cs typeface="Arial" pitchFamily="34" charset="-120"/>
              </a:rPr>
              <a:t>Ask Claude Code to assess fit and propose a minimal integration.</a:t>
            </a:r>
            <a:endParaRPr lang="en-US" sz="2100" dirty="0"/>
          </a:p>
          <a:p>
            <a:pPr algn="l" indent="0" marL="0">
              <a:lnSpc>
                <a:spcPts val="2625"/>
              </a:lnSpc>
              <a:buNone/>
            </a:pPr>
            <a:r>
              <a:rPr lang="en-US" sz="2100" dirty="0">
                <a:solidFill>
                  <a:srgbClr val="FFFFFF"/>
                </a:solidFill>
                <a:latin typeface="Arial" pitchFamily="34" charset="0"/>
                <a:ea typeface="Arial" pitchFamily="34" charset="-122"/>
                <a:cs typeface="Arial" pitchFamily="34" charset="-120"/>
              </a:rPr>
              <a:t>Don’t add every library.</a:t>
            </a:r>
            <a:endParaRPr lang="en-US" sz="2100" dirty="0"/>
          </a:p>
        </p:txBody>
      </p:sp>
      <p:sp>
        <p:nvSpPr>
          <p:cNvPr id="6" name="slide-16-resource-label"/>
          <p:cNvSpPr txBox="1"/>
          <p:nvPr/>
        </p:nvSpPr>
        <p:spPr>
          <a:xfrm>
            <a:off x="762000" y="3257550"/>
            <a:ext cx="10668000" cy="209550"/>
          </a:xfrm>
          <a:prstGeom prst="rect">
            <a:avLst/>
          </a:prstGeom>
          <a:noFill/>
          <a:ln/>
        </p:spPr>
        <p:txBody>
          <a:bodyPr wrap="square" lIns="0" tIns="0" rIns="0" bIns="0" rtlCol="0" anchor="t"/>
          <a:lstStyle/>
          <a:p>
            <a:pPr algn="l" indent="0" marL="0">
              <a:lnSpc>
                <a:spcPts val="1080"/>
              </a:lnSpc>
              <a:buNone/>
            </a:pPr>
            <a:r>
              <a:rPr lang="en-US" sz="900" spc="113" kern="0" dirty="0">
                <a:solidFill>
                  <a:srgbClr val="A3A3A3"/>
                </a:solidFill>
                <a:latin typeface="Arial" pitchFamily="34" charset="0"/>
                <a:ea typeface="Arial" pitchFamily="34" charset="-122"/>
                <a:cs typeface="Arial" pitchFamily="34" charset="-120"/>
              </a:rPr>
              <a:t>SOURCE-LINKED RESOURCES  /  OPTIONAL</a:t>
            </a:r>
            <a:endParaRPr lang="en-US" sz="900" dirty="0"/>
          </a:p>
        </p:txBody>
      </p:sp>
      <p:sp>
        <p:nvSpPr>
          <p:cNvPr id="7" name="slide-16-card-0"/>
          <p:cNvSpPr/>
          <p:nvPr/>
        </p:nvSpPr>
        <p:spPr>
          <a:xfrm>
            <a:off x="762000" y="3600450"/>
            <a:ext cx="10668000" cy="9525"/>
          </a:xfrm>
          <a:prstGeom prst="rect">
            <a:avLst/>
          </a:prstGeom>
          <a:solidFill>
            <a:srgbClr val="333333"/>
          </a:solidFill>
          <a:ln w="12700">
            <a:solidFill>
              <a:srgbClr val="333333">
                <a:alpha val="0"/>
              </a:srgbClr>
            </a:solidFill>
            <a:prstDash val="solid"/>
          </a:ln>
        </p:spPr>
      </p:sp>
      <p:sp>
        <p:nvSpPr>
          <p:cNvPr id="8" name="slide-16-card-number-0"/>
          <p:cNvSpPr txBox="1"/>
          <p:nvPr/>
        </p:nvSpPr>
        <p:spPr>
          <a:xfrm>
            <a:off x="762000" y="3838575"/>
            <a:ext cx="457200" cy="228600"/>
          </a:xfrm>
          <a:prstGeom prst="rect">
            <a:avLst/>
          </a:prstGeom>
          <a:noFill/>
          <a:ln/>
        </p:spPr>
        <p:txBody>
          <a:bodyPr wrap="square" lIns="0" tIns="0" rIns="0" bIns="0" rtlCol="0" anchor="t"/>
          <a:lstStyle/>
          <a:p>
            <a:pPr algn="l" indent="0" marL="0">
              <a:lnSpc>
                <a:spcPts val="1260"/>
              </a:lnSpc>
              <a:buNone/>
            </a:pPr>
            <a:r>
              <a:rPr lang="en-US" sz="1050" dirty="0">
                <a:solidFill>
                  <a:srgbClr val="A3A3A3"/>
                </a:solidFill>
                <a:latin typeface="Arial" pitchFamily="34" charset="0"/>
                <a:ea typeface="Arial" pitchFamily="34" charset="-122"/>
                <a:cs typeface="Arial" pitchFamily="34" charset="-120"/>
              </a:rPr>
              <a:t>01</a:t>
            </a:r>
            <a:endParaRPr lang="en-US" sz="1050" dirty="0"/>
          </a:p>
        </p:txBody>
      </p:sp>
      <p:sp>
        <p:nvSpPr>
          <p:cNvPr id="9" name="slide-16-tool-name-0"/>
          <p:cNvSpPr txBox="1"/>
          <p:nvPr/>
        </p:nvSpPr>
        <p:spPr>
          <a:xfrm>
            <a:off x="1447800" y="3771900"/>
            <a:ext cx="2286000" cy="342900"/>
          </a:xfrm>
          <a:prstGeom prst="rect">
            <a:avLst/>
          </a:prstGeom>
          <a:noFill/>
          <a:ln/>
        </p:spPr>
        <p:txBody>
          <a:bodyPr wrap="square" lIns="0" tIns="0" rIns="0" bIns="0" rtlCol="0" anchor="t"/>
          <a:lstStyle/>
          <a:p>
            <a:pPr algn="l" indent="0" marL="0">
              <a:lnSpc>
                <a:spcPts val="2340"/>
              </a:lnSpc>
              <a:buNone/>
            </a:pPr>
            <a:r>
              <a:rPr lang="en-US" sz="1950" dirty="0">
                <a:solidFill>
                  <a:srgbClr val="FFFFFF"/>
                </a:solidFill>
                <a:latin typeface="Arial" pitchFamily="34" charset="0"/>
                <a:ea typeface="Arial" pitchFamily="34" charset="-122"/>
                <a:cs typeface="Arial" pitchFamily="34" charset="-120"/>
              </a:rPr>
              <a:t>GSAP</a:t>
            </a:r>
            <a:endParaRPr lang="en-US" sz="1950" dirty="0"/>
          </a:p>
        </p:txBody>
      </p:sp>
      <p:sp>
        <p:nvSpPr>
          <p:cNvPr id="10" name="slide-16-card-text-0"/>
          <p:cNvSpPr txBox="1"/>
          <p:nvPr/>
        </p:nvSpPr>
        <p:spPr>
          <a:xfrm>
            <a:off x="4152900" y="3800475"/>
            <a:ext cx="7086600" cy="304800"/>
          </a:xfrm>
          <a:prstGeom prst="rect">
            <a:avLst/>
          </a:prstGeom>
          <a:noFill/>
          <a:ln/>
        </p:spPr>
        <p:txBody>
          <a:bodyPr wrap="square" lIns="0" tIns="0" rIns="0" bIns="0" rtlCol="0" anchor="t"/>
          <a:lstStyle/>
          <a:p>
            <a:pPr algn="l" indent="0" marL="0">
              <a:lnSpc>
                <a:spcPts val="2063"/>
              </a:lnSpc>
              <a:buNone/>
            </a:pPr>
            <a:r>
              <a:rPr lang="en-US" sz="1650" dirty="0">
                <a:solidFill>
                  <a:srgbClr val="A3A3A3"/>
                </a:solidFill>
                <a:latin typeface="Arial" pitchFamily="34" charset="0"/>
                <a:ea typeface="Arial" pitchFamily="34" charset="-122"/>
                <a:cs typeface="Arial" pitchFamily="34" charset="-120"/>
              </a:rPr>
              <a:t>Source-described option for scroll effects.</a:t>
            </a:r>
            <a:endParaRPr lang="en-US" sz="1650" dirty="0"/>
          </a:p>
        </p:txBody>
      </p:sp>
      <p:sp>
        <p:nvSpPr>
          <p:cNvPr id="11" name="slide-16-card-1"/>
          <p:cNvSpPr/>
          <p:nvPr/>
        </p:nvSpPr>
        <p:spPr>
          <a:xfrm>
            <a:off x="762000" y="4295775"/>
            <a:ext cx="10668000" cy="9525"/>
          </a:xfrm>
          <a:prstGeom prst="rect">
            <a:avLst/>
          </a:prstGeom>
          <a:solidFill>
            <a:srgbClr val="333333"/>
          </a:solidFill>
          <a:ln w="12700">
            <a:solidFill>
              <a:srgbClr val="333333">
                <a:alpha val="0"/>
              </a:srgbClr>
            </a:solidFill>
            <a:prstDash val="solid"/>
          </a:ln>
        </p:spPr>
      </p:sp>
      <p:sp>
        <p:nvSpPr>
          <p:cNvPr id="12" name="slide-16-card-number-1"/>
          <p:cNvSpPr txBox="1"/>
          <p:nvPr/>
        </p:nvSpPr>
        <p:spPr>
          <a:xfrm>
            <a:off x="762000" y="4533900"/>
            <a:ext cx="457200" cy="228600"/>
          </a:xfrm>
          <a:prstGeom prst="rect">
            <a:avLst/>
          </a:prstGeom>
          <a:noFill/>
          <a:ln/>
        </p:spPr>
        <p:txBody>
          <a:bodyPr wrap="square" lIns="0" tIns="0" rIns="0" bIns="0" rtlCol="0" anchor="t"/>
          <a:lstStyle/>
          <a:p>
            <a:pPr algn="l" indent="0" marL="0">
              <a:lnSpc>
                <a:spcPts val="1260"/>
              </a:lnSpc>
              <a:buNone/>
            </a:pPr>
            <a:r>
              <a:rPr lang="en-US" sz="1050" dirty="0">
                <a:solidFill>
                  <a:srgbClr val="A3A3A3"/>
                </a:solidFill>
                <a:latin typeface="Arial" pitchFamily="34" charset="0"/>
                <a:ea typeface="Arial" pitchFamily="34" charset="-122"/>
                <a:cs typeface="Arial" pitchFamily="34" charset="-120"/>
              </a:rPr>
              <a:t>02</a:t>
            </a:r>
            <a:endParaRPr lang="en-US" sz="1050" dirty="0"/>
          </a:p>
        </p:txBody>
      </p:sp>
      <p:sp>
        <p:nvSpPr>
          <p:cNvPr id="13" name="slide-16-tool-name-1"/>
          <p:cNvSpPr txBox="1"/>
          <p:nvPr/>
        </p:nvSpPr>
        <p:spPr>
          <a:xfrm>
            <a:off x="1447800" y="4467225"/>
            <a:ext cx="2286000" cy="342900"/>
          </a:xfrm>
          <a:prstGeom prst="rect">
            <a:avLst/>
          </a:prstGeom>
          <a:noFill/>
          <a:ln/>
        </p:spPr>
        <p:txBody>
          <a:bodyPr wrap="square" lIns="0" tIns="0" rIns="0" bIns="0" rtlCol="0" anchor="t"/>
          <a:lstStyle/>
          <a:p>
            <a:pPr algn="l" indent="0" marL="0">
              <a:lnSpc>
                <a:spcPts val="2340"/>
              </a:lnSpc>
              <a:buNone/>
            </a:pPr>
            <a:r>
              <a:rPr lang="en-US" sz="1950" dirty="0">
                <a:solidFill>
                  <a:srgbClr val="FFFFFF"/>
                </a:solidFill>
                <a:latin typeface="Arial" pitchFamily="34" charset="0"/>
                <a:ea typeface="Arial" pitchFamily="34" charset="-122"/>
                <a:cs typeface="Arial" pitchFamily="34" charset="-120"/>
              </a:rPr>
              <a:t>Lenis</a:t>
            </a:r>
            <a:endParaRPr lang="en-US" sz="1950" dirty="0"/>
          </a:p>
        </p:txBody>
      </p:sp>
      <p:sp>
        <p:nvSpPr>
          <p:cNvPr id="14" name="slide-16-card-text-1"/>
          <p:cNvSpPr txBox="1"/>
          <p:nvPr/>
        </p:nvSpPr>
        <p:spPr>
          <a:xfrm>
            <a:off x="4152900" y="4495800"/>
            <a:ext cx="7086600" cy="304800"/>
          </a:xfrm>
          <a:prstGeom prst="rect">
            <a:avLst/>
          </a:prstGeom>
          <a:noFill/>
          <a:ln/>
        </p:spPr>
        <p:txBody>
          <a:bodyPr wrap="square" lIns="0" tIns="0" rIns="0" bIns="0" rtlCol="0" anchor="t"/>
          <a:lstStyle/>
          <a:p>
            <a:pPr algn="l" indent="0" marL="0">
              <a:lnSpc>
                <a:spcPts val="2063"/>
              </a:lnSpc>
              <a:buNone/>
            </a:pPr>
            <a:r>
              <a:rPr lang="en-US" sz="1650" dirty="0">
                <a:solidFill>
                  <a:srgbClr val="A3A3A3"/>
                </a:solidFill>
                <a:latin typeface="Arial" pitchFamily="34" charset="0"/>
                <a:ea typeface="Arial" pitchFamily="34" charset="-122"/>
                <a:cs typeface="Arial" pitchFamily="34" charset="-120"/>
              </a:rPr>
              <a:t>Source-described option for smooth-feeling scrolling.</a:t>
            </a:r>
            <a:endParaRPr lang="en-US" sz="1650" dirty="0"/>
          </a:p>
        </p:txBody>
      </p:sp>
      <p:sp>
        <p:nvSpPr>
          <p:cNvPr id="15" name="slide-16-card-2"/>
          <p:cNvSpPr/>
          <p:nvPr/>
        </p:nvSpPr>
        <p:spPr>
          <a:xfrm>
            <a:off x="762000" y="4991100"/>
            <a:ext cx="10668000" cy="9525"/>
          </a:xfrm>
          <a:prstGeom prst="rect">
            <a:avLst/>
          </a:prstGeom>
          <a:solidFill>
            <a:srgbClr val="333333"/>
          </a:solidFill>
          <a:ln w="12700">
            <a:solidFill>
              <a:srgbClr val="333333">
                <a:alpha val="0"/>
              </a:srgbClr>
            </a:solidFill>
            <a:prstDash val="solid"/>
          </a:ln>
        </p:spPr>
      </p:sp>
      <p:sp>
        <p:nvSpPr>
          <p:cNvPr id="16" name="slide-16-card-number-2"/>
          <p:cNvSpPr txBox="1"/>
          <p:nvPr/>
        </p:nvSpPr>
        <p:spPr>
          <a:xfrm>
            <a:off x="762000" y="5229225"/>
            <a:ext cx="457200" cy="228600"/>
          </a:xfrm>
          <a:prstGeom prst="rect">
            <a:avLst/>
          </a:prstGeom>
          <a:noFill/>
          <a:ln/>
        </p:spPr>
        <p:txBody>
          <a:bodyPr wrap="square" lIns="0" tIns="0" rIns="0" bIns="0" rtlCol="0" anchor="t"/>
          <a:lstStyle/>
          <a:p>
            <a:pPr algn="l" indent="0" marL="0">
              <a:lnSpc>
                <a:spcPts val="1260"/>
              </a:lnSpc>
              <a:buNone/>
            </a:pPr>
            <a:r>
              <a:rPr lang="en-US" sz="1050" dirty="0">
                <a:solidFill>
                  <a:srgbClr val="A3A3A3"/>
                </a:solidFill>
                <a:latin typeface="Arial" pitchFamily="34" charset="0"/>
                <a:ea typeface="Arial" pitchFamily="34" charset="-122"/>
                <a:cs typeface="Arial" pitchFamily="34" charset="-120"/>
              </a:rPr>
              <a:t>03</a:t>
            </a:r>
            <a:endParaRPr lang="en-US" sz="1050" dirty="0"/>
          </a:p>
        </p:txBody>
      </p:sp>
      <p:sp>
        <p:nvSpPr>
          <p:cNvPr id="17" name="slide-16-tool-name-2"/>
          <p:cNvSpPr txBox="1"/>
          <p:nvPr/>
        </p:nvSpPr>
        <p:spPr>
          <a:xfrm>
            <a:off x="1447800" y="5162550"/>
            <a:ext cx="2286000" cy="342900"/>
          </a:xfrm>
          <a:prstGeom prst="rect">
            <a:avLst/>
          </a:prstGeom>
          <a:noFill/>
          <a:ln/>
        </p:spPr>
        <p:txBody>
          <a:bodyPr wrap="square" lIns="0" tIns="0" rIns="0" bIns="0" rtlCol="0" anchor="t"/>
          <a:lstStyle/>
          <a:p>
            <a:pPr algn="l" indent="0" marL="0">
              <a:lnSpc>
                <a:spcPts val="2340"/>
              </a:lnSpc>
              <a:buNone/>
            </a:pPr>
            <a:r>
              <a:rPr lang="en-US" sz="1950" dirty="0">
                <a:solidFill>
                  <a:srgbClr val="FFFFFF"/>
                </a:solidFill>
                <a:latin typeface="Arial" pitchFamily="34" charset="0"/>
                <a:ea typeface="Arial" pitchFamily="34" charset="-122"/>
                <a:cs typeface="Arial" pitchFamily="34" charset="-120"/>
              </a:rPr>
              <a:t>React Bits</a:t>
            </a:r>
            <a:endParaRPr lang="en-US" sz="1950" dirty="0"/>
          </a:p>
        </p:txBody>
      </p:sp>
      <p:sp>
        <p:nvSpPr>
          <p:cNvPr id="18" name="slide-16-card-text-2"/>
          <p:cNvSpPr txBox="1"/>
          <p:nvPr/>
        </p:nvSpPr>
        <p:spPr>
          <a:xfrm>
            <a:off x="4152900" y="5124450"/>
            <a:ext cx="7086600" cy="552450"/>
          </a:xfrm>
          <a:prstGeom prst="rect">
            <a:avLst/>
          </a:prstGeom>
          <a:noFill/>
          <a:ln/>
        </p:spPr>
        <p:txBody>
          <a:bodyPr wrap="square" lIns="0" tIns="0" rIns="0" bIns="0" rtlCol="0" anchor="t"/>
          <a:lstStyle/>
          <a:p>
            <a:pPr algn="l" indent="0" marL="0">
              <a:lnSpc>
                <a:spcPts val="2063"/>
              </a:lnSpc>
              <a:buNone/>
            </a:pPr>
            <a:r>
              <a:rPr lang="en-US" sz="1650" dirty="0">
                <a:solidFill>
                  <a:srgbClr val="A3A3A3"/>
                </a:solidFill>
                <a:latin typeface="Arial" pitchFamily="34" charset="0"/>
                <a:ea typeface="Arial" pitchFamily="34" charset="-122"/>
                <a:cs typeface="Arial" pitchFamily="34" charset="-120"/>
              </a:rPr>
              <a:t>Source-described resource for animated text,</a:t>
            </a:r>
            <a:endParaRPr lang="en-US" sz="1650" dirty="0"/>
          </a:p>
          <a:p>
            <a:pPr algn="l" indent="0" marL="0">
              <a:lnSpc>
                <a:spcPts val="2063"/>
              </a:lnSpc>
              <a:buNone/>
            </a:pPr>
            <a:r>
              <a:rPr lang="en-US" sz="1650" dirty="0">
                <a:solidFill>
                  <a:srgbClr val="A3A3A3"/>
                </a:solidFill>
                <a:latin typeface="Arial" pitchFamily="34" charset="0"/>
                <a:ea typeface="Arial" pitchFamily="34" charset="-122"/>
                <a:cs typeface="Arial" pitchFamily="34" charset="-120"/>
              </a:rPr>
              <a:t>backgrounds and buttons.</a:t>
            </a:r>
            <a:endParaRPr lang="en-US" sz="1650" dirty="0"/>
          </a:p>
        </p:txBody>
      </p:sp>
      <p:sp>
        <p:nvSpPr>
          <p:cNvPr id="19" name="slide-16-caution"/>
          <p:cNvSpPr txBox="1"/>
          <p:nvPr/>
        </p:nvSpPr>
        <p:spPr>
          <a:xfrm>
            <a:off x="762000" y="5876925"/>
            <a:ext cx="10668000" cy="285750"/>
          </a:xfrm>
          <a:prstGeom prst="rect">
            <a:avLst/>
          </a:prstGeom>
          <a:noFill/>
          <a:ln/>
        </p:spPr>
        <p:txBody>
          <a:bodyPr wrap="square" lIns="0" tIns="0" rIns="0" bIns="0" rtlCol="0" anchor="t"/>
          <a:lstStyle/>
          <a:p>
            <a:pPr algn="l" indent="0" marL="0">
              <a:lnSpc>
                <a:spcPts val="1875"/>
              </a:lnSpc>
              <a:buNone/>
            </a:pPr>
            <a:r>
              <a:rPr lang="en-US" sz="1500" dirty="0">
                <a:solidFill>
                  <a:srgbClr val="FFFFFF"/>
                </a:solidFill>
                <a:latin typeface="Arial" pitchFamily="34" charset="0"/>
                <a:ea typeface="Arial" pitchFamily="34" charset="-122"/>
                <a:cs typeface="Arial" pitchFamily="34" charset="-120"/>
              </a:rPr>
              <a:t>Verify compatibility and behavior. Automatic integration is not established.</a:t>
            </a:r>
            <a:endParaRPr lang="en-US" sz="1500" dirty="0"/>
          </a:p>
        </p:txBody>
      </p:sp>
      <p:sp>
        <p:nvSpPr>
          <p:cNvPr id="20" name="slide-16-footer-rule"/>
          <p:cNvSpPr/>
          <p:nvPr/>
        </p:nvSpPr>
        <p:spPr>
          <a:xfrm>
            <a:off x="762000" y="6334125"/>
            <a:ext cx="10668000" cy="9525"/>
          </a:xfrm>
          <a:prstGeom prst="rect">
            <a:avLst/>
          </a:prstGeom>
          <a:solidFill>
            <a:srgbClr val="222222"/>
          </a:solidFill>
          <a:ln w="12700">
            <a:solidFill>
              <a:srgbClr val="222222">
                <a:alpha val="0"/>
              </a:srgbClr>
            </a:solidFill>
            <a:prstDash val="solid"/>
          </a:ln>
        </p:spPr>
      </p:sp>
      <p:sp>
        <p:nvSpPr>
          <p:cNvPr id="21" name="slide-16-footer"/>
          <p:cNvSpPr txBox="1"/>
          <p:nvPr/>
        </p:nvSpPr>
        <p:spPr>
          <a:xfrm>
            <a:off x="762000" y="6467475"/>
            <a:ext cx="9239250" cy="190500"/>
          </a:xfrm>
          <a:prstGeom prst="rect">
            <a:avLst/>
          </a:prstGeom>
          <a:noFill/>
          <a:ln/>
        </p:spPr>
        <p:txBody>
          <a:bodyPr wrap="square" lIns="0" tIns="0" rIns="0" bIns="0" rtlCol="0" anchor="t"/>
          <a:lstStyle/>
          <a:p>
            <a:pPr algn="l" indent="0" marL="0">
              <a:lnSpc>
                <a:spcPts val="1080"/>
              </a:lnSpc>
              <a:buNone/>
            </a:pPr>
            <a:r>
              <a:rPr lang="en-US" sz="900" dirty="0">
                <a:solidFill>
                  <a:srgbClr val="A3A3A3"/>
                </a:solidFill>
                <a:latin typeface="Arial" pitchFamily="34" charset="0"/>
                <a:ea typeface="Arial" pitchFamily="34" charset="-122"/>
                <a:cs typeface="Arial" pitchFamily="34" charset="-120"/>
              </a:rPr>
              <a:t>Roles attributed to the supplied creator description; not independently tested.</a:t>
            </a:r>
            <a:endParaRPr lang="en-US" sz="900" dirty="0"/>
          </a:p>
        </p:txBody>
      </p:sp>
      <p:sp>
        <p:nvSpPr>
          <p:cNvPr id="22" name="slide-16-page"/>
          <p:cNvSpPr txBox="1"/>
          <p:nvPr/>
        </p:nvSpPr>
        <p:spPr>
          <a:xfrm>
            <a:off x="10477500" y="6467475"/>
            <a:ext cx="952500" cy="190500"/>
          </a:xfrm>
          <a:prstGeom prst="rect">
            <a:avLst/>
          </a:prstGeom>
          <a:noFill/>
          <a:ln/>
        </p:spPr>
        <p:txBody>
          <a:bodyPr wrap="square" lIns="0" tIns="0" rIns="0" bIns="0" rtlCol="0" anchor="t"/>
          <a:lstStyle/>
          <a:p>
            <a:pPr algn="r" indent="0" marL="0">
              <a:lnSpc>
                <a:spcPts val="1080"/>
              </a:lnSpc>
              <a:buNone/>
            </a:pPr>
            <a:r>
              <a:rPr lang="en-US" sz="900" spc="75" kern="0" dirty="0">
                <a:solidFill>
                  <a:srgbClr val="A3A3A3"/>
                </a:solidFill>
                <a:latin typeface="Arial" pitchFamily="34" charset="0"/>
                <a:ea typeface="Arial" pitchFamily="34" charset="-122"/>
                <a:cs typeface="Arial" pitchFamily="34" charset="-120"/>
              </a:rPr>
              <a:t>16 / 20</a:t>
            </a:r>
            <a:endParaRPr lang="en-US" sz="9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0A0A0A"/>
        </a:solidFill>
      </p:bgPr>
    </p:bg>
    <p:spTree>
      <p:nvGrpSpPr>
        <p:cNvPr id="1" name=""/>
        <p:cNvGrpSpPr/>
        <p:nvPr/>
      </p:nvGrpSpPr>
      <p:grpSpPr>
        <a:xfrm>
          <a:off x="0" y="0"/>
          <a:ext cx="0" cy="0"/>
          <a:chOff x="0" y="0"/>
          <a:chExt cx="0" cy="0"/>
        </a:xfrm>
      </p:grpSpPr>
      <p:sp>
        <p:nvSpPr>
          <p:cNvPr id="3" name="slide-17-eyebrow"/>
          <p:cNvSpPr txBox="1"/>
          <p:nvPr/>
        </p:nvSpPr>
        <p:spPr>
          <a:xfrm>
            <a:off x="609600" y="342900"/>
            <a:ext cx="9525000" cy="209550"/>
          </a:xfrm>
          <a:prstGeom prst="rect">
            <a:avLst/>
          </a:prstGeom>
          <a:noFill/>
          <a:ln/>
        </p:spPr>
        <p:txBody>
          <a:bodyPr wrap="square" lIns="0" tIns="0" rIns="0" bIns="0" rtlCol="0" anchor="t"/>
          <a:lstStyle/>
          <a:p>
            <a:pPr algn="l" indent="0" marL="0">
              <a:lnSpc>
                <a:spcPts val="1170"/>
              </a:lnSpc>
              <a:buNone/>
            </a:pPr>
            <a:r>
              <a:rPr lang="en-US" sz="975" spc="135" kern="0" dirty="0">
                <a:solidFill>
                  <a:srgbClr val="A3A3A3"/>
                </a:solidFill>
                <a:latin typeface="Arial" pitchFamily="34" charset="0"/>
                <a:ea typeface="Arial" pitchFamily="34" charset="-122"/>
                <a:cs typeface="Arial" pitchFamily="34" charset="-120"/>
              </a:rPr>
              <a:t>17 / 20     —     BEFORE LAUNCH</a:t>
            </a:r>
            <a:endParaRPr lang="en-US" sz="975" dirty="0"/>
          </a:p>
        </p:txBody>
      </p:sp>
      <p:sp>
        <p:nvSpPr>
          <p:cNvPr id="4" name="slide-17-title"/>
          <p:cNvSpPr txBox="1"/>
          <p:nvPr/>
        </p:nvSpPr>
        <p:spPr>
          <a:xfrm>
            <a:off x="609600" y="838200"/>
            <a:ext cx="10668000" cy="1143000"/>
          </a:xfrm>
          <a:prstGeom prst="rect">
            <a:avLst/>
          </a:prstGeom>
          <a:noFill/>
          <a:ln/>
        </p:spPr>
        <p:txBody>
          <a:bodyPr wrap="square" lIns="0" tIns="0" rIns="0" bIns="0" rtlCol="0" anchor="t"/>
          <a:lstStyle/>
          <a:p>
            <a:pPr algn="l" indent="0" marL="0">
              <a:lnSpc>
                <a:spcPts val="4032"/>
              </a:lnSpc>
              <a:buNone/>
            </a:pPr>
            <a:r>
              <a:rPr lang="en-US" sz="3600" spc="-90" kern="0" dirty="0">
                <a:solidFill>
                  <a:srgbClr val="FFFFFF"/>
                </a:solidFill>
                <a:latin typeface="Arial" pitchFamily="34" charset="0"/>
                <a:ea typeface="Arial" pitchFamily="34" charset="-122"/>
                <a:cs typeface="Arial" pitchFamily="34" charset="-120"/>
              </a:rPr>
              <a:t>Verify content and review code</a:t>
            </a:r>
            <a:endParaRPr lang="en-US" sz="3600" dirty="0"/>
          </a:p>
          <a:p>
            <a:pPr algn="l" indent="0" marL="0">
              <a:lnSpc>
                <a:spcPts val="4032"/>
              </a:lnSpc>
              <a:buNone/>
            </a:pPr>
            <a:r>
              <a:rPr lang="en-US" sz="3600" spc="-90" kern="0" dirty="0">
                <a:solidFill>
                  <a:srgbClr val="FFFFFF"/>
                </a:solidFill>
                <a:latin typeface="Arial" pitchFamily="34" charset="0"/>
                <a:ea typeface="Arial" pitchFamily="34" charset="-122"/>
                <a:cs typeface="Arial" pitchFamily="34" charset="-120"/>
              </a:rPr>
              <a:t>before launch.</a:t>
            </a:r>
            <a:endParaRPr lang="en-US" sz="3600" dirty="0"/>
          </a:p>
        </p:txBody>
      </p:sp>
      <p:sp>
        <p:nvSpPr>
          <p:cNvPr id="5" name="slide-17-lead"/>
          <p:cNvSpPr txBox="1"/>
          <p:nvPr/>
        </p:nvSpPr>
        <p:spPr>
          <a:xfrm>
            <a:off x="609600" y="2524125"/>
            <a:ext cx="3810000" cy="1714500"/>
          </a:xfrm>
          <a:prstGeom prst="rect">
            <a:avLst/>
          </a:prstGeom>
          <a:noFill/>
          <a:ln/>
        </p:spPr>
        <p:txBody>
          <a:bodyPr wrap="square" lIns="0" tIns="0" rIns="0" bIns="0" rtlCol="0" anchor="t"/>
          <a:lstStyle/>
          <a:p>
            <a:pPr algn="l" indent="0" marL="0">
              <a:lnSpc>
                <a:spcPts val="3060"/>
              </a:lnSpc>
              <a:buNone/>
            </a:pPr>
            <a:r>
              <a:rPr lang="en-US" sz="2550" spc="-45" kern="0" dirty="0">
                <a:solidFill>
                  <a:srgbClr val="FFFFFF"/>
                </a:solidFill>
                <a:latin typeface="Arial" pitchFamily="34" charset="0"/>
                <a:ea typeface="Arial" pitchFamily="34" charset="-122"/>
                <a:cs typeface="Arial" pitchFamily="34" charset="-120"/>
              </a:rPr>
              <a:t>A polished interface</a:t>
            </a:r>
            <a:endParaRPr lang="en-US" sz="2550" dirty="0"/>
          </a:p>
          <a:p>
            <a:pPr algn="l" indent="0" marL="0">
              <a:lnSpc>
                <a:spcPts val="3060"/>
              </a:lnSpc>
              <a:buNone/>
            </a:pPr>
            <a:r>
              <a:rPr lang="en-US" sz="2550" spc="-45" kern="0" dirty="0">
                <a:solidFill>
                  <a:srgbClr val="FFFFFF"/>
                </a:solidFill>
                <a:latin typeface="Arial" pitchFamily="34" charset="0"/>
                <a:ea typeface="Arial" pitchFamily="34" charset="-122"/>
                <a:cs typeface="Arial" pitchFamily="34" charset="-120"/>
              </a:rPr>
              <a:t>does not prove</a:t>
            </a:r>
            <a:endParaRPr lang="en-US" sz="2550" dirty="0"/>
          </a:p>
          <a:p>
            <a:pPr algn="l" indent="0" marL="0">
              <a:lnSpc>
                <a:spcPts val="3060"/>
              </a:lnSpc>
              <a:buNone/>
            </a:pPr>
            <a:r>
              <a:rPr lang="en-US" sz="2550" spc="-45" kern="0" dirty="0">
                <a:solidFill>
                  <a:srgbClr val="FFFFFF"/>
                </a:solidFill>
                <a:latin typeface="Arial" pitchFamily="34" charset="0"/>
                <a:ea typeface="Arial" pitchFamily="34" charset="-122"/>
                <a:cs typeface="Arial" pitchFamily="34" charset="-120"/>
              </a:rPr>
              <a:t>factual accuracy</a:t>
            </a:r>
            <a:endParaRPr lang="en-US" sz="2550" dirty="0"/>
          </a:p>
          <a:p>
            <a:pPr algn="l" indent="0" marL="0">
              <a:lnSpc>
                <a:spcPts val="3060"/>
              </a:lnSpc>
              <a:buNone/>
            </a:pPr>
            <a:r>
              <a:rPr lang="en-US" sz="2550" spc="-45" kern="0" dirty="0">
                <a:solidFill>
                  <a:srgbClr val="FFFFFF"/>
                </a:solidFill>
                <a:latin typeface="Arial" pitchFamily="34" charset="0"/>
                <a:ea typeface="Arial" pitchFamily="34" charset="-122"/>
                <a:cs typeface="Arial" pitchFamily="34" charset="-120"/>
              </a:rPr>
              <a:t>or code security.</a:t>
            </a:r>
            <a:endParaRPr lang="en-US" sz="2550" dirty="0"/>
          </a:p>
        </p:txBody>
      </p:sp>
      <p:sp>
        <p:nvSpPr>
          <p:cNvPr id="6" name="slide-17-rule"/>
          <p:cNvSpPr/>
          <p:nvPr/>
        </p:nvSpPr>
        <p:spPr>
          <a:xfrm>
            <a:off x="4800600" y="2400300"/>
            <a:ext cx="9525" cy="3543300"/>
          </a:xfrm>
          <a:prstGeom prst="rect">
            <a:avLst/>
          </a:prstGeom>
          <a:solidFill>
            <a:srgbClr val="333333"/>
          </a:solidFill>
          <a:ln w="12700">
            <a:solidFill>
              <a:srgbClr val="333333">
                <a:alpha val="0"/>
              </a:srgbClr>
            </a:solidFill>
            <a:prstDash val="solid"/>
          </a:ln>
        </p:spPr>
      </p:sp>
      <p:sp>
        <p:nvSpPr>
          <p:cNvPr id="7" name="slide-17-content-label"/>
          <p:cNvSpPr txBox="1"/>
          <p:nvPr/>
        </p:nvSpPr>
        <p:spPr>
          <a:xfrm>
            <a:off x="5257800" y="2409825"/>
            <a:ext cx="6096000" cy="257175"/>
          </a:xfrm>
          <a:prstGeom prst="rect">
            <a:avLst/>
          </a:prstGeom>
          <a:noFill/>
          <a:ln/>
        </p:spPr>
        <p:txBody>
          <a:bodyPr wrap="square" lIns="0" tIns="0" rIns="0" bIns="0" rtlCol="0" anchor="t"/>
          <a:lstStyle/>
          <a:p>
            <a:pPr algn="l" indent="0" marL="0">
              <a:lnSpc>
                <a:spcPts val="1620"/>
              </a:lnSpc>
              <a:buNone/>
            </a:pPr>
            <a:r>
              <a:rPr lang="en-US" sz="1350" b="1" spc="98" kern="0" dirty="0">
                <a:solidFill>
                  <a:srgbClr val="FFFFFF"/>
                </a:solidFill>
                <a:latin typeface="Arial" pitchFamily="34" charset="0"/>
                <a:ea typeface="Arial" pitchFamily="34" charset="-122"/>
                <a:cs typeface="Arial" pitchFamily="34" charset="-120"/>
              </a:rPr>
              <a:t>01  /  CONTENT</a:t>
            </a:r>
            <a:endParaRPr lang="en-US" sz="1350" dirty="0"/>
          </a:p>
        </p:txBody>
      </p:sp>
      <p:sp>
        <p:nvSpPr>
          <p:cNvPr id="8" name="slide-17-body"/>
          <p:cNvSpPr txBox="1"/>
          <p:nvPr/>
        </p:nvSpPr>
        <p:spPr>
          <a:xfrm>
            <a:off x="5257800" y="2762250"/>
            <a:ext cx="6096000" cy="1066800"/>
          </a:xfrm>
          <a:prstGeom prst="rect">
            <a:avLst/>
          </a:prstGeom>
          <a:noFill/>
          <a:ln/>
        </p:spPr>
        <p:txBody>
          <a:bodyPr wrap="square" lIns="0" tIns="0" rIns="0" bIns="0" rtlCol="0" anchor="t"/>
          <a:lstStyle/>
          <a:p>
            <a:pPr algn="l" indent="0" marL="0">
              <a:lnSpc>
                <a:spcPts val="2145"/>
              </a:lnSpc>
              <a:buNone/>
            </a:pPr>
            <a:r>
              <a:rPr lang="en-US" sz="1650" dirty="0">
                <a:solidFill>
                  <a:srgbClr val="D6D6D6"/>
                </a:solidFill>
                <a:latin typeface="Arial" pitchFamily="34" charset="0"/>
                <a:ea typeface="Arial" pitchFamily="34" charset="-122"/>
                <a:cs typeface="Arial" pitchFamily="34" charset="-120"/>
              </a:rPr>
              <a:t>Replace placeholders with verified facts. Check</a:t>
            </a:r>
            <a:endParaRPr lang="en-US" sz="1650" dirty="0"/>
          </a:p>
          <a:p>
            <a:pPr algn="l" indent="0" marL="0">
              <a:lnSpc>
                <a:spcPts val="2145"/>
              </a:lnSpc>
              <a:buNone/>
            </a:pPr>
            <a:r>
              <a:rPr lang="en-US" sz="1650" dirty="0">
                <a:solidFill>
                  <a:srgbClr val="D6D6D6"/>
                </a:solidFill>
                <a:latin typeface="Arial" pitchFamily="34" charset="0"/>
                <a:ea typeface="Arial" pitchFamily="34" charset="-122"/>
                <a:cs typeface="Arial" pitchFamily="34" charset="-120"/>
              </a:rPr>
              <a:t>testimonials, review counts, client names, certifications,</a:t>
            </a:r>
            <a:endParaRPr lang="en-US" sz="1650" dirty="0"/>
          </a:p>
          <a:p>
            <a:pPr algn="l" indent="0" marL="0">
              <a:lnSpc>
                <a:spcPts val="2145"/>
              </a:lnSpc>
              <a:buNone/>
            </a:pPr>
            <a:r>
              <a:rPr lang="en-US" sz="1650" dirty="0">
                <a:solidFill>
                  <a:srgbClr val="D6D6D6"/>
                </a:solidFill>
                <a:latin typeface="Arial" pitchFamily="34" charset="0"/>
                <a:ea typeface="Arial" pitchFamily="34" charset="-122"/>
                <a:cs typeface="Arial" pitchFamily="34" charset="-120"/>
              </a:rPr>
              <a:t>offers, and product claims.</a:t>
            </a:r>
            <a:endParaRPr lang="en-US" sz="1650" dirty="0"/>
          </a:p>
        </p:txBody>
      </p:sp>
      <p:sp>
        <p:nvSpPr>
          <p:cNvPr id="9" name="slide-17-code-label"/>
          <p:cNvSpPr txBox="1"/>
          <p:nvPr/>
        </p:nvSpPr>
        <p:spPr>
          <a:xfrm>
            <a:off x="5257800" y="3981450"/>
            <a:ext cx="6096000" cy="257175"/>
          </a:xfrm>
          <a:prstGeom prst="rect">
            <a:avLst/>
          </a:prstGeom>
          <a:noFill/>
          <a:ln/>
        </p:spPr>
        <p:txBody>
          <a:bodyPr wrap="square" lIns="0" tIns="0" rIns="0" bIns="0" rtlCol="0" anchor="t"/>
          <a:lstStyle/>
          <a:p>
            <a:pPr algn="l" indent="0" marL="0">
              <a:lnSpc>
                <a:spcPts val="1620"/>
              </a:lnSpc>
              <a:buNone/>
            </a:pPr>
            <a:r>
              <a:rPr lang="en-US" sz="1350" b="1" spc="98" kern="0" dirty="0">
                <a:solidFill>
                  <a:srgbClr val="FFFFFF"/>
                </a:solidFill>
                <a:latin typeface="Arial" pitchFamily="34" charset="0"/>
                <a:ea typeface="Arial" pitchFamily="34" charset="-122"/>
                <a:cs typeface="Arial" pitchFamily="34" charset="-120"/>
              </a:rPr>
              <a:t>02  /  CODE</a:t>
            </a:r>
            <a:endParaRPr lang="en-US" sz="1350" dirty="0"/>
          </a:p>
        </p:txBody>
      </p:sp>
      <p:sp>
        <p:nvSpPr>
          <p:cNvPr id="10" name="slide-17-code-body"/>
          <p:cNvSpPr txBox="1"/>
          <p:nvPr/>
        </p:nvSpPr>
        <p:spPr>
          <a:xfrm>
            <a:off x="5257800" y="4333875"/>
            <a:ext cx="6096000" cy="571500"/>
          </a:xfrm>
          <a:prstGeom prst="rect">
            <a:avLst/>
          </a:prstGeom>
          <a:noFill/>
          <a:ln/>
        </p:spPr>
        <p:txBody>
          <a:bodyPr wrap="square" lIns="0" tIns="0" rIns="0" bIns="0" rtlCol="0" anchor="t"/>
          <a:lstStyle/>
          <a:p>
            <a:pPr algn="l" indent="0" marL="0">
              <a:lnSpc>
                <a:spcPts val="2145"/>
              </a:lnSpc>
              <a:buNone/>
            </a:pPr>
            <a:r>
              <a:rPr lang="en-US" sz="1650" dirty="0">
                <a:solidFill>
                  <a:srgbClr val="D6D6D6"/>
                </a:solidFill>
                <a:latin typeface="Arial" pitchFamily="34" charset="0"/>
                <a:ea typeface="Arial" pitchFamily="34" charset="-122"/>
                <a:cs typeface="Arial" pitchFamily="34" charset="-120"/>
              </a:rPr>
              <a:t>Inspect changes and understand key dependencies</a:t>
            </a:r>
            <a:endParaRPr lang="en-US" sz="1650" dirty="0"/>
          </a:p>
          <a:p>
            <a:pPr algn="l" indent="0" marL="0">
              <a:lnSpc>
                <a:spcPts val="2145"/>
              </a:lnSpc>
              <a:buNone/>
            </a:pPr>
            <a:r>
              <a:rPr lang="en-US" sz="1650" dirty="0">
                <a:solidFill>
                  <a:srgbClr val="D6D6D6"/>
                </a:solidFill>
                <a:latin typeface="Arial" pitchFamily="34" charset="0"/>
                <a:ea typeface="Arial" pitchFamily="34" charset="-122"/>
                <a:cs typeface="Arial" pitchFamily="34" charset="-120"/>
              </a:rPr>
              <a:t>and logic before release.</a:t>
            </a:r>
            <a:endParaRPr lang="en-US" sz="1650" dirty="0"/>
          </a:p>
        </p:txBody>
      </p:sp>
      <p:sp>
        <p:nvSpPr>
          <p:cNvPr id="11" name="slide-17-data-label"/>
          <p:cNvSpPr txBox="1"/>
          <p:nvPr/>
        </p:nvSpPr>
        <p:spPr>
          <a:xfrm>
            <a:off x="5257800" y="5114925"/>
            <a:ext cx="6096000" cy="257175"/>
          </a:xfrm>
          <a:prstGeom prst="rect">
            <a:avLst/>
          </a:prstGeom>
          <a:noFill/>
          <a:ln/>
        </p:spPr>
        <p:txBody>
          <a:bodyPr wrap="square" lIns="0" tIns="0" rIns="0" bIns="0" rtlCol="0" anchor="t"/>
          <a:lstStyle/>
          <a:p>
            <a:pPr algn="l" indent="0" marL="0">
              <a:lnSpc>
                <a:spcPts val="1620"/>
              </a:lnSpc>
              <a:buNone/>
            </a:pPr>
            <a:r>
              <a:rPr lang="en-US" sz="1350" b="1" spc="98" kern="0" dirty="0">
                <a:solidFill>
                  <a:srgbClr val="FFFFFF"/>
                </a:solidFill>
                <a:latin typeface="Arial" pitchFamily="34" charset="0"/>
                <a:ea typeface="Arial" pitchFamily="34" charset="-122"/>
                <a:cs typeface="Arial" pitchFamily="34" charset="-120"/>
              </a:rPr>
              <a:t>03  /  DATA</a:t>
            </a:r>
            <a:endParaRPr lang="en-US" sz="1350" dirty="0"/>
          </a:p>
        </p:txBody>
      </p:sp>
      <p:sp>
        <p:nvSpPr>
          <p:cNvPr id="12" name="slide-17-data-body"/>
          <p:cNvSpPr txBox="1"/>
          <p:nvPr/>
        </p:nvSpPr>
        <p:spPr>
          <a:xfrm>
            <a:off x="5257800" y="5467350"/>
            <a:ext cx="6096000" cy="571500"/>
          </a:xfrm>
          <a:prstGeom prst="rect">
            <a:avLst/>
          </a:prstGeom>
          <a:noFill/>
          <a:ln/>
        </p:spPr>
        <p:txBody>
          <a:bodyPr wrap="square" lIns="0" tIns="0" rIns="0" bIns="0" rtlCol="0" anchor="t"/>
          <a:lstStyle/>
          <a:p>
            <a:pPr algn="l" indent="0" marL="0">
              <a:lnSpc>
                <a:spcPts val="2145"/>
              </a:lnSpc>
              <a:buNone/>
            </a:pPr>
            <a:r>
              <a:rPr lang="en-US" sz="1650" dirty="0">
                <a:solidFill>
                  <a:srgbClr val="D6D6D6"/>
                </a:solidFill>
                <a:latin typeface="Arial" pitchFamily="34" charset="0"/>
                <a:ea typeface="Arial" pitchFamily="34" charset="-122"/>
                <a:cs typeface="Arial" pitchFamily="34" charset="-120"/>
              </a:rPr>
              <a:t>Review form handling, permissions, credentials,</a:t>
            </a:r>
            <a:endParaRPr lang="en-US" sz="1650" dirty="0"/>
          </a:p>
          <a:p>
            <a:pPr algn="l" indent="0" marL="0">
              <a:lnSpc>
                <a:spcPts val="2145"/>
              </a:lnSpc>
              <a:buNone/>
            </a:pPr>
            <a:r>
              <a:rPr lang="en-US" sz="1650" dirty="0">
                <a:solidFill>
                  <a:srgbClr val="D6D6D6"/>
                </a:solidFill>
                <a:latin typeface="Arial" pitchFamily="34" charset="0"/>
                <a:ea typeface="Arial" pitchFamily="34" charset="-122"/>
                <a:cs typeface="Arial" pitchFamily="34" charset="-120"/>
              </a:rPr>
              <a:t>and exposed information.</a:t>
            </a:r>
            <a:endParaRPr lang="en-US" sz="1650" dirty="0"/>
          </a:p>
        </p:txBody>
      </p:sp>
      <p:sp>
        <p:nvSpPr>
          <p:cNvPr id="13" name="slide-17-review-label"/>
          <p:cNvSpPr txBox="1"/>
          <p:nvPr/>
        </p:nvSpPr>
        <p:spPr>
          <a:xfrm>
            <a:off x="609600" y="4572000"/>
            <a:ext cx="3810000" cy="209550"/>
          </a:xfrm>
          <a:prstGeom prst="rect">
            <a:avLst/>
          </a:prstGeom>
          <a:noFill/>
          <a:ln/>
        </p:spPr>
        <p:txBody>
          <a:bodyPr wrap="square" lIns="0" tIns="0" rIns="0" bIns="0" rtlCol="0" anchor="t"/>
          <a:lstStyle/>
          <a:p>
            <a:pPr algn="l" indent="0" marL="0">
              <a:lnSpc>
                <a:spcPts val="1080"/>
              </a:lnSpc>
              <a:buNone/>
            </a:pPr>
            <a:r>
              <a:rPr lang="en-US" sz="900" b="1" spc="113" kern="0" dirty="0">
                <a:solidFill>
                  <a:srgbClr val="A3A3A3"/>
                </a:solidFill>
                <a:latin typeface="Arial" pitchFamily="34" charset="0"/>
                <a:ea typeface="Arial" pitchFamily="34" charset="-122"/>
                <a:cs typeface="Arial" pitchFamily="34" charset="-120"/>
              </a:rPr>
              <a:t>WHEN THE STAKES ARE HIGH</a:t>
            </a:r>
            <a:endParaRPr lang="en-US" sz="900" dirty="0"/>
          </a:p>
        </p:txBody>
      </p:sp>
      <p:sp>
        <p:nvSpPr>
          <p:cNvPr id="14" name="slide-17-review-guidance"/>
          <p:cNvSpPr txBox="1"/>
          <p:nvPr/>
        </p:nvSpPr>
        <p:spPr>
          <a:xfrm>
            <a:off x="609600" y="4895850"/>
            <a:ext cx="3714750" cy="1066800"/>
          </a:xfrm>
          <a:prstGeom prst="rect">
            <a:avLst/>
          </a:prstGeom>
          <a:noFill/>
          <a:ln/>
        </p:spPr>
        <p:txBody>
          <a:bodyPr wrap="square" lIns="0" tIns="0" rIns="0" bIns="0" rtlCol="0" anchor="t"/>
          <a:lstStyle/>
          <a:p>
            <a:pPr algn="l" indent="0" marL="0">
              <a:lnSpc>
                <a:spcPts val="2126"/>
              </a:lnSpc>
              <a:buNone/>
            </a:pPr>
            <a:r>
              <a:rPr lang="en-US" sz="1575" dirty="0">
                <a:solidFill>
                  <a:srgbClr val="A3A3A3"/>
                </a:solidFill>
                <a:latin typeface="Arial" pitchFamily="34" charset="0"/>
                <a:ea typeface="Arial" pitchFamily="34" charset="-122"/>
                <a:cs typeface="Arial" pitchFamily="34" charset="-120"/>
              </a:rPr>
              <a:t>Seek qualified technical review</a:t>
            </a:r>
            <a:endParaRPr lang="en-US" sz="1575" dirty="0"/>
          </a:p>
          <a:p>
            <a:pPr algn="l" indent="0" marL="0">
              <a:lnSpc>
                <a:spcPts val="2126"/>
              </a:lnSpc>
              <a:buNone/>
            </a:pPr>
            <a:r>
              <a:rPr lang="en-US" sz="1575" dirty="0">
                <a:solidFill>
                  <a:srgbClr val="A3A3A3"/>
                </a:solidFill>
                <a:latin typeface="Arial" pitchFamily="34" charset="0"/>
                <a:ea typeface="Arial" pitchFamily="34" charset="-122"/>
                <a:cs typeface="Arial" pitchFamily="34" charset="-120"/>
              </a:rPr>
              <a:t>for sites handling sensitive data</a:t>
            </a:r>
            <a:endParaRPr lang="en-US" sz="1575" dirty="0"/>
          </a:p>
          <a:p>
            <a:pPr algn="l" indent="0" marL="0">
              <a:lnSpc>
                <a:spcPts val="2126"/>
              </a:lnSpc>
              <a:buNone/>
            </a:pPr>
            <a:r>
              <a:rPr lang="en-US" sz="1575" dirty="0">
                <a:solidFill>
                  <a:srgbClr val="A3A3A3"/>
                </a:solidFill>
                <a:latin typeface="Arial" pitchFamily="34" charset="0"/>
                <a:ea typeface="Arial" pitchFamily="34" charset="-122"/>
                <a:cs typeface="Arial" pitchFamily="34" charset="-120"/>
              </a:rPr>
              <a:t>or critical transactions.</a:t>
            </a:r>
            <a:endParaRPr lang="en-US" sz="1575" dirty="0"/>
          </a:p>
        </p:txBody>
      </p:sp>
      <p:sp>
        <p:nvSpPr>
          <p:cNvPr id="15" name="slide-17-footer-rule"/>
          <p:cNvSpPr/>
          <p:nvPr/>
        </p:nvSpPr>
        <p:spPr>
          <a:xfrm>
            <a:off x="609600" y="6305550"/>
            <a:ext cx="10972800" cy="9525"/>
          </a:xfrm>
          <a:prstGeom prst="rect">
            <a:avLst/>
          </a:prstGeom>
          <a:solidFill>
            <a:srgbClr val="222222"/>
          </a:solidFill>
          <a:ln w="12700">
            <a:solidFill>
              <a:srgbClr val="222222">
                <a:alpha val="0"/>
              </a:srgbClr>
            </a:solidFill>
            <a:prstDash val="solid"/>
          </a:ln>
        </p:spPr>
      </p:sp>
      <p:sp>
        <p:nvSpPr>
          <p:cNvPr id="16" name="slide-17-footer"/>
          <p:cNvSpPr txBox="1"/>
          <p:nvPr/>
        </p:nvSpPr>
        <p:spPr>
          <a:xfrm>
            <a:off x="609600" y="6477000"/>
            <a:ext cx="10972800" cy="190500"/>
          </a:xfrm>
          <a:prstGeom prst="rect">
            <a:avLst/>
          </a:prstGeom>
          <a:noFill/>
          <a:ln/>
        </p:spPr>
        <p:txBody>
          <a:bodyPr wrap="square" lIns="0" tIns="0" rIns="0" bIns="0" rtlCol="0" anchor="t"/>
          <a:lstStyle/>
          <a:p>
            <a:pPr algn="l" indent="0" marL="0">
              <a:lnSpc>
                <a:spcPts val="990"/>
              </a:lnSpc>
              <a:buNone/>
            </a:pPr>
            <a:r>
              <a:rPr lang="en-US" sz="825" spc="113" kern="0" dirty="0">
                <a:solidFill>
                  <a:srgbClr val="A3A3A3"/>
                </a:solidFill>
                <a:latin typeface="Arial" pitchFamily="34" charset="0"/>
                <a:ea typeface="Arial" pitchFamily="34" charset="-122"/>
                <a:cs typeface="Arial" pitchFamily="34" charset="-120"/>
              </a:rPr>
              <a:t>CLAUDE CODE     /     WEBSITE WORKFLOW</a:t>
            </a:r>
            <a:endParaRPr lang="en-US" sz="825"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0A0A0A"/>
        </a:solidFill>
      </p:bgPr>
    </p:bg>
    <p:spTree>
      <p:nvGrpSpPr>
        <p:cNvPr id="1" name=""/>
        <p:cNvGrpSpPr/>
        <p:nvPr/>
      </p:nvGrpSpPr>
      <p:grpSpPr>
        <a:xfrm>
          <a:off x="0" y="0"/>
          <a:ext cx="0" cy="0"/>
          <a:chOff x="0" y="0"/>
          <a:chExt cx="0" cy="0"/>
        </a:xfrm>
      </p:grpSpPr>
      <p:sp>
        <p:nvSpPr>
          <p:cNvPr id="3" name="slide-18-eyebrow"/>
          <p:cNvSpPr txBox="1"/>
          <p:nvPr/>
        </p:nvSpPr>
        <p:spPr>
          <a:xfrm>
            <a:off x="609600" y="323850"/>
            <a:ext cx="9525000" cy="228600"/>
          </a:xfrm>
          <a:prstGeom prst="rect">
            <a:avLst/>
          </a:prstGeom>
          <a:noFill/>
          <a:ln/>
        </p:spPr>
        <p:txBody>
          <a:bodyPr wrap="square" lIns="0" tIns="0" rIns="0" bIns="0" rtlCol="0" anchor="t"/>
          <a:lstStyle/>
          <a:p>
            <a:pPr algn="l" indent="0" marL="0">
              <a:lnSpc>
                <a:spcPts val="1170"/>
              </a:lnSpc>
              <a:buNone/>
            </a:pPr>
            <a:r>
              <a:rPr lang="en-US" sz="975" spc="105" kern="0" dirty="0">
                <a:solidFill>
                  <a:srgbClr val="A3A3A3"/>
                </a:solidFill>
                <a:latin typeface="Courier New" pitchFamily="34" charset="0"/>
                <a:ea typeface="Courier New" pitchFamily="34" charset="-122"/>
                <a:cs typeface="Courier New" pitchFamily="34" charset="-120"/>
              </a:rPr>
              <a:t>CLAUDE CODE  /  VALIDATING THE WEBSITE</a:t>
            </a:r>
            <a:endParaRPr lang="en-US" sz="975" dirty="0"/>
          </a:p>
        </p:txBody>
      </p:sp>
      <p:sp>
        <p:nvSpPr>
          <p:cNvPr id="4" name="slide-18-title"/>
          <p:cNvSpPr txBox="1"/>
          <p:nvPr/>
        </p:nvSpPr>
        <p:spPr>
          <a:xfrm>
            <a:off x="609600" y="866775"/>
            <a:ext cx="10572750" cy="1190625"/>
          </a:xfrm>
          <a:prstGeom prst="rect">
            <a:avLst/>
          </a:prstGeom>
          <a:noFill/>
          <a:ln/>
        </p:spPr>
        <p:txBody>
          <a:bodyPr wrap="square" lIns="0" tIns="0" rIns="0" bIns="0" rtlCol="0" anchor="t"/>
          <a:lstStyle/>
          <a:p>
            <a:pPr algn="l" indent="0" marL="0">
              <a:lnSpc>
                <a:spcPts val="4212"/>
              </a:lnSpc>
              <a:buNone/>
            </a:pPr>
            <a:r>
              <a:rPr lang="en-US" sz="3900" spc="-90" kern="0" dirty="0">
                <a:solidFill>
                  <a:srgbClr val="FFFFFF"/>
                </a:solidFill>
                <a:latin typeface="Arial" pitchFamily="34" charset="0"/>
                <a:ea typeface="Arial" pitchFamily="34" charset="-122"/>
                <a:cs typeface="Arial" pitchFamily="34" charset="-120"/>
              </a:rPr>
              <a:t>Visual preference is not</a:t>
            </a:r>
            <a:endParaRPr lang="en-US" sz="3900" dirty="0"/>
          </a:p>
          <a:p>
            <a:pPr algn="l" indent="0" marL="0">
              <a:lnSpc>
                <a:spcPts val="4212"/>
              </a:lnSpc>
              <a:buNone/>
            </a:pPr>
            <a:r>
              <a:rPr lang="en-US" sz="3900" spc="-90" kern="0" dirty="0">
                <a:solidFill>
                  <a:srgbClr val="FFFFFF"/>
                </a:solidFill>
                <a:latin typeface="Arial" pitchFamily="34" charset="0"/>
                <a:ea typeface="Arial" pitchFamily="34" charset="-122"/>
                <a:cs typeface="Arial" pitchFamily="34" charset="-120"/>
              </a:rPr>
              <a:t>proof of performance.</a:t>
            </a:r>
            <a:endParaRPr lang="en-US" sz="3900" dirty="0"/>
          </a:p>
        </p:txBody>
      </p:sp>
      <p:sp>
        <p:nvSpPr>
          <p:cNvPr id="5" name="slide-18-card-0"/>
          <p:cNvSpPr/>
          <p:nvPr/>
        </p:nvSpPr>
        <p:spPr>
          <a:xfrm>
            <a:off x="609600" y="2514600"/>
            <a:ext cx="3657600" cy="3028950"/>
          </a:xfrm>
          <a:prstGeom prst="rect">
            <a:avLst/>
          </a:prstGeom>
          <a:solidFill>
            <a:srgbClr val="0A0A0A"/>
          </a:solidFill>
          <a:ln w="12700">
            <a:solidFill>
              <a:srgbClr val="0A0A0A"/>
            </a:solidFill>
            <a:prstDash val="solid"/>
          </a:ln>
        </p:spPr>
      </p:sp>
      <p:sp>
        <p:nvSpPr>
          <p:cNvPr id="6" name="slide-18-card-1"/>
          <p:cNvSpPr/>
          <p:nvPr/>
        </p:nvSpPr>
        <p:spPr>
          <a:xfrm>
            <a:off x="4876800" y="2419350"/>
            <a:ext cx="6705600" cy="3276600"/>
          </a:xfrm>
          <a:prstGeom prst="roundRect">
            <a:avLst>
              <a:gd name="adj" fmla="val 581"/>
            </a:avLst>
          </a:prstGeom>
          <a:solidFill>
            <a:srgbClr val="171717"/>
          </a:solidFill>
          <a:ln w="9525">
            <a:solidFill>
              <a:srgbClr val="3A3A3A"/>
            </a:solidFill>
            <a:prstDash val="solid"/>
          </a:ln>
        </p:spPr>
      </p:sp>
      <p:sp>
        <p:nvSpPr>
          <p:cNvPr id="7" name="slide-18-card-number-0"/>
          <p:cNvSpPr txBox="1"/>
          <p:nvPr/>
        </p:nvSpPr>
        <p:spPr>
          <a:xfrm>
            <a:off x="609600" y="2647950"/>
            <a:ext cx="3657600" cy="228600"/>
          </a:xfrm>
          <a:prstGeom prst="rect">
            <a:avLst/>
          </a:prstGeom>
          <a:noFill/>
          <a:ln/>
        </p:spPr>
        <p:txBody>
          <a:bodyPr wrap="square" lIns="0" tIns="0" rIns="0" bIns="0" rtlCol="0" anchor="t"/>
          <a:lstStyle/>
          <a:p>
            <a:pPr algn="l" indent="0" marL="0">
              <a:lnSpc>
                <a:spcPts val="1260"/>
              </a:lnSpc>
              <a:buNone/>
            </a:pPr>
            <a:r>
              <a:rPr lang="en-US" sz="1050" spc="90" kern="0" dirty="0">
                <a:solidFill>
                  <a:srgbClr val="A3A3A3"/>
                </a:solidFill>
                <a:latin typeface="Courier New" pitchFamily="34" charset="0"/>
                <a:ea typeface="Courier New" pitchFamily="34" charset="-122"/>
                <a:cs typeface="Courier New" pitchFamily="34" charset="-120"/>
              </a:rPr>
              <a:t>01 / OBSERVATION</a:t>
            </a:r>
            <a:endParaRPr lang="en-US" sz="1050" dirty="0"/>
          </a:p>
        </p:txBody>
      </p:sp>
      <p:sp>
        <p:nvSpPr>
          <p:cNvPr id="8" name="slide-18-observation-heading"/>
          <p:cNvSpPr txBox="1"/>
          <p:nvPr/>
        </p:nvSpPr>
        <p:spPr>
          <a:xfrm>
            <a:off x="609600" y="3000375"/>
            <a:ext cx="3657600" cy="419100"/>
          </a:xfrm>
          <a:prstGeom prst="rect">
            <a:avLst/>
          </a:prstGeom>
          <a:noFill/>
          <a:ln/>
        </p:spPr>
        <p:txBody>
          <a:bodyPr wrap="square" lIns="0" tIns="0" rIns="0" bIns="0" rtlCol="0" anchor="t"/>
          <a:lstStyle/>
          <a:p>
            <a:pPr algn="l" indent="0" marL="0">
              <a:lnSpc>
                <a:spcPts val="2760"/>
              </a:lnSpc>
              <a:buNone/>
            </a:pPr>
            <a:r>
              <a:rPr lang="en-US" sz="2400" dirty="0">
                <a:solidFill>
                  <a:srgbClr val="FFFFFF"/>
                </a:solidFill>
                <a:latin typeface="Arial" pitchFamily="34" charset="0"/>
                <a:ea typeface="Arial" pitchFamily="34" charset="-122"/>
                <a:cs typeface="Arial" pitchFamily="34" charset="-120"/>
              </a:rPr>
              <a:t>Find friction.</a:t>
            </a:r>
            <a:endParaRPr lang="en-US" sz="2400" dirty="0"/>
          </a:p>
        </p:txBody>
      </p:sp>
      <p:sp>
        <p:nvSpPr>
          <p:cNvPr id="9" name="slide-18-card-text-0"/>
          <p:cNvSpPr txBox="1"/>
          <p:nvPr/>
        </p:nvSpPr>
        <p:spPr>
          <a:xfrm>
            <a:off x="609600" y="3609975"/>
            <a:ext cx="3524250" cy="1009650"/>
          </a:xfrm>
          <a:prstGeom prst="rect">
            <a:avLst/>
          </a:prstGeom>
          <a:noFill/>
          <a:ln/>
        </p:spPr>
        <p:txBody>
          <a:bodyPr wrap="square" lIns="0" tIns="0" rIns="0" bIns="0" rtlCol="0" anchor="t"/>
          <a:lstStyle/>
          <a:p>
            <a:pPr algn="l" indent="0" marL="0">
              <a:lnSpc>
                <a:spcPts val="2430"/>
              </a:lnSpc>
              <a:buNone/>
            </a:pPr>
            <a:r>
              <a:rPr lang="en-US" sz="1800" dirty="0">
                <a:solidFill>
                  <a:srgbClr val="FFFFFF"/>
                </a:solidFill>
                <a:latin typeface="Arial" pitchFamily="34" charset="0"/>
                <a:ea typeface="Arial" pitchFamily="34" charset="-122"/>
                <a:cs typeface="Arial" pitchFamily="34" charset="-120"/>
              </a:rPr>
              <a:t>Can someone find your work</a:t>
            </a:r>
            <a:endParaRPr lang="en-US" sz="1800" dirty="0"/>
          </a:p>
          <a:p>
            <a:pPr algn="l" indent="0" marL="0">
              <a:lnSpc>
                <a:spcPts val="2430"/>
              </a:lnSpc>
              <a:buNone/>
            </a:pPr>
            <a:r>
              <a:rPr lang="en-US" sz="1800" dirty="0">
                <a:solidFill>
                  <a:srgbClr val="FFFFFF"/>
                </a:solidFill>
                <a:latin typeface="Arial" pitchFamily="34" charset="0"/>
                <a:ea typeface="Arial" pitchFamily="34" charset="-122"/>
                <a:cs typeface="Arial" pitchFamily="34" charset="-120"/>
              </a:rPr>
              <a:t>and complete an inquiry?</a:t>
            </a:r>
            <a:endParaRPr lang="en-US" sz="1800" dirty="0"/>
          </a:p>
        </p:txBody>
      </p:sp>
      <p:sp>
        <p:nvSpPr>
          <p:cNvPr id="10" name="slide-18-observation-caveat"/>
          <p:cNvSpPr txBox="1"/>
          <p:nvPr/>
        </p:nvSpPr>
        <p:spPr>
          <a:xfrm>
            <a:off x="609600" y="4867275"/>
            <a:ext cx="3476625" cy="628650"/>
          </a:xfrm>
          <a:prstGeom prst="rect">
            <a:avLst/>
          </a:prstGeom>
          <a:noFill/>
          <a:ln/>
        </p:spPr>
        <p:txBody>
          <a:bodyPr wrap="square" lIns="0" tIns="0" rIns="0" bIns="0" rtlCol="0" anchor="t"/>
          <a:lstStyle/>
          <a:p>
            <a:pPr algn="l" indent="0" marL="0">
              <a:lnSpc>
                <a:spcPts val="1924"/>
              </a:lnSpc>
              <a:buNone/>
            </a:pPr>
            <a:r>
              <a:rPr lang="en-US" sz="1425" dirty="0">
                <a:solidFill>
                  <a:srgbClr val="A3A3A3"/>
                </a:solidFill>
                <a:latin typeface="Arial" pitchFamily="34" charset="0"/>
                <a:ea typeface="Arial" pitchFamily="34" charset="-122"/>
                <a:cs typeface="Arial" pitchFamily="34" charset="-120"/>
              </a:rPr>
              <a:t>A usability check reveals obstacles,</a:t>
            </a:r>
            <a:endParaRPr lang="en-US" sz="1425" dirty="0"/>
          </a:p>
          <a:p>
            <a:pPr algn="l" indent="0" marL="0">
              <a:lnSpc>
                <a:spcPts val="1924"/>
              </a:lnSpc>
              <a:buNone/>
            </a:pPr>
            <a:r>
              <a:rPr lang="en-US" sz="1425" dirty="0">
                <a:solidFill>
                  <a:srgbClr val="A3A3A3"/>
                </a:solidFill>
                <a:latin typeface="Arial" pitchFamily="34" charset="0"/>
                <a:ea typeface="Arial" pitchFamily="34" charset="-122"/>
                <a:cs typeface="Arial" pitchFamily="34" charset="-120"/>
              </a:rPr>
              <a:t>not a winning version.</a:t>
            </a:r>
            <a:endParaRPr lang="en-US" sz="1425" dirty="0"/>
          </a:p>
        </p:txBody>
      </p:sp>
      <p:sp>
        <p:nvSpPr>
          <p:cNvPr id="11" name="slide-18-card-number-1"/>
          <p:cNvSpPr txBox="1"/>
          <p:nvPr/>
        </p:nvSpPr>
        <p:spPr>
          <a:xfrm>
            <a:off x="5181600" y="2647950"/>
            <a:ext cx="6096000" cy="228600"/>
          </a:xfrm>
          <a:prstGeom prst="rect">
            <a:avLst/>
          </a:prstGeom>
          <a:noFill/>
          <a:ln/>
        </p:spPr>
        <p:txBody>
          <a:bodyPr wrap="square" lIns="0" tIns="0" rIns="0" bIns="0" rtlCol="0" anchor="t"/>
          <a:lstStyle/>
          <a:p>
            <a:pPr algn="l" indent="0" marL="0">
              <a:lnSpc>
                <a:spcPts val="1260"/>
              </a:lnSpc>
              <a:buNone/>
            </a:pPr>
            <a:r>
              <a:rPr lang="en-US" sz="1050" spc="90" kern="0" dirty="0">
                <a:solidFill>
                  <a:srgbClr val="A3A3A3"/>
                </a:solidFill>
                <a:latin typeface="Courier New" pitchFamily="34" charset="0"/>
                <a:ea typeface="Courier New" pitchFamily="34" charset="-122"/>
                <a:cs typeface="Courier New" pitchFamily="34" charset="-120"/>
              </a:rPr>
              <a:t>02 / CONTROLLED EXPERIMENT</a:t>
            </a:r>
            <a:endParaRPr lang="en-US" sz="1050" dirty="0"/>
          </a:p>
        </p:txBody>
      </p:sp>
      <p:sp>
        <p:nvSpPr>
          <p:cNvPr id="12" name="slide-18-experiment-heading"/>
          <p:cNvSpPr txBox="1"/>
          <p:nvPr/>
        </p:nvSpPr>
        <p:spPr>
          <a:xfrm>
            <a:off x="5181600" y="3000375"/>
            <a:ext cx="6096000" cy="419100"/>
          </a:xfrm>
          <a:prstGeom prst="rect">
            <a:avLst/>
          </a:prstGeom>
          <a:noFill/>
          <a:ln/>
        </p:spPr>
        <p:txBody>
          <a:bodyPr wrap="square" lIns="0" tIns="0" rIns="0" bIns="0" rtlCol="0" anchor="t"/>
          <a:lstStyle/>
          <a:p>
            <a:pPr algn="l" indent="0" marL="0">
              <a:lnSpc>
                <a:spcPts val="2760"/>
              </a:lnSpc>
              <a:buNone/>
            </a:pPr>
            <a:r>
              <a:rPr lang="en-US" sz="2400" dirty="0">
                <a:solidFill>
                  <a:srgbClr val="FFFFFF"/>
                </a:solidFill>
                <a:latin typeface="Arial" pitchFamily="34" charset="0"/>
                <a:ea typeface="Arial" pitchFamily="34" charset="-122"/>
                <a:cs typeface="Arial" pitchFamily="34" charset="-120"/>
              </a:rPr>
              <a:t>Measure outcomes.</a:t>
            </a:r>
            <a:endParaRPr lang="en-US" sz="2400" dirty="0"/>
          </a:p>
        </p:txBody>
      </p:sp>
      <p:sp>
        <p:nvSpPr>
          <p:cNvPr id="13" name="slide-18-card-text-1"/>
          <p:cNvSpPr txBox="1"/>
          <p:nvPr/>
        </p:nvSpPr>
        <p:spPr>
          <a:xfrm>
            <a:off x="5181600" y="3609975"/>
            <a:ext cx="6096000" cy="304800"/>
          </a:xfrm>
          <a:prstGeom prst="rect">
            <a:avLst/>
          </a:prstGeom>
          <a:noFill/>
          <a:ln/>
        </p:spPr>
        <p:txBody>
          <a:bodyPr wrap="square" lIns="0" tIns="0" rIns="0" bIns="0" rtlCol="0" anchor="t"/>
          <a:lstStyle/>
          <a:p>
            <a:pPr algn="l" indent="0" marL="0">
              <a:lnSpc>
                <a:spcPts val="2070"/>
              </a:lnSpc>
              <a:buNone/>
            </a:pPr>
            <a:r>
              <a:rPr lang="en-US" sz="1725" dirty="0">
                <a:solidFill>
                  <a:srgbClr val="FFFFFF"/>
                </a:solidFill>
                <a:latin typeface="Arial" pitchFamily="34" charset="0"/>
                <a:ea typeface="Arial" pitchFamily="34" charset="-122"/>
                <a:cs typeface="Arial" pitchFamily="34" charset="-120"/>
              </a:rPr>
              <a:t>Test one headline or layout change at a time.</a:t>
            </a:r>
            <a:endParaRPr lang="en-US" sz="1725" dirty="0"/>
          </a:p>
        </p:txBody>
      </p:sp>
      <p:sp>
        <p:nvSpPr>
          <p:cNvPr id="14" name="slide-18-stability-guidance"/>
          <p:cNvSpPr txBox="1"/>
          <p:nvPr/>
        </p:nvSpPr>
        <p:spPr>
          <a:xfrm>
            <a:off x="5181600" y="4057650"/>
            <a:ext cx="6096000" cy="542925"/>
          </a:xfrm>
          <a:prstGeom prst="rect">
            <a:avLst/>
          </a:prstGeom>
          <a:noFill/>
          <a:ln/>
        </p:spPr>
        <p:txBody>
          <a:bodyPr wrap="square" lIns="0" tIns="0" rIns="0" bIns="0" rtlCol="0" anchor="t"/>
          <a:lstStyle/>
          <a:p>
            <a:pPr algn="l" indent="0" marL="0">
              <a:lnSpc>
                <a:spcPts val="2048"/>
              </a:lnSpc>
              <a:buNone/>
            </a:pPr>
            <a:r>
              <a:rPr lang="en-US" sz="1575" dirty="0">
                <a:solidFill>
                  <a:srgbClr val="D6D6D6"/>
                </a:solidFill>
                <a:latin typeface="Arial" pitchFamily="34" charset="0"/>
                <a:ea typeface="Arial" pitchFamily="34" charset="-122"/>
                <a:cs typeface="Arial" pitchFamily="34" charset="-120"/>
              </a:rPr>
              <a:t>Keep everything else stable.</a:t>
            </a:r>
            <a:endParaRPr lang="en-US" sz="1575" dirty="0"/>
          </a:p>
          <a:p>
            <a:pPr algn="l" indent="0" marL="0">
              <a:lnSpc>
                <a:spcPts val="2048"/>
              </a:lnSpc>
              <a:buNone/>
            </a:pPr>
            <a:r>
              <a:rPr lang="en-US" sz="1575" dirty="0">
                <a:solidFill>
                  <a:srgbClr val="D6D6D6"/>
                </a:solidFill>
                <a:latin typeface="Arial" pitchFamily="34" charset="0"/>
                <a:ea typeface="Arial" pitchFamily="34" charset="-122"/>
                <a:cs typeface="Arial" pitchFamily="34" charset="-120"/>
              </a:rPr>
              <a:t>Define the outcome before testing.</a:t>
            </a:r>
            <a:endParaRPr lang="en-US" sz="1575" dirty="0"/>
          </a:p>
        </p:txBody>
      </p:sp>
      <p:sp>
        <p:nvSpPr>
          <p:cNvPr id="15" name="slide-18-experiment-rule"/>
          <p:cNvSpPr/>
          <p:nvPr/>
        </p:nvSpPr>
        <p:spPr>
          <a:xfrm>
            <a:off x="5181600" y="4743450"/>
            <a:ext cx="6096000" cy="9525"/>
          </a:xfrm>
          <a:prstGeom prst="rect">
            <a:avLst/>
          </a:prstGeom>
          <a:solidFill>
            <a:srgbClr val="3A3A3A"/>
          </a:solidFill>
          <a:ln w="12700">
            <a:solidFill>
              <a:srgbClr val="3A3A3A">
                <a:alpha val="0"/>
              </a:srgbClr>
            </a:solidFill>
            <a:prstDash val="solid"/>
          </a:ln>
        </p:spPr>
      </p:sp>
      <p:sp>
        <p:nvSpPr>
          <p:cNvPr id="16" name="slide-18-traffic-caution"/>
          <p:cNvSpPr txBox="1"/>
          <p:nvPr/>
        </p:nvSpPr>
        <p:spPr>
          <a:xfrm>
            <a:off x="5181600" y="4933950"/>
            <a:ext cx="6096000" cy="581025"/>
          </a:xfrm>
          <a:prstGeom prst="rect">
            <a:avLst/>
          </a:prstGeom>
          <a:noFill/>
          <a:ln/>
        </p:spPr>
        <p:txBody>
          <a:bodyPr wrap="square" lIns="0" tIns="0" rIns="0" bIns="0" rtlCol="0" anchor="t"/>
          <a:lstStyle/>
          <a:p>
            <a:pPr algn="l" indent="0" marL="0">
              <a:lnSpc>
                <a:spcPts val="1950"/>
              </a:lnSpc>
              <a:buNone/>
            </a:pPr>
            <a:r>
              <a:rPr lang="en-US" sz="1500" dirty="0">
                <a:solidFill>
                  <a:srgbClr val="D6D6D6"/>
                </a:solidFill>
                <a:latin typeface="Arial" pitchFamily="34" charset="0"/>
                <a:ea typeface="Arial" pitchFamily="34" charset="-122"/>
                <a:cs typeface="Arial" pitchFamily="34" charset="-120"/>
              </a:rPr>
              <a:t>A/B tests need enough relevant traffic. Do not declare</a:t>
            </a:r>
            <a:endParaRPr lang="en-US" sz="1500" dirty="0"/>
          </a:p>
          <a:p>
            <a:pPr algn="l" indent="0" marL="0">
              <a:lnSpc>
                <a:spcPts val="1950"/>
              </a:lnSpc>
              <a:buNone/>
            </a:pPr>
            <a:r>
              <a:rPr lang="en-US" sz="1500" dirty="0">
                <a:solidFill>
                  <a:srgbClr val="D6D6D6"/>
                </a:solidFill>
                <a:latin typeface="Arial" pitchFamily="34" charset="0"/>
                <a:ea typeface="Arial" pitchFamily="34" charset="-122"/>
                <a:cs typeface="Arial" pitchFamily="34" charset="-120"/>
              </a:rPr>
              <a:t>a winner or cancel a variant after one bad day.</a:t>
            </a:r>
            <a:endParaRPr lang="en-US" sz="1500" dirty="0"/>
          </a:p>
        </p:txBody>
      </p:sp>
      <p:sp>
        <p:nvSpPr>
          <p:cNvPr id="17" name="slide-18-lead"/>
          <p:cNvSpPr txBox="1"/>
          <p:nvPr/>
        </p:nvSpPr>
        <p:spPr>
          <a:xfrm>
            <a:off x="609600" y="5943600"/>
            <a:ext cx="10972800" cy="285750"/>
          </a:xfrm>
          <a:prstGeom prst="rect">
            <a:avLst/>
          </a:prstGeom>
          <a:noFill/>
          <a:ln/>
        </p:spPr>
        <p:txBody>
          <a:bodyPr wrap="square" lIns="0" tIns="0" rIns="0" bIns="0" rtlCol="0" anchor="t"/>
          <a:lstStyle/>
          <a:p>
            <a:pPr algn="l" indent="0" marL="0">
              <a:lnSpc>
                <a:spcPts val="1890"/>
              </a:lnSpc>
              <a:buNone/>
            </a:pPr>
            <a:r>
              <a:rPr lang="en-US" sz="1575" dirty="0">
                <a:solidFill>
                  <a:srgbClr val="FFFFFF"/>
                </a:solidFill>
                <a:latin typeface="Arial" pitchFamily="34" charset="0"/>
                <a:ea typeface="Arial" pitchFamily="34" charset="-122"/>
                <a:cs typeface="Arial" pitchFamily="34" charset="-120"/>
              </a:rPr>
              <a:t>Use usability checks to find friction; use controlled experiments to measure outcomes.</a:t>
            </a:r>
            <a:endParaRPr lang="en-US" sz="1575" dirty="0"/>
          </a:p>
        </p:txBody>
      </p:sp>
      <p:sp>
        <p:nvSpPr>
          <p:cNvPr id="18" name="slide-18-footer-rule"/>
          <p:cNvSpPr/>
          <p:nvPr/>
        </p:nvSpPr>
        <p:spPr>
          <a:xfrm>
            <a:off x="609600" y="6400800"/>
            <a:ext cx="10972800" cy="9525"/>
          </a:xfrm>
          <a:prstGeom prst="rect">
            <a:avLst/>
          </a:prstGeom>
          <a:solidFill>
            <a:srgbClr val="333333"/>
          </a:solidFill>
          <a:ln w="12700">
            <a:solidFill>
              <a:srgbClr val="333333">
                <a:alpha val="0"/>
              </a:srgbClr>
            </a:solidFill>
            <a:prstDash val="solid"/>
          </a:ln>
        </p:spPr>
      </p:sp>
      <p:sp>
        <p:nvSpPr>
          <p:cNvPr id="19" name="slide-18-footer"/>
          <p:cNvSpPr txBox="1"/>
          <p:nvPr/>
        </p:nvSpPr>
        <p:spPr>
          <a:xfrm>
            <a:off x="609600" y="6515100"/>
            <a:ext cx="6667500" cy="190500"/>
          </a:xfrm>
          <a:prstGeom prst="rect">
            <a:avLst/>
          </a:prstGeom>
          <a:noFill/>
          <a:ln/>
        </p:spPr>
        <p:txBody>
          <a:bodyPr wrap="square" lIns="0" tIns="0" rIns="0" bIns="0" rtlCol="0" anchor="t"/>
          <a:lstStyle/>
          <a:p>
            <a:pPr algn="l" indent="0" marL="0">
              <a:lnSpc>
                <a:spcPts val="1080"/>
              </a:lnSpc>
              <a:buNone/>
            </a:pPr>
            <a:r>
              <a:rPr lang="en-US" sz="900" spc="75" kern="0" dirty="0">
                <a:solidFill>
                  <a:srgbClr val="A3A3A3"/>
                </a:solidFill>
                <a:latin typeface="Courier New" pitchFamily="34" charset="0"/>
                <a:ea typeface="Courier New" pitchFamily="34" charset="-122"/>
                <a:cs typeface="Courier New" pitchFamily="34" charset="-120"/>
              </a:rPr>
              <a:t>BUILD → INSPECT → TEST</a:t>
            </a:r>
            <a:endParaRPr lang="en-US" sz="900" dirty="0"/>
          </a:p>
        </p:txBody>
      </p:sp>
      <p:sp>
        <p:nvSpPr>
          <p:cNvPr id="20" name="slide-18-pagination"/>
          <p:cNvSpPr txBox="1"/>
          <p:nvPr/>
        </p:nvSpPr>
        <p:spPr>
          <a:xfrm>
            <a:off x="10534650" y="6515100"/>
            <a:ext cx="1047750" cy="190500"/>
          </a:xfrm>
          <a:prstGeom prst="rect">
            <a:avLst/>
          </a:prstGeom>
          <a:noFill/>
          <a:ln/>
        </p:spPr>
        <p:txBody>
          <a:bodyPr wrap="square" lIns="0" tIns="0" rIns="0" bIns="0" rtlCol="0" anchor="t"/>
          <a:lstStyle/>
          <a:p>
            <a:pPr algn="r" indent="0" marL="0">
              <a:lnSpc>
                <a:spcPts val="1080"/>
              </a:lnSpc>
              <a:buNone/>
            </a:pPr>
            <a:r>
              <a:rPr lang="en-US" sz="900" spc="75" kern="0" dirty="0">
                <a:solidFill>
                  <a:srgbClr val="A3A3A3"/>
                </a:solidFill>
                <a:latin typeface="Courier New" pitchFamily="34" charset="0"/>
                <a:ea typeface="Courier New" pitchFamily="34" charset="-122"/>
                <a:cs typeface="Courier New" pitchFamily="34" charset="-120"/>
              </a:rPr>
              <a:t>18 / 20</a:t>
            </a:r>
            <a:endParaRPr lang="en-US" sz="9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0A0A0A"/>
        </a:solidFill>
      </p:bgPr>
    </p:bg>
    <p:spTree>
      <p:nvGrpSpPr>
        <p:cNvPr id="1" name=""/>
        <p:cNvGrpSpPr/>
        <p:nvPr/>
      </p:nvGrpSpPr>
      <p:grpSpPr>
        <a:xfrm>
          <a:off x="0" y="0"/>
          <a:ext cx="0" cy="0"/>
          <a:chOff x="0" y="0"/>
          <a:chExt cx="0" cy="0"/>
        </a:xfrm>
      </p:grpSpPr>
      <p:sp>
        <p:nvSpPr>
          <p:cNvPr id="3" name="slide-19-eyebrow"/>
          <p:cNvSpPr txBox="1"/>
          <p:nvPr/>
        </p:nvSpPr>
        <p:spPr>
          <a:xfrm>
            <a:off x="762000" y="361950"/>
            <a:ext cx="8572500" cy="228600"/>
          </a:xfrm>
          <a:prstGeom prst="rect">
            <a:avLst/>
          </a:prstGeom>
          <a:noFill/>
          <a:ln/>
        </p:spPr>
        <p:txBody>
          <a:bodyPr wrap="square" lIns="0" tIns="0" rIns="0" bIns="0" rtlCol="0" anchor="t"/>
          <a:lstStyle/>
          <a:p>
            <a:pPr algn="l" indent="0" marL="0">
              <a:lnSpc>
                <a:spcPts val="1260"/>
              </a:lnSpc>
              <a:buNone/>
            </a:pPr>
            <a:r>
              <a:rPr lang="en-US" sz="1050" spc="120" kern="0" dirty="0">
                <a:solidFill>
                  <a:srgbClr val="A3A3A3"/>
                </a:solidFill>
                <a:latin typeface="Arial" pitchFamily="34" charset="0"/>
                <a:ea typeface="Arial" pitchFamily="34" charset="-122"/>
                <a:cs typeface="Arial" pitchFamily="34" charset="-120"/>
              </a:rPr>
              <a:t>CLAUDE CODE     /     FROM VIBE TO RELEASE</a:t>
            </a:r>
            <a:endParaRPr lang="en-US" sz="1050" dirty="0"/>
          </a:p>
        </p:txBody>
      </p:sp>
      <p:sp>
        <p:nvSpPr>
          <p:cNvPr id="4" name="slide-19-title"/>
          <p:cNvSpPr txBox="1"/>
          <p:nvPr/>
        </p:nvSpPr>
        <p:spPr>
          <a:xfrm>
            <a:off x="762000" y="895350"/>
            <a:ext cx="10287000" cy="1200150"/>
          </a:xfrm>
          <a:prstGeom prst="rect">
            <a:avLst/>
          </a:prstGeom>
          <a:noFill/>
          <a:ln/>
        </p:spPr>
        <p:txBody>
          <a:bodyPr wrap="square" lIns="0" tIns="0" rIns="0" bIns="0" rtlCol="0" anchor="t"/>
          <a:lstStyle/>
          <a:p>
            <a:pPr algn="l" indent="0" marL="0">
              <a:lnSpc>
                <a:spcPts val="4293"/>
              </a:lnSpc>
              <a:buNone/>
            </a:pPr>
            <a:r>
              <a:rPr lang="en-US" sz="4050" spc="-105" kern="0" dirty="0">
                <a:solidFill>
                  <a:srgbClr val="FFFFFF"/>
                </a:solidFill>
                <a:latin typeface="Arial" pitchFamily="34" charset="0"/>
                <a:ea typeface="Arial" pitchFamily="34" charset="-122"/>
                <a:cs typeface="Arial" pitchFamily="34" charset="-120"/>
              </a:rPr>
              <a:t>Check the whole journey</a:t>
            </a:r>
            <a:endParaRPr lang="en-US" sz="4050" dirty="0"/>
          </a:p>
          <a:p>
            <a:pPr algn="l" indent="0" marL="0">
              <a:lnSpc>
                <a:spcPts val="4293"/>
              </a:lnSpc>
              <a:buNone/>
            </a:pPr>
            <a:r>
              <a:rPr lang="en-US" sz="4050" spc="-105" kern="0" dirty="0">
                <a:solidFill>
                  <a:srgbClr val="FFFFFF"/>
                </a:solidFill>
                <a:latin typeface="Arial" pitchFamily="34" charset="0"/>
                <a:ea typeface="Arial" pitchFamily="34" charset="-122"/>
                <a:cs typeface="Arial" pitchFamily="34" charset="-120"/>
              </a:rPr>
              <a:t>before release.</a:t>
            </a:r>
            <a:endParaRPr lang="en-US" sz="4050" dirty="0"/>
          </a:p>
        </p:txBody>
      </p:sp>
      <p:sp>
        <p:nvSpPr>
          <p:cNvPr id="5" name="slide-19-lead"/>
          <p:cNvSpPr txBox="1"/>
          <p:nvPr/>
        </p:nvSpPr>
        <p:spPr>
          <a:xfrm>
            <a:off x="762000" y="2247900"/>
            <a:ext cx="10287000" cy="342900"/>
          </a:xfrm>
          <a:prstGeom prst="rect">
            <a:avLst/>
          </a:prstGeom>
          <a:noFill/>
          <a:ln/>
        </p:spPr>
        <p:txBody>
          <a:bodyPr wrap="square" lIns="0" tIns="0" rIns="0" bIns="0" rtlCol="0" anchor="t"/>
          <a:lstStyle/>
          <a:p>
            <a:pPr algn="l" indent="0" marL="0">
              <a:lnSpc>
                <a:spcPts val="2160"/>
              </a:lnSpc>
              <a:buNone/>
            </a:pPr>
            <a:r>
              <a:rPr lang="en-US" sz="1800" dirty="0">
                <a:solidFill>
                  <a:srgbClr val="A3A3A3"/>
                </a:solidFill>
                <a:latin typeface="Arial" pitchFamily="34" charset="0"/>
                <a:ea typeface="Arial" pitchFamily="34" charset="-122"/>
                <a:cs typeface="Arial" pitchFamily="34" charset="-120"/>
              </a:rPr>
              <a:t>A polished page is not proof of a release-ready website.</a:t>
            </a:r>
            <a:endParaRPr lang="en-US" sz="1800" dirty="0"/>
          </a:p>
        </p:txBody>
      </p:sp>
      <p:sp>
        <p:nvSpPr>
          <p:cNvPr id="6" name="slide-19-card-0"/>
          <p:cNvSpPr/>
          <p:nvPr/>
        </p:nvSpPr>
        <p:spPr>
          <a:xfrm>
            <a:off x="762000" y="3171825"/>
            <a:ext cx="5334000" cy="9525"/>
          </a:xfrm>
          <a:prstGeom prst="rect">
            <a:avLst/>
          </a:prstGeom>
          <a:solidFill>
            <a:srgbClr val="686868"/>
          </a:solidFill>
          <a:ln w="12700">
            <a:solidFill>
              <a:srgbClr val="686868">
                <a:alpha val="0"/>
              </a:srgbClr>
            </a:solidFill>
            <a:prstDash val="solid"/>
          </a:ln>
        </p:spPr>
      </p:sp>
      <p:sp>
        <p:nvSpPr>
          <p:cNvPr id="7" name="slide-19-card-1"/>
          <p:cNvSpPr/>
          <p:nvPr/>
        </p:nvSpPr>
        <p:spPr>
          <a:xfrm>
            <a:off x="8972550" y="3171825"/>
            <a:ext cx="2457450" cy="9525"/>
          </a:xfrm>
          <a:prstGeom prst="rect">
            <a:avLst/>
          </a:prstGeom>
          <a:solidFill>
            <a:srgbClr val="686868"/>
          </a:solidFill>
          <a:ln w="12700">
            <a:solidFill>
              <a:srgbClr val="686868">
                <a:alpha val="0"/>
              </a:srgbClr>
            </a:solidFill>
            <a:prstDash val="solid"/>
          </a:ln>
        </p:spPr>
      </p:sp>
      <p:sp>
        <p:nvSpPr>
          <p:cNvPr id="8" name="slide-19-card-2"/>
          <p:cNvSpPr/>
          <p:nvPr/>
        </p:nvSpPr>
        <p:spPr>
          <a:xfrm>
            <a:off x="6096000" y="2876550"/>
            <a:ext cx="2876550" cy="2095500"/>
          </a:xfrm>
          <a:prstGeom prst="roundRect">
            <a:avLst>
              <a:gd name="adj" fmla="val 909"/>
            </a:avLst>
          </a:prstGeom>
          <a:solidFill>
            <a:srgbClr val="F5F5F5"/>
          </a:solidFill>
          <a:ln w="12700">
            <a:solidFill>
              <a:srgbClr val="F5F5F5">
                <a:alpha val="0"/>
              </a:srgbClr>
            </a:solidFill>
            <a:prstDash val="solid"/>
          </a:ln>
        </p:spPr>
      </p:sp>
      <p:sp>
        <p:nvSpPr>
          <p:cNvPr id="9" name="slide-19-marker-0"/>
          <p:cNvSpPr/>
          <p:nvPr/>
        </p:nvSpPr>
        <p:spPr>
          <a:xfrm>
            <a:off x="762000" y="3133725"/>
            <a:ext cx="85725" cy="85725"/>
          </a:xfrm>
          <a:prstGeom prst="rect">
            <a:avLst/>
          </a:prstGeom>
          <a:solidFill>
            <a:srgbClr val="FFFFFF"/>
          </a:solidFill>
          <a:ln w="12700">
            <a:solidFill>
              <a:srgbClr val="FFFFFF">
                <a:alpha val="0"/>
              </a:srgbClr>
            </a:solidFill>
            <a:prstDash val="solid"/>
          </a:ln>
        </p:spPr>
      </p:sp>
      <p:sp>
        <p:nvSpPr>
          <p:cNvPr id="10" name="slide-19-marker-1"/>
          <p:cNvSpPr/>
          <p:nvPr/>
        </p:nvSpPr>
        <p:spPr>
          <a:xfrm>
            <a:off x="3429000" y="3133725"/>
            <a:ext cx="85725" cy="85725"/>
          </a:xfrm>
          <a:prstGeom prst="rect">
            <a:avLst/>
          </a:prstGeom>
          <a:solidFill>
            <a:srgbClr val="FFFFFF"/>
          </a:solidFill>
          <a:ln w="12700">
            <a:solidFill>
              <a:srgbClr val="FFFFFF">
                <a:alpha val="0"/>
              </a:srgbClr>
            </a:solidFill>
            <a:prstDash val="solid"/>
          </a:ln>
        </p:spPr>
      </p:sp>
      <p:sp>
        <p:nvSpPr>
          <p:cNvPr id="11" name="slide-19-marker-3"/>
          <p:cNvSpPr/>
          <p:nvPr/>
        </p:nvSpPr>
        <p:spPr>
          <a:xfrm>
            <a:off x="9429750" y="3133725"/>
            <a:ext cx="85725" cy="85725"/>
          </a:xfrm>
          <a:prstGeom prst="rect">
            <a:avLst/>
          </a:prstGeom>
          <a:solidFill>
            <a:srgbClr val="FFFFFF"/>
          </a:solidFill>
          <a:ln w="12700">
            <a:solidFill>
              <a:srgbClr val="FFFFFF">
                <a:alpha val="0"/>
              </a:srgbClr>
            </a:solidFill>
            <a:prstDash val="solid"/>
          </a:ln>
        </p:spPr>
      </p:sp>
      <p:sp>
        <p:nvSpPr>
          <p:cNvPr id="12" name="slide-19-card-number-0"/>
          <p:cNvSpPr txBox="1"/>
          <p:nvPr/>
        </p:nvSpPr>
        <p:spPr>
          <a:xfrm>
            <a:off x="762000" y="3429000"/>
            <a:ext cx="2286000" cy="238125"/>
          </a:xfrm>
          <a:prstGeom prst="rect">
            <a:avLst/>
          </a:prstGeom>
          <a:noFill/>
          <a:ln/>
        </p:spPr>
        <p:txBody>
          <a:bodyPr wrap="square" lIns="0" tIns="0" rIns="0" bIns="0" rtlCol="0" anchor="t"/>
          <a:lstStyle/>
          <a:p>
            <a:pPr algn="l" indent="0" marL="0">
              <a:lnSpc>
                <a:spcPts val="1350"/>
              </a:lnSpc>
              <a:buNone/>
            </a:pPr>
            <a:r>
              <a:rPr lang="en-US" sz="1125" b="1" spc="75" kern="0" dirty="0">
                <a:solidFill>
                  <a:srgbClr val="FFFFFF"/>
                </a:solidFill>
                <a:latin typeface="Arial" pitchFamily="34" charset="0"/>
                <a:ea typeface="Arial" pitchFamily="34" charset="-122"/>
                <a:cs typeface="Arial" pitchFamily="34" charset="-120"/>
              </a:rPr>
              <a:t>01 / PREFLIGHT</a:t>
            </a:r>
            <a:endParaRPr lang="en-US" sz="1125" dirty="0"/>
          </a:p>
        </p:txBody>
      </p:sp>
      <p:sp>
        <p:nvSpPr>
          <p:cNvPr id="13" name="slide-19-card-text-0"/>
          <p:cNvSpPr txBox="1"/>
          <p:nvPr/>
        </p:nvSpPr>
        <p:spPr>
          <a:xfrm>
            <a:off x="762000" y="3819525"/>
            <a:ext cx="2286000" cy="1162050"/>
          </a:xfrm>
          <a:prstGeom prst="rect">
            <a:avLst/>
          </a:prstGeom>
          <a:noFill/>
          <a:ln/>
        </p:spPr>
        <p:txBody>
          <a:bodyPr wrap="square" lIns="0" tIns="0" rIns="0" bIns="0" rtlCol="0" anchor="t"/>
          <a:lstStyle/>
          <a:p>
            <a:pPr algn="l" indent="0" marL="0">
              <a:lnSpc>
                <a:spcPts val="2048"/>
              </a:lnSpc>
              <a:buNone/>
            </a:pPr>
            <a:r>
              <a:rPr lang="en-US" sz="1575" dirty="0">
                <a:solidFill>
                  <a:srgbClr val="D4D4D4"/>
                </a:solidFill>
                <a:latin typeface="Arial" pitchFamily="34" charset="0"/>
                <a:ea typeface="Arial" pitchFamily="34" charset="-122"/>
                <a:cs typeface="Arial" pitchFamily="34" charset="-120"/>
              </a:rPr>
              <a:t>Check links, keyboard</a:t>
            </a:r>
            <a:endParaRPr lang="en-US" sz="1575" dirty="0"/>
          </a:p>
          <a:p>
            <a:pPr algn="l" indent="0" marL="0">
              <a:lnSpc>
                <a:spcPts val="2048"/>
              </a:lnSpc>
              <a:buNone/>
            </a:pPr>
            <a:r>
              <a:rPr lang="en-US" sz="1575" dirty="0">
                <a:solidFill>
                  <a:srgbClr val="D4D4D4"/>
                </a:solidFill>
                <a:latin typeface="Arial" pitchFamily="34" charset="0"/>
                <a:ea typeface="Arial" pitchFamily="34" charset="-122"/>
                <a:cs typeface="Arial" pitchFamily="34" charset="-120"/>
              </a:rPr>
              <a:t>navigation, narrow</a:t>
            </a:r>
            <a:endParaRPr lang="en-US" sz="1575" dirty="0"/>
          </a:p>
          <a:p>
            <a:pPr algn="l" indent="0" marL="0">
              <a:lnSpc>
                <a:spcPts val="2048"/>
              </a:lnSpc>
              <a:buNone/>
            </a:pPr>
            <a:r>
              <a:rPr lang="en-US" sz="1575" dirty="0">
                <a:solidFill>
                  <a:srgbClr val="D4D4D4"/>
                </a:solidFill>
                <a:latin typeface="Arial" pitchFamily="34" charset="0"/>
                <a:ea typeface="Arial" pitchFamily="34" charset="-122"/>
                <a:cs typeface="Arial" pitchFamily="34" charset="-120"/>
              </a:rPr>
              <a:t>screens, forms, and</a:t>
            </a:r>
            <a:endParaRPr lang="en-US" sz="1575" dirty="0"/>
          </a:p>
          <a:p>
            <a:pPr algn="l" indent="0" marL="0">
              <a:lnSpc>
                <a:spcPts val="2048"/>
              </a:lnSpc>
              <a:buNone/>
            </a:pPr>
            <a:r>
              <a:rPr lang="en-US" sz="1575" dirty="0">
                <a:solidFill>
                  <a:srgbClr val="D4D4D4"/>
                </a:solidFill>
                <a:latin typeface="Arial" pitchFamily="34" charset="0"/>
                <a:ea typeface="Arial" pitchFamily="34" charset="-122"/>
                <a:cs typeface="Arial" pitchFamily="34" charset="-120"/>
              </a:rPr>
              <a:t>error states.</a:t>
            </a:r>
            <a:endParaRPr lang="en-US" sz="1575" dirty="0"/>
          </a:p>
        </p:txBody>
      </p:sp>
      <p:sp>
        <p:nvSpPr>
          <p:cNvPr id="14" name="slide-19-card-number-1"/>
          <p:cNvSpPr txBox="1"/>
          <p:nvPr/>
        </p:nvSpPr>
        <p:spPr>
          <a:xfrm>
            <a:off x="3429000" y="3429000"/>
            <a:ext cx="2238375" cy="238125"/>
          </a:xfrm>
          <a:prstGeom prst="rect">
            <a:avLst/>
          </a:prstGeom>
          <a:noFill/>
          <a:ln/>
        </p:spPr>
        <p:txBody>
          <a:bodyPr wrap="square" lIns="0" tIns="0" rIns="0" bIns="0" rtlCol="0" anchor="t"/>
          <a:lstStyle/>
          <a:p>
            <a:pPr algn="l" indent="0" marL="0">
              <a:lnSpc>
                <a:spcPts val="1350"/>
              </a:lnSpc>
              <a:buNone/>
            </a:pPr>
            <a:r>
              <a:rPr lang="en-US" sz="1125" b="1" spc="75" kern="0" dirty="0">
                <a:solidFill>
                  <a:srgbClr val="FFFFFF"/>
                </a:solidFill>
                <a:latin typeface="Arial" pitchFamily="34" charset="0"/>
                <a:ea typeface="Arial" pitchFamily="34" charset="-122"/>
                <a:cs typeface="Arial" pitchFamily="34" charset="-120"/>
              </a:rPr>
              <a:t>02 / PREVIEW</a:t>
            </a:r>
            <a:endParaRPr lang="en-US" sz="1125" dirty="0"/>
          </a:p>
        </p:txBody>
      </p:sp>
      <p:sp>
        <p:nvSpPr>
          <p:cNvPr id="15" name="slide-19-card-text-1"/>
          <p:cNvSpPr txBox="1"/>
          <p:nvPr/>
        </p:nvSpPr>
        <p:spPr>
          <a:xfrm>
            <a:off x="3429000" y="3819525"/>
            <a:ext cx="2238375" cy="1162050"/>
          </a:xfrm>
          <a:prstGeom prst="rect">
            <a:avLst/>
          </a:prstGeom>
          <a:noFill/>
          <a:ln/>
        </p:spPr>
        <p:txBody>
          <a:bodyPr wrap="square" lIns="0" tIns="0" rIns="0" bIns="0" rtlCol="0" anchor="t"/>
          <a:lstStyle/>
          <a:p>
            <a:pPr algn="l" indent="0" marL="0">
              <a:lnSpc>
                <a:spcPts val="2048"/>
              </a:lnSpc>
              <a:buNone/>
            </a:pPr>
            <a:r>
              <a:rPr lang="en-US" sz="1575" dirty="0">
                <a:solidFill>
                  <a:srgbClr val="D4D4D4"/>
                </a:solidFill>
                <a:latin typeface="Arial" pitchFamily="34" charset="0"/>
                <a:ea typeface="Arial" pitchFamily="34" charset="-122"/>
                <a:cs typeface="Arial" pitchFamily="34" charset="-120"/>
              </a:rPr>
              <a:t>Verify the build</a:t>
            </a:r>
            <a:endParaRPr lang="en-US" sz="1575" dirty="0"/>
          </a:p>
          <a:p>
            <a:pPr algn="l" indent="0" marL="0">
              <a:lnSpc>
                <a:spcPts val="2048"/>
              </a:lnSpc>
              <a:buNone/>
            </a:pPr>
            <a:r>
              <a:rPr lang="en-US" sz="1575" dirty="0">
                <a:solidFill>
                  <a:srgbClr val="D4D4D4"/>
                </a:solidFill>
                <a:latin typeface="Arial" pitchFamily="34" charset="0"/>
                <a:ea typeface="Arial" pitchFamily="34" charset="-122"/>
                <a:cs typeface="Arial" pitchFamily="34" charset="-120"/>
              </a:rPr>
              <a:t>process, hosting</a:t>
            </a:r>
            <a:endParaRPr lang="en-US" sz="1575" dirty="0"/>
          </a:p>
          <a:p>
            <a:pPr algn="l" indent="0" marL="0">
              <a:lnSpc>
                <a:spcPts val="2048"/>
              </a:lnSpc>
              <a:buNone/>
            </a:pPr>
            <a:r>
              <a:rPr lang="en-US" sz="1575" dirty="0">
                <a:solidFill>
                  <a:srgbClr val="D4D4D4"/>
                </a:solidFill>
                <a:latin typeface="Arial" pitchFamily="34" charset="0"/>
                <a:ea typeface="Arial" pitchFamily="34" charset="-122"/>
                <a:cs typeface="Arial" pitchFamily="34" charset="-120"/>
              </a:rPr>
              <a:t>settings, and required</a:t>
            </a:r>
            <a:endParaRPr lang="en-US" sz="1575" dirty="0"/>
          </a:p>
          <a:p>
            <a:pPr algn="l" indent="0" marL="0">
              <a:lnSpc>
                <a:spcPts val="2048"/>
              </a:lnSpc>
              <a:buNone/>
            </a:pPr>
            <a:r>
              <a:rPr lang="en-US" sz="1575" dirty="0">
                <a:solidFill>
                  <a:srgbClr val="D4D4D4"/>
                </a:solidFill>
                <a:latin typeface="Arial" pitchFamily="34" charset="0"/>
                <a:ea typeface="Arial" pitchFamily="34" charset="-122"/>
                <a:cs typeface="Arial" pitchFamily="34" charset="-120"/>
              </a:rPr>
              <a:t>environment values.</a:t>
            </a:r>
            <a:endParaRPr lang="en-US" sz="1575" dirty="0"/>
          </a:p>
        </p:txBody>
      </p:sp>
      <p:sp>
        <p:nvSpPr>
          <p:cNvPr id="16" name="slide-19-card-number-2"/>
          <p:cNvSpPr txBox="1"/>
          <p:nvPr/>
        </p:nvSpPr>
        <p:spPr>
          <a:xfrm>
            <a:off x="6324600" y="3076575"/>
            <a:ext cx="2419350" cy="247650"/>
          </a:xfrm>
          <a:prstGeom prst="rect">
            <a:avLst/>
          </a:prstGeom>
          <a:noFill/>
          <a:ln/>
        </p:spPr>
        <p:txBody>
          <a:bodyPr wrap="square" lIns="0" tIns="0" rIns="0" bIns="0" rtlCol="0" anchor="t"/>
          <a:lstStyle/>
          <a:p>
            <a:pPr algn="l" indent="0" marL="0">
              <a:lnSpc>
                <a:spcPts val="1350"/>
              </a:lnSpc>
              <a:buNone/>
            </a:pPr>
            <a:r>
              <a:rPr lang="en-US" sz="1125" b="1" spc="75" kern="0" dirty="0">
                <a:solidFill>
                  <a:srgbClr val="0A0A0A"/>
                </a:solidFill>
                <a:latin typeface="Arial" pitchFamily="34" charset="0"/>
                <a:ea typeface="Arial" pitchFamily="34" charset="-122"/>
                <a:cs typeface="Arial" pitchFamily="34" charset="-120"/>
              </a:rPr>
              <a:t>03 / RELEASE GATE</a:t>
            </a:r>
            <a:endParaRPr lang="en-US" sz="1125" dirty="0"/>
          </a:p>
        </p:txBody>
      </p:sp>
      <p:sp>
        <p:nvSpPr>
          <p:cNvPr id="17" name="slide-19-card-text-2"/>
          <p:cNvSpPr txBox="1"/>
          <p:nvPr/>
        </p:nvSpPr>
        <p:spPr>
          <a:xfrm>
            <a:off x="6324600" y="3590925"/>
            <a:ext cx="2419350" cy="1085850"/>
          </a:xfrm>
          <a:prstGeom prst="rect">
            <a:avLst/>
          </a:prstGeom>
          <a:noFill/>
          <a:ln/>
        </p:spPr>
        <p:txBody>
          <a:bodyPr wrap="square" lIns="0" tIns="0" rIns="0" bIns="0" rtlCol="0" anchor="t"/>
          <a:lstStyle/>
          <a:p>
            <a:pPr algn="l" indent="0" marL="0">
              <a:lnSpc>
                <a:spcPts val="2478"/>
              </a:lnSpc>
              <a:buNone/>
            </a:pPr>
            <a:r>
              <a:rPr lang="en-US" sz="2100" b="1" spc="-37" kern="0" dirty="0">
                <a:solidFill>
                  <a:srgbClr val="0A0A0A"/>
                </a:solidFill>
                <a:latin typeface="Arial" pitchFamily="34" charset="0"/>
                <a:ea typeface="Arial" pitchFamily="34" charset="-122"/>
                <a:cs typeface="Arial" pitchFamily="34" charset="-120"/>
              </a:rPr>
              <a:t>Resolve incomplete</a:t>
            </a:r>
            <a:endParaRPr lang="en-US" sz="2100" dirty="0"/>
          </a:p>
          <a:p>
            <a:pPr algn="l" indent="0" marL="0">
              <a:lnSpc>
                <a:spcPts val="2478"/>
              </a:lnSpc>
              <a:buNone/>
            </a:pPr>
            <a:r>
              <a:rPr lang="en-US" sz="2100" b="1" spc="-37" kern="0" dirty="0">
                <a:solidFill>
                  <a:srgbClr val="0A0A0A"/>
                </a:solidFill>
                <a:latin typeface="Arial" pitchFamily="34" charset="0"/>
                <a:ea typeface="Arial" pitchFamily="34" charset="-122"/>
                <a:cs typeface="Arial" pitchFamily="34" charset="-120"/>
              </a:rPr>
              <a:t>user journeys</a:t>
            </a:r>
            <a:endParaRPr lang="en-US" sz="2100" dirty="0"/>
          </a:p>
          <a:p>
            <a:pPr algn="l" indent="0" marL="0">
              <a:lnSpc>
                <a:spcPts val="2478"/>
              </a:lnSpc>
              <a:buNone/>
            </a:pPr>
            <a:r>
              <a:rPr lang="en-US" sz="2100" b="1" spc="-37" kern="0" dirty="0">
                <a:solidFill>
                  <a:srgbClr val="0A0A0A"/>
                </a:solidFill>
                <a:latin typeface="Arial" pitchFamily="34" charset="0"/>
                <a:ea typeface="Arial" pitchFamily="34" charset="-122"/>
                <a:cs typeface="Arial" pitchFamily="34" charset="-120"/>
              </a:rPr>
              <a:t>before going live.</a:t>
            </a:r>
            <a:endParaRPr lang="en-US" sz="2100" dirty="0"/>
          </a:p>
        </p:txBody>
      </p:sp>
      <p:sp>
        <p:nvSpPr>
          <p:cNvPr id="18" name="slide-19-stage-4-label"/>
          <p:cNvSpPr txBox="1"/>
          <p:nvPr/>
        </p:nvSpPr>
        <p:spPr>
          <a:xfrm>
            <a:off x="9429750" y="3429000"/>
            <a:ext cx="2000250" cy="238125"/>
          </a:xfrm>
          <a:prstGeom prst="rect">
            <a:avLst/>
          </a:prstGeom>
          <a:noFill/>
          <a:ln/>
        </p:spPr>
        <p:txBody>
          <a:bodyPr wrap="square" lIns="0" tIns="0" rIns="0" bIns="0" rtlCol="0" anchor="t"/>
          <a:lstStyle/>
          <a:p>
            <a:pPr algn="l" indent="0" marL="0">
              <a:lnSpc>
                <a:spcPts val="1350"/>
              </a:lnSpc>
              <a:buNone/>
            </a:pPr>
            <a:r>
              <a:rPr lang="en-US" sz="1125" b="1" spc="75" kern="0" dirty="0">
                <a:solidFill>
                  <a:srgbClr val="FFFFFF"/>
                </a:solidFill>
                <a:latin typeface="Arial" pitchFamily="34" charset="0"/>
                <a:ea typeface="Arial" pitchFamily="34" charset="-122"/>
                <a:cs typeface="Arial" pitchFamily="34" charset="-120"/>
              </a:rPr>
              <a:t>04 / VERIFY LIVE</a:t>
            </a:r>
            <a:endParaRPr lang="en-US" sz="1125" dirty="0"/>
          </a:p>
        </p:txBody>
      </p:sp>
      <p:sp>
        <p:nvSpPr>
          <p:cNvPr id="19" name="slide-19-stage-4-body"/>
          <p:cNvSpPr txBox="1"/>
          <p:nvPr/>
        </p:nvSpPr>
        <p:spPr>
          <a:xfrm>
            <a:off x="9429750" y="3819525"/>
            <a:ext cx="2000250" cy="1162050"/>
          </a:xfrm>
          <a:prstGeom prst="rect">
            <a:avLst/>
          </a:prstGeom>
          <a:noFill/>
          <a:ln/>
        </p:spPr>
        <p:txBody>
          <a:bodyPr wrap="square" lIns="0" tIns="0" rIns="0" bIns="0" rtlCol="0" anchor="t"/>
          <a:lstStyle/>
          <a:p>
            <a:pPr algn="l" indent="0" marL="0">
              <a:lnSpc>
                <a:spcPts val="2048"/>
              </a:lnSpc>
              <a:buNone/>
            </a:pPr>
            <a:r>
              <a:rPr lang="en-US" sz="1575" dirty="0">
                <a:solidFill>
                  <a:srgbClr val="D4D4D4"/>
                </a:solidFill>
                <a:latin typeface="Arial" pitchFamily="34" charset="0"/>
                <a:ea typeface="Arial" pitchFamily="34" charset="-122"/>
                <a:cs typeface="Arial" pitchFamily="34" charset="-120"/>
              </a:rPr>
              <a:t>Recheck the</a:t>
            </a:r>
            <a:endParaRPr lang="en-US" sz="1575" dirty="0"/>
          </a:p>
          <a:p>
            <a:pPr algn="l" indent="0" marL="0">
              <a:lnSpc>
                <a:spcPts val="2048"/>
              </a:lnSpc>
              <a:buNone/>
            </a:pPr>
            <a:r>
              <a:rPr lang="en-US" sz="1575" dirty="0">
                <a:solidFill>
                  <a:srgbClr val="D4D4D4"/>
                </a:solidFill>
                <a:latin typeface="Arial" pitchFamily="34" charset="0"/>
                <a:ea typeface="Arial" pitchFamily="34" charset="-122"/>
                <a:cs typeface="Arial" pitchFamily="34" charset="-120"/>
              </a:rPr>
              <a:t>published site.</a:t>
            </a:r>
            <a:endParaRPr lang="en-US" sz="1575" dirty="0"/>
          </a:p>
          <a:p>
            <a:pPr algn="l" indent="0" marL="0">
              <a:lnSpc>
                <a:spcPts val="2048"/>
              </a:lnSpc>
              <a:buNone/>
            </a:pPr>
            <a:r>
              <a:rPr lang="en-US" sz="1575" dirty="0">
                <a:solidFill>
                  <a:srgbClr val="D4D4D4"/>
                </a:solidFill>
                <a:latin typeface="Arial" pitchFamily="34" charset="0"/>
                <a:ea typeface="Arial" pitchFamily="34" charset="-122"/>
                <a:cs typeface="Arial" pitchFamily="34" charset="-120"/>
              </a:rPr>
              <a:t>Retain a</a:t>
            </a:r>
            <a:endParaRPr lang="en-US" sz="1575" dirty="0"/>
          </a:p>
          <a:p>
            <a:pPr algn="l" indent="0" marL="0">
              <a:lnSpc>
                <a:spcPts val="2048"/>
              </a:lnSpc>
              <a:buNone/>
            </a:pPr>
            <a:r>
              <a:rPr lang="en-US" sz="1575" dirty="0">
                <a:solidFill>
                  <a:srgbClr val="D4D4D4"/>
                </a:solidFill>
                <a:latin typeface="Arial" pitchFamily="34" charset="0"/>
                <a:ea typeface="Arial" pitchFamily="34" charset="-122"/>
                <a:cs typeface="Arial" pitchFamily="34" charset="-120"/>
              </a:rPr>
              <a:t>rollback path.</a:t>
            </a:r>
            <a:endParaRPr lang="en-US" sz="1575" dirty="0"/>
          </a:p>
        </p:txBody>
      </p:sp>
      <p:sp>
        <p:nvSpPr>
          <p:cNvPr id="20" name="slide-19-evidence-rule"/>
          <p:cNvSpPr/>
          <p:nvPr/>
        </p:nvSpPr>
        <p:spPr>
          <a:xfrm>
            <a:off x="762000" y="5314950"/>
            <a:ext cx="10668000" cy="9525"/>
          </a:xfrm>
          <a:prstGeom prst="rect">
            <a:avLst/>
          </a:prstGeom>
          <a:solidFill>
            <a:srgbClr val="333333"/>
          </a:solidFill>
          <a:ln w="12700">
            <a:solidFill>
              <a:srgbClr val="333333">
                <a:alpha val="0"/>
              </a:srgbClr>
            </a:solidFill>
            <a:prstDash val="solid"/>
          </a:ln>
        </p:spPr>
      </p:sp>
      <p:sp>
        <p:nvSpPr>
          <p:cNvPr id="21" name="slide-19-cart-evidence"/>
          <p:cNvSpPr txBox="1"/>
          <p:nvPr/>
        </p:nvSpPr>
        <p:spPr>
          <a:xfrm>
            <a:off x="762000" y="5495925"/>
            <a:ext cx="4857750" cy="733425"/>
          </a:xfrm>
          <a:prstGeom prst="rect">
            <a:avLst/>
          </a:prstGeom>
          <a:noFill/>
          <a:ln/>
        </p:spPr>
        <p:txBody>
          <a:bodyPr wrap="square" lIns="0" tIns="0" rIns="0" bIns="0" rtlCol="0" anchor="t"/>
          <a:lstStyle/>
          <a:p>
            <a:pPr algn="l" indent="0" marL="0">
              <a:lnSpc>
                <a:spcPts val="1823"/>
              </a:lnSpc>
              <a:buNone/>
            </a:pPr>
            <a:r>
              <a:rPr lang="en-US" sz="1350" dirty="0">
                <a:solidFill>
                  <a:srgbClr val="A3A3A3"/>
                </a:solidFill>
                <a:latin typeface="Arial" pitchFamily="34" charset="0"/>
                <a:ea typeface="Arial" pitchFamily="34" charset="-122"/>
                <a:cs typeface="Arial" pitchFamily="34" charset="-120"/>
              </a:rPr>
              <a:t>Why test beyond the landing page?</a:t>
            </a:r>
            <a:endParaRPr lang="en-US" sz="1350" dirty="0"/>
          </a:p>
          <a:p>
            <a:pPr algn="l" indent="0" marL="0">
              <a:lnSpc>
                <a:spcPts val="1823"/>
              </a:lnSpc>
              <a:buNone/>
            </a:pPr>
            <a:r>
              <a:rPr lang="en-US" sz="1350" dirty="0">
                <a:solidFill>
                  <a:srgbClr val="A3A3A3"/>
                </a:solidFill>
                <a:latin typeface="Arial" pitchFamily="34" charset="0"/>
                <a:ea typeface="Arial" pitchFamily="34" charset="-122"/>
                <a:cs typeface="Arial" pitchFamily="34" charset="-120"/>
              </a:rPr>
              <a:t>In the Amboras example, the narrator leaves the</a:t>
            </a:r>
            <a:endParaRPr lang="en-US" sz="1350" dirty="0"/>
          </a:p>
          <a:p>
            <a:pPr algn="l" indent="0" marL="0">
              <a:lnSpc>
                <a:spcPts val="1823"/>
              </a:lnSpc>
              <a:buNone/>
            </a:pPr>
            <a:r>
              <a:rPr lang="en-US" sz="1350" dirty="0">
                <a:solidFill>
                  <a:srgbClr val="A3A3A3"/>
                </a:solidFill>
                <a:latin typeface="Arial" pitchFamily="34" charset="0"/>
                <a:ea typeface="Arial" pitchFamily="34" charset="-122"/>
                <a:cs typeface="Arial" pitchFamily="34" charset="-120"/>
              </a:rPr>
              <a:t>linked full cart page unfinished.</a:t>
            </a:r>
            <a:endParaRPr lang="en-US" sz="1350" dirty="0"/>
          </a:p>
        </p:txBody>
      </p:sp>
      <p:sp>
        <p:nvSpPr>
          <p:cNvPr id="22" name="slide-19-hosting-caveat"/>
          <p:cNvSpPr txBox="1"/>
          <p:nvPr/>
        </p:nvSpPr>
        <p:spPr>
          <a:xfrm>
            <a:off x="6096000" y="5495925"/>
            <a:ext cx="5334000" cy="733425"/>
          </a:xfrm>
          <a:prstGeom prst="rect">
            <a:avLst/>
          </a:prstGeom>
          <a:noFill/>
          <a:ln/>
        </p:spPr>
        <p:txBody>
          <a:bodyPr wrap="square" lIns="0" tIns="0" rIns="0" bIns="0" rtlCol="0" anchor="t"/>
          <a:lstStyle/>
          <a:p>
            <a:pPr algn="l" indent="0" marL="0">
              <a:lnSpc>
                <a:spcPts val="1823"/>
              </a:lnSpc>
              <a:buNone/>
            </a:pPr>
            <a:r>
              <a:rPr lang="en-US" sz="1350" dirty="0">
                <a:solidFill>
                  <a:srgbClr val="A3A3A3"/>
                </a:solidFill>
                <a:latin typeface="Arial" pitchFamily="34" charset="0"/>
                <a:ea typeface="Arial" pitchFamily="34" charset="-122"/>
                <a:cs typeface="Arial" pitchFamily="34" charset="-120"/>
              </a:rPr>
              <a:t>Vercel and Netlify are named deployment options.</a:t>
            </a:r>
            <a:endParaRPr lang="en-US" sz="1350" dirty="0"/>
          </a:p>
          <a:p>
            <a:pPr algn="l" indent="0" marL="0">
              <a:lnSpc>
                <a:spcPts val="1823"/>
              </a:lnSpc>
              <a:buNone/>
            </a:pPr>
            <a:r>
              <a:rPr lang="en-US" sz="1350" dirty="0">
                <a:solidFill>
                  <a:srgbClr val="A3A3A3"/>
                </a:solidFill>
                <a:latin typeface="Arial" pitchFamily="34" charset="0"/>
                <a:ea typeface="Arial" pitchFamily="34" charset="-122"/>
                <a:cs typeface="Arial" pitchFamily="34" charset="-120"/>
              </a:rPr>
              <a:t>Current pricing, plan limits, and eligibility are not</a:t>
            </a:r>
            <a:endParaRPr lang="en-US" sz="1350" dirty="0"/>
          </a:p>
          <a:p>
            <a:pPr algn="l" indent="0" marL="0">
              <a:lnSpc>
                <a:spcPts val="1823"/>
              </a:lnSpc>
              <a:buNone/>
            </a:pPr>
            <a:r>
              <a:rPr lang="en-US" sz="1350" dirty="0">
                <a:solidFill>
                  <a:srgbClr val="A3A3A3"/>
                </a:solidFill>
                <a:latin typeface="Arial" pitchFamily="34" charset="0"/>
                <a:ea typeface="Arial" pitchFamily="34" charset="-122"/>
                <a:cs typeface="Arial" pitchFamily="34" charset="-120"/>
              </a:rPr>
              <a:t>established by the supplied material.</a:t>
            </a:r>
            <a:endParaRPr lang="en-US" sz="1350" dirty="0"/>
          </a:p>
        </p:txBody>
      </p:sp>
      <p:sp>
        <p:nvSpPr>
          <p:cNvPr id="23" name="slide-19-footer-rule"/>
          <p:cNvSpPr/>
          <p:nvPr/>
        </p:nvSpPr>
        <p:spPr>
          <a:xfrm>
            <a:off x="762000" y="6419850"/>
            <a:ext cx="10668000" cy="9525"/>
          </a:xfrm>
          <a:prstGeom prst="rect">
            <a:avLst/>
          </a:prstGeom>
          <a:solidFill>
            <a:srgbClr val="222222"/>
          </a:solidFill>
          <a:ln w="12700">
            <a:solidFill>
              <a:srgbClr val="222222">
                <a:alpha val="0"/>
              </a:srgbClr>
            </a:solidFill>
            <a:prstDash val="solid"/>
          </a:ln>
        </p:spPr>
      </p:sp>
      <p:sp>
        <p:nvSpPr>
          <p:cNvPr id="24" name="slide-19-footer"/>
          <p:cNvSpPr txBox="1"/>
          <p:nvPr/>
        </p:nvSpPr>
        <p:spPr>
          <a:xfrm>
            <a:off x="762000" y="6534150"/>
            <a:ext cx="7620000" cy="171450"/>
          </a:xfrm>
          <a:prstGeom prst="rect">
            <a:avLst/>
          </a:prstGeom>
          <a:noFill/>
          <a:ln/>
        </p:spPr>
        <p:txBody>
          <a:bodyPr wrap="square" lIns="0" tIns="0" rIns="0" bIns="0" rtlCol="0" anchor="t"/>
          <a:lstStyle/>
          <a:p>
            <a:pPr algn="l" indent="0" marL="0">
              <a:lnSpc>
                <a:spcPts val="990"/>
              </a:lnSpc>
              <a:buNone/>
            </a:pPr>
            <a:r>
              <a:rPr lang="en-US" sz="825" spc="90" kern="0" dirty="0">
                <a:solidFill>
                  <a:srgbClr val="A3A3A3"/>
                </a:solidFill>
                <a:latin typeface="Arial" pitchFamily="34" charset="0"/>
                <a:ea typeface="Arial" pitchFamily="34" charset="-122"/>
                <a:cs typeface="Arial" pitchFamily="34" charset="-120"/>
              </a:rPr>
              <a:t>WEBSITE CREATION     /     RELEASE CHECKS</a:t>
            </a:r>
            <a:endParaRPr lang="en-US" sz="825" dirty="0"/>
          </a:p>
        </p:txBody>
      </p:sp>
      <p:sp>
        <p:nvSpPr>
          <p:cNvPr id="25" name="slide-19-pagination"/>
          <p:cNvSpPr txBox="1"/>
          <p:nvPr/>
        </p:nvSpPr>
        <p:spPr>
          <a:xfrm>
            <a:off x="10287000" y="6534150"/>
            <a:ext cx="1143000" cy="171450"/>
          </a:xfrm>
          <a:prstGeom prst="rect">
            <a:avLst/>
          </a:prstGeom>
          <a:noFill/>
          <a:ln/>
        </p:spPr>
        <p:txBody>
          <a:bodyPr wrap="square" lIns="0" tIns="0" rIns="0" bIns="0" rtlCol="0" anchor="t"/>
          <a:lstStyle/>
          <a:p>
            <a:pPr algn="r" indent="0" marL="0">
              <a:lnSpc>
                <a:spcPts val="1080"/>
              </a:lnSpc>
              <a:buNone/>
            </a:pPr>
            <a:r>
              <a:rPr lang="en-US" sz="900" dirty="0">
                <a:solidFill>
                  <a:srgbClr val="A3A3A3"/>
                </a:solidFill>
                <a:latin typeface="Arial" pitchFamily="34" charset="0"/>
                <a:ea typeface="Arial" pitchFamily="34" charset="-122"/>
                <a:cs typeface="Arial" pitchFamily="34" charset="-120"/>
              </a:rPr>
              <a:t>19 / 20</a:t>
            </a:r>
            <a:endParaRPr lang="en-US" sz="9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0A0A0A"/>
        </a:solidFill>
      </p:bgPr>
    </p:bg>
    <p:spTree>
      <p:nvGrpSpPr>
        <p:cNvPr id="1" name=""/>
        <p:cNvGrpSpPr/>
        <p:nvPr/>
      </p:nvGrpSpPr>
      <p:grpSpPr>
        <a:xfrm>
          <a:off x="0" y="0"/>
          <a:ext cx="0" cy="0"/>
          <a:chOff x="0" y="0"/>
          <a:chExt cx="0" cy="0"/>
        </a:xfrm>
      </p:grpSpPr>
      <p:pic>
        <p:nvPicPr>
          <p:cNvPr id="3" name="slide-20-image" descr="Monochrome architectural frame emerging from stippled particles and flowing contour lines on the right of a dark field.">    </p:cNvPr>
          <p:cNvPicPr>
            <a:picLocks noChangeAspect="1"/>
          </p:cNvPicPr>
          <p:nvPr/>
        </p:nvPicPr>
        <p:blipFill>
          <a:blip r:embed="rId1"/>
          <a:stretch>
            <a:fillRect/>
          </a:stretch>
        </p:blipFill>
        <p:spPr>
          <a:xfrm>
            <a:off x="0" y="0"/>
            <a:ext cx="12192000" cy="6858000"/>
          </a:xfrm>
          <a:prstGeom prst="rect">
            <a:avLst/>
          </a:prstGeom>
        </p:spPr>
      </p:pic>
      <p:sp>
        <p:nvSpPr>
          <p:cNvPr id="4" name="slide-20-text-scrim"/>
          <p:cNvSpPr/>
          <p:nvPr/>
        </p:nvSpPr>
        <p:spPr>
          <a:xfrm>
            <a:off x="495300" y="876300"/>
            <a:ext cx="6038850" cy="5238750"/>
          </a:xfrm>
          <a:prstGeom prst="rect">
            <a:avLst/>
          </a:prstGeom>
          <a:solidFill>
            <a:srgbClr val="0A0A0A">
              <a:alpha val="96000"/>
            </a:srgbClr>
          </a:solidFill>
          <a:ln w="12700">
            <a:solidFill>
              <a:srgbClr val="0A0A0A">
                <a:alpha val="0"/>
              </a:srgbClr>
            </a:solidFill>
            <a:prstDash val="solid"/>
          </a:ln>
        </p:spPr>
      </p:sp>
      <p:sp>
        <p:nvSpPr>
          <p:cNvPr id="5" name="slide-20-eyebrow"/>
          <p:cNvSpPr txBox="1"/>
          <p:nvPr/>
        </p:nvSpPr>
        <p:spPr>
          <a:xfrm>
            <a:off x="685800" y="457200"/>
            <a:ext cx="5619750" cy="228600"/>
          </a:xfrm>
          <a:prstGeom prst="rect">
            <a:avLst/>
          </a:prstGeom>
          <a:noFill/>
          <a:ln/>
        </p:spPr>
        <p:txBody>
          <a:bodyPr wrap="square" lIns="0" tIns="0" rIns="0" bIns="0" rtlCol="0" anchor="t"/>
          <a:lstStyle/>
          <a:p>
            <a:pPr algn="l" indent="0" marL="0">
              <a:lnSpc>
                <a:spcPts val="1260"/>
              </a:lnSpc>
              <a:buNone/>
            </a:pPr>
            <a:r>
              <a:rPr lang="en-US" sz="1050" spc="113" kern="0" dirty="0">
                <a:solidFill>
                  <a:srgbClr val="A3A3A3"/>
                </a:solidFill>
                <a:latin typeface="Courier New" pitchFamily="34" charset="0"/>
                <a:ea typeface="Courier New" pitchFamily="34" charset="-122"/>
                <a:cs typeface="Courier New" pitchFamily="34" charset="-120"/>
              </a:rPr>
              <a:t>FIRST EXERCISE    /    20</a:t>
            </a:r>
            <a:endParaRPr lang="en-US" sz="1050" dirty="0"/>
          </a:p>
        </p:txBody>
      </p:sp>
      <p:sp>
        <p:nvSpPr>
          <p:cNvPr id="6" name="slide-20-accent"/>
          <p:cNvSpPr/>
          <p:nvPr/>
        </p:nvSpPr>
        <p:spPr>
          <a:xfrm>
            <a:off x="685800" y="962025"/>
            <a:ext cx="400050" cy="19050"/>
          </a:xfrm>
          <a:prstGeom prst="rect">
            <a:avLst/>
          </a:prstGeom>
          <a:solidFill>
            <a:srgbClr val="F5F5F5"/>
          </a:solidFill>
          <a:ln w="12700">
            <a:solidFill>
              <a:srgbClr val="F5F5F5">
                <a:alpha val="0"/>
              </a:srgbClr>
            </a:solidFill>
            <a:prstDash val="solid"/>
          </a:ln>
        </p:spPr>
      </p:sp>
      <p:sp>
        <p:nvSpPr>
          <p:cNvPr id="7" name="slide-20-title"/>
          <p:cNvSpPr txBox="1"/>
          <p:nvPr/>
        </p:nvSpPr>
        <p:spPr>
          <a:xfrm>
            <a:off x="647700" y="1200150"/>
            <a:ext cx="5829300" cy="1428750"/>
          </a:xfrm>
          <a:prstGeom prst="rect">
            <a:avLst/>
          </a:prstGeom>
          <a:noFill/>
          <a:ln/>
        </p:spPr>
        <p:txBody>
          <a:bodyPr wrap="square" lIns="0" tIns="0" rIns="0" bIns="0" rtlCol="0" anchor="t"/>
          <a:lstStyle/>
          <a:p>
            <a:pPr algn="l" indent="0" marL="0">
              <a:lnSpc>
                <a:spcPts val="5184"/>
              </a:lnSpc>
              <a:buNone/>
            </a:pPr>
            <a:r>
              <a:rPr lang="en-US" sz="4800" spc="-135" kern="0" dirty="0">
                <a:solidFill>
                  <a:srgbClr val="FFFFFF"/>
                </a:solidFill>
                <a:latin typeface="Arial" pitchFamily="34" charset="0"/>
                <a:ea typeface="Arial" pitchFamily="34" charset="-122"/>
                <a:cs typeface="Arial" pitchFamily="34" charset="-120"/>
              </a:rPr>
              <a:t>Keep the vibe.</a:t>
            </a:r>
            <a:endParaRPr lang="en-US" sz="4800" dirty="0"/>
          </a:p>
          <a:p>
            <a:pPr algn="l" indent="0" marL="0">
              <a:lnSpc>
                <a:spcPts val="5184"/>
              </a:lnSpc>
              <a:buNone/>
            </a:pPr>
            <a:r>
              <a:rPr lang="en-US" sz="4800" spc="-135" kern="0" dirty="0">
                <a:solidFill>
                  <a:srgbClr val="FFFFFF"/>
                </a:solidFill>
                <a:latin typeface="Arial" pitchFamily="34" charset="0"/>
                <a:ea typeface="Arial" pitchFamily="34" charset="-122"/>
                <a:cs typeface="Arial" pitchFamily="34" charset="-120"/>
              </a:rPr>
              <a:t>Own the result.</a:t>
            </a:r>
            <a:endParaRPr lang="en-US" sz="4800" dirty="0"/>
          </a:p>
        </p:txBody>
      </p:sp>
      <p:sp>
        <p:nvSpPr>
          <p:cNvPr id="8" name="slide-20-takeaway"/>
          <p:cNvSpPr txBox="1"/>
          <p:nvPr/>
        </p:nvSpPr>
        <p:spPr>
          <a:xfrm>
            <a:off x="685800" y="2828925"/>
            <a:ext cx="5372100" cy="609600"/>
          </a:xfrm>
          <a:prstGeom prst="rect">
            <a:avLst/>
          </a:prstGeom>
          <a:noFill/>
          <a:ln/>
        </p:spPr>
        <p:txBody>
          <a:bodyPr wrap="square" lIns="0" tIns="0" rIns="0" bIns="0" rtlCol="0" anchor="t"/>
          <a:lstStyle/>
          <a:p>
            <a:pPr algn="l" indent="0" marL="0">
              <a:lnSpc>
                <a:spcPts val="2340"/>
              </a:lnSpc>
              <a:buNone/>
            </a:pPr>
            <a:r>
              <a:rPr lang="en-US" sz="1800" dirty="0">
                <a:solidFill>
                  <a:srgbClr val="FFFFFF"/>
                </a:solidFill>
                <a:latin typeface="Arial" pitchFamily="34" charset="0"/>
                <a:ea typeface="Arial" pitchFamily="34" charset="-122"/>
                <a:cs typeface="Arial" pitchFamily="34" charset="-120"/>
              </a:rPr>
              <a:t>Start with one section in Claude Code,</a:t>
            </a:r>
            <a:endParaRPr lang="en-US" sz="1800" dirty="0"/>
          </a:p>
          <a:p>
            <a:pPr algn="l" indent="0" marL="0">
              <a:lnSpc>
                <a:spcPts val="2340"/>
              </a:lnSpc>
              <a:buNone/>
            </a:pPr>
            <a:r>
              <a:rPr lang="en-US" sz="1800" dirty="0">
                <a:solidFill>
                  <a:srgbClr val="FFFFFF"/>
                </a:solidFill>
                <a:latin typeface="Arial" pitchFamily="34" charset="0"/>
                <a:ea typeface="Arial" pitchFamily="34" charset="-122"/>
                <a:cs typeface="Arial" pitchFamily="34" charset="-120"/>
              </a:rPr>
              <a:t>then refine it through testing and feedback.</a:t>
            </a:r>
            <a:endParaRPr lang="en-US" sz="1800" dirty="0"/>
          </a:p>
        </p:txBody>
      </p:sp>
      <p:sp>
        <p:nvSpPr>
          <p:cNvPr id="9" name="slide-20-step-01-number"/>
          <p:cNvSpPr txBox="1"/>
          <p:nvPr/>
        </p:nvSpPr>
        <p:spPr>
          <a:xfrm>
            <a:off x="685800" y="3790950"/>
            <a:ext cx="304800" cy="266700"/>
          </a:xfrm>
          <a:prstGeom prst="rect">
            <a:avLst/>
          </a:prstGeom>
          <a:noFill/>
          <a:ln/>
        </p:spPr>
        <p:txBody>
          <a:bodyPr wrap="square" lIns="0" tIns="0" rIns="0" bIns="0" rtlCol="0" anchor="t"/>
          <a:lstStyle/>
          <a:p>
            <a:pPr algn="l" indent="0" marL="0">
              <a:lnSpc>
                <a:spcPts val="1560"/>
              </a:lnSpc>
              <a:buNone/>
            </a:pPr>
            <a:r>
              <a:rPr lang="en-US" sz="1200" dirty="0">
                <a:solidFill>
                  <a:srgbClr val="A3A3A3"/>
                </a:solidFill>
                <a:latin typeface="Courier New" pitchFamily="34" charset="0"/>
                <a:ea typeface="Courier New" pitchFamily="34" charset="-122"/>
                <a:cs typeface="Courier New" pitchFamily="34" charset="-120"/>
              </a:rPr>
              <a:t>01</a:t>
            </a:r>
            <a:endParaRPr lang="en-US" sz="1200" dirty="0"/>
          </a:p>
        </p:txBody>
      </p:sp>
      <p:sp>
        <p:nvSpPr>
          <p:cNvPr id="10" name="slide-20-step-01"/>
          <p:cNvSpPr txBox="1"/>
          <p:nvPr/>
        </p:nvSpPr>
        <p:spPr>
          <a:xfrm>
            <a:off x="1104900" y="3762375"/>
            <a:ext cx="5105400" cy="304800"/>
          </a:xfrm>
          <a:prstGeom prst="rect">
            <a:avLst/>
          </a:prstGeom>
          <a:noFill/>
          <a:ln/>
        </p:spPr>
        <p:txBody>
          <a:bodyPr wrap="square" lIns="0" tIns="0" rIns="0" bIns="0" rtlCol="0" anchor="t"/>
          <a:lstStyle/>
          <a:p>
            <a:pPr algn="l" indent="0" marL="0">
              <a:lnSpc>
                <a:spcPts val="1950"/>
              </a:lnSpc>
              <a:buNone/>
            </a:pPr>
            <a:r>
              <a:rPr lang="en-US" sz="1500" dirty="0">
                <a:solidFill>
                  <a:srgbClr val="D6D6D6"/>
                </a:solidFill>
                <a:latin typeface="Arial" pitchFamily="34" charset="0"/>
                <a:ea typeface="Arial" pitchFamily="34" charset="-122"/>
                <a:cs typeface="Arial" pitchFamily="34" charset="-120"/>
              </a:rPr>
              <a:t>Define the audience and one primary action.</a:t>
            </a:r>
            <a:endParaRPr lang="en-US" sz="1500" dirty="0"/>
          </a:p>
        </p:txBody>
      </p:sp>
      <p:sp>
        <p:nvSpPr>
          <p:cNvPr id="11" name="slide-20-step-02-number"/>
          <p:cNvSpPr txBox="1"/>
          <p:nvPr/>
        </p:nvSpPr>
        <p:spPr>
          <a:xfrm>
            <a:off x="685800" y="4286250"/>
            <a:ext cx="304800" cy="266700"/>
          </a:xfrm>
          <a:prstGeom prst="rect">
            <a:avLst/>
          </a:prstGeom>
          <a:noFill/>
          <a:ln/>
        </p:spPr>
        <p:txBody>
          <a:bodyPr wrap="square" lIns="0" tIns="0" rIns="0" bIns="0" rtlCol="0" anchor="t"/>
          <a:lstStyle/>
          <a:p>
            <a:pPr algn="l" indent="0" marL="0">
              <a:lnSpc>
                <a:spcPts val="1560"/>
              </a:lnSpc>
              <a:buNone/>
            </a:pPr>
            <a:r>
              <a:rPr lang="en-US" sz="1200" dirty="0">
                <a:solidFill>
                  <a:srgbClr val="A3A3A3"/>
                </a:solidFill>
                <a:latin typeface="Courier New" pitchFamily="34" charset="0"/>
                <a:ea typeface="Courier New" pitchFamily="34" charset="-122"/>
                <a:cs typeface="Courier New" pitchFamily="34" charset="-120"/>
              </a:rPr>
              <a:t>02</a:t>
            </a:r>
            <a:endParaRPr lang="en-US" sz="1200" dirty="0"/>
          </a:p>
        </p:txBody>
      </p:sp>
      <p:sp>
        <p:nvSpPr>
          <p:cNvPr id="12" name="slide-20-step-02"/>
          <p:cNvSpPr txBox="1"/>
          <p:nvPr/>
        </p:nvSpPr>
        <p:spPr>
          <a:xfrm>
            <a:off x="1104900" y="4257675"/>
            <a:ext cx="5105400" cy="304800"/>
          </a:xfrm>
          <a:prstGeom prst="rect">
            <a:avLst/>
          </a:prstGeom>
          <a:noFill/>
          <a:ln/>
        </p:spPr>
        <p:txBody>
          <a:bodyPr wrap="square" lIns="0" tIns="0" rIns="0" bIns="0" rtlCol="0" anchor="t"/>
          <a:lstStyle/>
          <a:p>
            <a:pPr algn="l" indent="0" marL="0">
              <a:lnSpc>
                <a:spcPts val="1950"/>
              </a:lnSpc>
              <a:buNone/>
            </a:pPr>
            <a:r>
              <a:rPr lang="en-US" sz="1500" dirty="0">
                <a:solidFill>
                  <a:srgbClr val="D6D6D6"/>
                </a:solidFill>
                <a:latin typeface="Arial" pitchFamily="34" charset="0"/>
                <a:ea typeface="Arial" pitchFamily="34" charset="-122"/>
                <a:cs typeface="Arial" pitchFamily="34" charset="-120"/>
              </a:rPr>
              <a:t>Build one section with explicit visual rules.</a:t>
            </a:r>
            <a:endParaRPr lang="en-US" sz="1500" dirty="0"/>
          </a:p>
        </p:txBody>
      </p:sp>
      <p:sp>
        <p:nvSpPr>
          <p:cNvPr id="13" name="slide-20-step-03-number"/>
          <p:cNvSpPr txBox="1"/>
          <p:nvPr/>
        </p:nvSpPr>
        <p:spPr>
          <a:xfrm>
            <a:off x="685800" y="4781550"/>
            <a:ext cx="304800" cy="266700"/>
          </a:xfrm>
          <a:prstGeom prst="rect">
            <a:avLst/>
          </a:prstGeom>
          <a:noFill/>
          <a:ln/>
        </p:spPr>
        <p:txBody>
          <a:bodyPr wrap="square" lIns="0" tIns="0" rIns="0" bIns="0" rtlCol="0" anchor="t"/>
          <a:lstStyle/>
          <a:p>
            <a:pPr algn="l" indent="0" marL="0">
              <a:lnSpc>
                <a:spcPts val="1560"/>
              </a:lnSpc>
              <a:buNone/>
            </a:pPr>
            <a:r>
              <a:rPr lang="en-US" sz="1200" dirty="0">
                <a:solidFill>
                  <a:srgbClr val="A3A3A3"/>
                </a:solidFill>
                <a:latin typeface="Courier New" pitchFamily="34" charset="0"/>
                <a:ea typeface="Courier New" pitchFamily="34" charset="-122"/>
                <a:cs typeface="Courier New" pitchFamily="34" charset="-120"/>
              </a:rPr>
              <a:t>03</a:t>
            </a:r>
            <a:endParaRPr lang="en-US" sz="1200" dirty="0"/>
          </a:p>
        </p:txBody>
      </p:sp>
      <p:sp>
        <p:nvSpPr>
          <p:cNvPr id="14" name="slide-20-step-03"/>
          <p:cNvSpPr txBox="1"/>
          <p:nvPr/>
        </p:nvSpPr>
        <p:spPr>
          <a:xfrm>
            <a:off x="1104900" y="4752975"/>
            <a:ext cx="5105400" cy="514350"/>
          </a:xfrm>
          <a:prstGeom prst="rect">
            <a:avLst/>
          </a:prstGeom>
          <a:noFill/>
          <a:ln/>
        </p:spPr>
        <p:txBody>
          <a:bodyPr wrap="square" lIns="0" tIns="0" rIns="0" bIns="0" rtlCol="0" anchor="t"/>
          <a:lstStyle/>
          <a:p>
            <a:pPr algn="l" indent="0" marL="0">
              <a:lnSpc>
                <a:spcPts val="1950"/>
              </a:lnSpc>
              <a:buNone/>
            </a:pPr>
            <a:r>
              <a:rPr lang="en-US" sz="1500" dirty="0">
                <a:solidFill>
                  <a:srgbClr val="D6D6D6"/>
                </a:solidFill>
                <a:latin typeface="Arial" pitchFamily="34" charset="0"/>
                <a:ea typeface="Arial" pitchFamily="34" charset="-122"/>
                <a:cs typeface="Arial" pitchFamily="34" charset="-120"/>
              </a:rPr>
              <a:t>Inspect it, make one scoped revision,</a:t>
            </a:r>
            <a:endParaRPr lang="en-US" sz="1500" dirty="0"/>
          </a:p>
          <a:p>
            <a:pPr algn="l" indent="0" marL="0">
              <a:lnSpc>
                <a:spcPts val="1950"/>
              </a:lnSpc>
              <a:buNone/>
            </a:pPr>
            <a:r>
              <a:rPr lang="en-US" sz="1500" dirty="0">
                <a:solidFill>
                  <a:srgbClr val="D6D6D6"/>
                </a:solidFill>
                <a:latin typeface="Arial" pitchFamily="34" charset="0"/>
                <a:ea typeface="Arial" pitchFamily="34" charset="-122"/>
                <a:cs typeface="Arial" pitchFamily="34" charset="-120"/>
              </a:rPr>
              <a:t>and verify the change.</a:t>
            </a:r>
            <a:endParaRPr lang="en-US" sz="1500" dirty="0"/>
          </a:p>
        </p:txBody>
      </p:sp>
      <p:sp>
        <p:nvSpPr>
          <p:cNvPr id="15" name="slide-20-step-04-number"/>
          <p:cNvSpPr txBox="1"/>
          <p:nvPr/>
        </p:nvSpPr>
        <p:spPr>
          <a:xfrm>
            <a:off x="685800" y="5486400"/>
            <a:ext cx="304800" cy="266700"/>
          </a:xfrm>
          <a:prstGeom prst="rect">
            <a:avLst/>
          </a:prstGeom>
          <a:noFill/>
          <a:ln/>
        </p:spPr>
        <p:txBody>
          <a:bodyPr wrap="square" lIns="0" tIns="0" rIns="0" bIns="0" rtlCol="0" anchor="t"/>
          <a:lstStyle/>
          <a:p>
            <a:pPr algn="l" indent="0" marL="0">
              <a:lnSpc>
                <a:spcPts val="1560"/>
              </a:lnSpc>
              <a:buNone/>
            </a:pPr>
            <a:r>
              <a:rPr lang="en-US" sz="1200" dirty="0">
                <a:solidFill>
                  <a:srgbClr val="A3A3A3"/>
                </a:solidFill>
                <a:latin typeface="Courier New" pitchFamily="34" charset="0"/>
                <a:ea typeface="Courier New" pitchFamily="34" charset="-122"/>
                <a:cs typeface="Courier New" pitchFamily="34" charset="-120"/>
              </a:rPr>
              <a:t>04</a:t>
            </a:r>
            <a:endParaRPr lang="en-US" sz="1200" dirty="0"/>
          </a:p>
        </p:txBody>
      </p:sp>
      <p:sp>
        <p:nvSpPr>
          <p:cNvPr id="16" name="slide-20-step-04"/>
          <p:cNvSpPr txBox="1"/>
          <p:nvPr/>
        </p:nvSpPr>
        <p:spPr>
          <a:xfrm>
            <a:off x="1104900" y="5457825"/>
            <a:ext cx="5105400" cy="514350"/>
          </a:xfrm>
          <a:prstGeom prst="rect">
            <a:avLst/>
          </a:prstGeom>
          <a:noFill/>
          <a:ln/>
        </p:spPr>
        <p:txBody>
          <a:bodyPr wrap="square" lIns="0" tIns="0" rIns="0" bIns="0" rtlCol="0" anchor="t"/>
          <a:lstStyle/>
          <a:p>
            <a:pPr algn="l" indent="0" marL="0">
              <a:lnSpc>
                <a:spcPts val="1950"/>
              </a:lnSpc>
              <a:buNone/>
            </a:pPr>
            <a:r>
              <a:rPr lang="en-US" sz="1500" dirty="0">
                <a:solidFill>
                  <a:srgbClr val="D6D6D6"/>
                </a:solidFill>
                <a:latin typeface="Arial" pitchFamily="34" charset="0"/>
                <a:ea typeface="Arial" pitchFamily="34" charset="-122"/>
                <a:cs typeface="Arial" pitchFamily="34" charset="-120"/>
              </a:rPr>
              <a:t>Repeat across the page; review the design</a:t>
            </a:r>
            <a:endParaRPr lang="en-US" sz="1500" dirty="0"/>
          </a:p>
          <a:p>
            <a:pPr algn="l" indent="0" marL="0">
              <a:lnSpc>
                <a:spcPts val="1950"/>
              </a:lnSpc>
              <a:buNone/>
            </a:pPr>
            <a:r>
              <a:rPr lang="en-US" sz="1500" dirty="0">
                <a:solidFill>
                  <a:srgbClr val="D6D6D6"/>
                </a:solidFill>
                <a:latin typeface="Arial" pitchFamily="34" charset="0"/>
                <a:ea typeface="Arial" pitchFamily="34" charset="-122"/>
                <a:cs typeface="Arial" pitchFamily="34" charset="-120"/>
              </a:rPr>
              <a:t>and code before release.</a:t>
            </a:r>
            <a:endParaRPr lang="en-US" sz="1500" dirty="0"/>
          </a:p>
        </p:txBody>
      </p:sp>
      <p:sp>
        <p:nvSpPr>
          <p:cNvPr id="17" name="slide-20-footer-rule"/>
          <p:cNvSpPr/>
          <p:nvPr/>
        </p:nvSpPr>
        <p:spPr>
          <a:xfrm>
            <a:off x="685800" y="6305550"/>
            <a:ext cx="5334000" cy="9525"/>
          </a:xfrm>
          <a:prstGeom prst="rect">
            <a:avLst/>
          </a:prstGeom>
          <a:solidFill>
            <a:srgbClr val="333333"/>
          </a:solidFill>
          <a:ln w="12700">
            <a:solidFill>
              <a:srgbClr val="333333">
                <a:alpha val="0"/>
              </a:srgbClr>
            </a:solidFill>
            <a:prstDash val="solid"/>
          </a:ln>
        </p:spPr>
      </p:sp>
      <p:sp>
        <p:nvSpPr>
          <p:cNvPr id="18" name="slide-20-footer"/>
          <p:cNvSpPr txBox="1"/>
          <p:nvPr/>
        </p:nvSpPr>
        <p:spPr>
          <a:xfrm>
            <a:off x="685800" y="6448425"/>
            <a:ext cx="5334000" cy="219075"/>
          </a:xfrm>
          <a:prstGeom prst="rect">
            <a:avLst/>
          </a:prstGeom>
          <a:noFill/>
          <a:ln/>
        </p:spPr>
        <p:txBody>
          <a:bodyPr wrap="square" lIns="0" tIns="0" rIns="0" bIns="0" rtlCol="0" anchor="t"/>
          <a:lstStyle/>
          <a:p>
            <a:pPr algn="l" indent="0" marL="0">
              <a:lnSpc>
                <a:spcPts val="1260"/>
              </a:lnSpc>
              <a:buNone/>
            </a:pPr>
            <a:r>
              <a:rPr lang="en-US" sz="1050" dirty="0">
                <a:solidFill>
                  <a:srgbClr val="A3A3A3"/>
                </a:solidFill>
                <a:latin typeface="Arial" pitchFamily="34" charset="0"/>
                <a:ea typeface="Arial" pitchFamily="34" charset="-122"/>
                <a:cs typeface="Arial" pitchFamily="34" charset="-120"/>
              </a:rPr>
              <a:t>Prototype first. Review before release.</a:t>
            </a:r>
            <a:endParaRPr lang="en-US" sz="10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ria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20</Slides>
  <Notes>20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20</vt:i4>
      </vt:variant>
    </vt:vector>
  </HeadingPairs>
  <TitlesOfParts>
    <vt:vector size="2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vector>
  </TitlesOfParts>
  <Company>Septa</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Stunning Websites with Claude Code: From Vibe to Verified</dc:title>
  <dc:subject>Clearly explain how to create stunning websites with Claude Code, including vibe-coding techniques. The context is an educational presentation; no specific audience decision or call to action is stated.</dc:subject>
  <dc:creator>Septa</dc:creator>
  <cp:lastModifiedBy>Septa</cp:lastModifiedBy>
  <cp:revision>1</cp:revision>
  <dcterms:created xsi:type="dcterms:W3CDTF">2026-10-11T08:54:49Z</dcterms:created>
  <dcterms:modified xsi:type="dcterms:W3CDTF">2026-10-11T08:54:49Z</dcterms:modified>
</cp:coreProperties>
</file>